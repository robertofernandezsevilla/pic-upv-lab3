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256" r:id="rId2"/>
    <p:sldId id="289" r:id="rId3"/>
    <p:sldId id="290" r:id="rId4"/>
    <p:sldId id="320" r:id="rId5"/>
    <p:sldId id="305" r:id="rId6"/>
    <p:sldId id="306" r:id="rId7"/>
    <p:sldId id="307" r:id="rId8"/>
    <p:sldId id="309" r:id="rId9"/>
    <p:sldId id="310" r:id="rId10"/>
    <p:sldId id="313" r:id="rId11"/>
    <p:sldId id="312" r:id="rId12"/>
    <p:sldId id="295" r:id="rId13"/>
    <p:sldId id="319" r:id="rId14"/>
    <p:sldId id="317" r:id="rId15"/>
    <p:sldId id="318" r:id="rId16"/>
    <p:sldId id="296" r:id="rId17"/>
    <p:sldId id="314" r:id="rId18"/>
    <p:sldId id="293" r:id="rId19"/>
    <p:sldId id="315" r:id="rId20"/>
    <p:sldId id="316" r:id="rId21"/>
    <p:sldId id="288" r:id="rId2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83" d="100"/>
          <a:sy n="83" d="100"/>
        </p:scale>
        <p:origin x="1109" y="77"/>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DFB9C-03BF-189F-4B7D-96A8609DEB3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063C73-9002-7ABE-B66A-8BAF5065508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0BCFE0A-E55D-2E46-AFF3-F808EB94234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764D7AD-5C62-B1B4-40D5-3DBB613EB923}"/>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546609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567C2-53CB-4D1B-4EB2-4616D6EC9C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1BB448-0A8C-9689-DF7E-FC62305C5D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A5223A-7367-1DDE-A10A-27CB0B2BFFE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02288BD-5DDA-7DB6-D91D-CF8D33BEB205}"/>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10028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5FA09-3AAB-63C0-863D-601FCAF4BF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8C03232-F8C0-AFFD-E8FC-7E7EEE036AD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5ACFA72-9755-F37B-128C-8FCCA239632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40780E7-64E5-C529-4F4F-B2B9D93D06F7}"/>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433036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1B2D9-1344-6210-9534-6C0CA4888E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6673FA-3E4B-EB00-0B84-CFCAD792BB6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3A28F2-7A06-78FE-903F-B831E3A7DA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36C4C9E-7DC1-9916-9550-68668A9D752E}"/>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390799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39E33-0F54-BD0D-269E-CB4A54BB747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1F192B-1372-7B3C-398F-F71A88131E8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1F8CAE-D470-6C1A-E5DB-09105326C23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618B16C-2A36-BC4C-BE7F-CBA7ED27AEEC}"/>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52700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4E6C5-6855-F1A0-D8D0-56C3AF90C0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9E5A019-088C-0A7F-9630-07781EE5EA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73C0A4-7BB0-6298-F2E9-A80EA26537A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3B64994-6E1A-B581-2E34-CA7C3C75CE7E}"/>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3300330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E23A-4399-03CE-714F-6A674F8DBDA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0F111B-271F-0F28-9580-0B90AA22B03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CB511B8-9B2C-780E-1617-88E5DDF8A0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A018D95-1CD5-F9E8-91F7-49F2D71C996B}"/>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223695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120.png"/><Relationship Id="rId7"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7.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Student:Roberto</a:t>
            </a:r>
            <a:r>
              <a:rPr lang="es-ES" spc="165" dirty="0">
                <a:latin typeface="Arial"/>
                <a:cs typeface="Arial"/>
              </a:rPr>
              <a:t> Fernández Sevilla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n-US" kern="0" dirty="0">
                <a:solidFill>
                  <a:sysClr val="windowText" lastClr="000000"/>
                </a:solidFill>
              </a:rPr>
              <a:t>Either run locally or at Cloud workspace</a:t>
            </a: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4"/>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5"/>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7"/>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Provide one example of implementation for each one of the configurations studied during MZI lecture:</a:t>
                </a:r>
              </a:p>
              <a:p>
                <a:pPr lvl="1"/>
                <a:r>
                  <a:rPr lang="en-US" sz="2000" dirty="0"/>
                  <a:t>1. Balanced configuration</a:t>
                </a:r>
              </a:p>
              <a:p>
                <a:pPr lvl="1"/>
                <a:r>
                  <a:rPr lang="en-US" sz="2000" dirty="0"/>
                  <a:t>2. Unbalanced configuration:</a:t>
                </a:r>
              </a:p>
              <a:p>
                <a:pPr lvl="1"/>
                <a:r>
                  <a:rPr lang="en-US" sz="2000" dirty="0"/>
                  <a:t>  2.1.   Phase difference </a:t>
                </a:r>
              </a:p>
              <a:p>
                <a:pPr lvl="1"/>
                <a:r>
                  <a:rPr lang="en-US" sz="2000" dirty="0"/>
                  <a:t>  2.2.   Delay imbalance</a:t>
                </a:r>
              </a:p>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≠0</m:t>
                    </m:r>
                  </m:oMath>
                </a14:m>
                <a:endParaRPr lang="es-ES" sz="2000" dirty="0"/>
              </a:p>
              <a:p>
                <a:r>
                  <a:rPr lang="en-US" sz="2000" dirty="0"/>
                  <a:t> </a:t>
                </a:r>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alpha, gamma, transfer function plots, etc.) and comment on the obtained results (in terms of FSR, amplitude, losses, etc.).</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C5730-D260-7D68-D0E4-1843EA66C00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5455A44-AED2-5EB4-2AEC-F450E1C062AC}"/>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FF0000"/>
                </a:solidFill>
              </a:rPr>
              <a:t>AVISO</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2DDFE63-EF43-E1E3-8AA6-8627BB9A49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39F5085-AAE1-5079-C135-A48EED0B0CA1}"/>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4" name="Marcador de texto 2">
            <a:extLst>
              <a:ext uri="{FF2B5EF4-FFF2-40B4-BE49-F238E27FC236}">
                <a16:creationId xmlns:a16="http://schemas.microsoft.com/office/drawing/2014/main" id="{CFF91A30-7BFC-BAF3-6451-A19C30730A23}"/>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 </a:t>
            </a:r>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5" name="Marcador de pie de página 2">
            <a:extLst>
              <a:ext uri="{FF2B5EF4-FFF2-40B4-BE49-F238E27FC236}">
                <a16:creationId xmlns:a16="http://schemas.microsoft.com/office/drawing/2014/main" id="{4D59972F-9803-FEC0-FFF5-F0494C510B38}"/>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
        <p:nvSpPr>
          <p:cNvPr id="6" name="CuadroTexto 5">
            <a:extLst>
              <a:ext uri="{FF2B5EF4-FFF2-40B4-BE49-F238E27FC236}">
                <a16:creationId xmlns:a16="http://schemas.microsoft.com/office/drawing/2014/main" id="{005BC3B3-D2A2-8533-E92A-F93E406086A3}"/>
              </a:ext>
            </a:extLst>
          </p:cNvPr>
          <p:cNvSpPr txBox="1"/>
          <p:nvPr/>
        </p:nvSpPr>
        <p:spPr>
          <a:xfrm>
            <a:off x="733423" y="1524000"/>
            <a:ext cx="10898188" cy="646331"/>
          </a:xfrm>
          <a:prstGeom prst="rect">
            <a:avLst/>
          </a:prstGeom>
          <a:noFill/>
        </p:spPr>
        <p:txBody>
          <a:bodyPr wrap="square">
            <a:spAutoFit/>
          </a:bodyPr>
          <a:lstStyle/>
          <a:p>
            <a:r>
              <a:rPr lang="en-US" sz="1800" dirty="0"/>
              <a:t>A la hora de </a:t>
            </a:r>
            <a:r>
              <a:rPr lang="en-US" sz="1800" dirty="0" err="1"/>
              <a:t>subir</a:t>
            </a:r>
            <a:r>
              <a:rPr lang="en-US" sz="1800" dirty="0"/>
              <a:t> la </a:t>
            </a:r>
            <a:r>
              <a:rPr lang="en-US" sz="1800" dirty="0" err="1"/>
              <a:t>tarea</a:t>
            </a:r>
            <a:r>
              <a:rPr lang="en-US" sz="1800" dirty="0"/>
              <a:t> me he dado </a:t>
            </a:r>
            <a:r>
              <a:rPr lang="en-US" sz="1800" dirty="0" err="1"/>
              <a:t>cuenta</a:t>
            </a:r>
            <a:r>
              <a:rPr lang="en-US" sz="1800" dirty="0"/>
              <a:t> de </a:t>
            </a:r>
            <a:r>
              <a:rPr lang="en-US" sz="1800" dirty="0" err="1"/>
              <a:t>que</a:t>
            </a:r>
            <a:r>
              <a:rPr lang="en-US" sz="1800" dirty="0"/>
              <a:t> </a:t>
            </a:r>
            <a:r>
              <a:rPr lang="en-US" sz="1800" dirty="0" err="1"/>
              <a:t>en</a:t>
            </a:r>
            <a:r>
              <a:rPr lang="en-US" sz="1800" dirty="0"/>
              <a:t> </a:t>
            </a:r>
            <a:r>
              <a:rPr lang="en-US" sz="1800" dirty="0" err="1"/>
              <a:t>todas</a:t>
            </a:r>
            <a:r>
              <a:rPr lang="en-US" sz="1800" dirty="0"/>
              <a:t> las </a:t>
            </a:r>
            <a:r>
              <a:rPr lang="en-US" sz="1800" dirty="0" err="1"/>
              <a:t>gráficas</a:t>
            </a:r>
            <a:r>
              <a:rPr lang="en-US" sz="1800" dirty="0"/>
              <a:t> he </a:t>
            </a:r>
            <a:r>
              <a:rPr lang="en-US" sz="1800" dirty="0" err="1"/>
              <a:t>puesto</a:t>
            </a:r>
            <a:r>
              <a:rPr lang="en-US" sz="1800" dirty="0"/>
              <a:t> </a:t>
            </a:r>
            <a:r>
              <a:rPr lang="en-US" sz="1800" dirty="0" err="1"/>
              <a:t>el</a:t>
            </a:r>
            <a:r>
              <a:rPr lang="en-US" sz="1800" dirty="0"/>
              <a:t> </a:t>
            </a:r>
            <a:r>
              <a:rPr lang="en-US" sz="1800" dirty="0" err="1"/>
              <a:t>eje</a:t>
            </a:r>
            <a:r>
              <a:rPr lang="en-US" sz="1800" dirty="0"/>
              <a:t> x </a:t>
            </a:r>
            <a:r>
              <a:rPr lang="en-US" sz="1800" dirty="0" err="1"/>
              <a:t>en</a:t>
            </a:r>
            <a:r>
              <a:rPr lang="en-US" sz="1800" dirty="0"/>
              <a:t> um, </a:t>
            </a:r>
            <a:r>
              <a:rPr lang="en-US" sz="1800" dirty="0" err="1"/>
              <a:t>cuando</a:t>
            </a:r>
            <a:r>
              <a:rPr lang="en-US" sz="1800" dirty="0"/>
              <a:t> </a:t>
            </a:r>
            <a:r>
              <a:rPr lang="en-US" sz="1800" dirty="0" err="1"/>
              <a:t>deberían</a:t>
            </a:r>
            <a:r>
              <a:rPr lang="en-US" sz="1800" dirty="0"/>
              <a:t> ser nm. </a:t>
            </a:r>
            <a:endParaRPr lang="es-ES" dirty="0"/>
          </a:p>
        </p:txBody>
      </p:sp>
    </p:spTree>
    <p:extLst>
      <p:ext uri="{BB962C8B-B14F-4D97-AF65-F5344CB8AC3E}">
        <p14:creationId xmlns:p14="http://schemas.microsoft.com/office/powerpoint/2010/main" val="3622345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3F582-340E-9B96-CF1D-8C7138583B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70076C-2C05-99CC-2D5A-2598DDC8B952}"/>
              </a:ext>
            </a:extLst>
          </p:cNvPr>
          <p:cNvSpPr>
            <a:spLocks noGrp="1"/>
          </p:cNvSpPr>
          <p:nvPr>
            <p:ph type="title"/>
          </p:nvPr>
        </p:nvSpPr>
        <p:spPr/>
        <p:txBody>
          <a:bodyPr/>
          <a:lstStyle/>
          <a:p>
            <a:r>
              <a:rPr lang="es-ES" dirty="0" err="1"/>
              <a:t>Balanced</a:t>
            </a:r>
            <a:r>
              <a:rPr lang="es-ES" dirty="0"/>
              <a:t> </a:t>
            </a:r>
            <a:r>
              <a:rPr lang="es-ES" dirty="0" err="1"/>
              <a:t>configuration</a:t>
            </a:r>
            <a:r>
              <a:rPr lang="es-ES" dirty="0"/>
              <a:t> </a:t>
            </a:r>
          </a:p>
        </p:txBody>
      </p:sp>
      <p:sp>
        <p:nvSpPr>
          <p:cNvPr id="4" name="Marcador de pie de página 3">
            <a:extLst>
              <a:ext uri="{FF2B5EF4-FFF2-40B4-BE49-F238E27FC236}">
                <a16:creationId xmlns:a16="http://schemas.microsoft.com/office/drawing/2014/main" id="{A9E6AA47-F245-B57B-2C6B-59E0FFADE7B2}"/>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336350EA-120E-0A3E-E679-0B5DB5700157}"/>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7" name="Imagen 6" descr="Gráfico, Gráfico de líneas&#10;&#10;El contenido generado por IA puede ser incorrecto.">
            <a:extLst>
              <a:ext uri="{FF2B5EF4-FFF2-40B4-BE49-F238E27FC236}">
                <a16:creationId xmlns:a16="http://schemas.microsoft.com/office/drawing/2014/main" id="{C3383052-1C49-E03E-EC57-A4185DB1E4CD}"/>
              </a:ext>
            </a:extLst>
          </p:cNvPr>
          <p:cNvPicPr>
            <a:picLocks noChangeAspect="1"/>
          </p:cNvPicPr>
          <p:nvPr/>
        </p:nvPicPr>
        <p:blipFill>
          <a:blip r:embed="rId2"/>
          <a:stretch>
            <a:fillRect/>
          </a:stretch>
        </p:blipFill>
        <p:spPr>
          <a:xfrm>
            <a:off x="609600" y="1905000"/>
            <a:ext cx="4667901" cy="3743847"/>
          </a:xfrm>
          <a:prstGeom prst="rect">
            <a:avLst/>
          </a:prstGeom>
        </p:spPr>
      </p:pic>
      <p:sp>
        <p:nvSpPr>
          <p:cNvPr id="9" name="CuadroTexto 8">
            <a:extLst>
              <a:ext uri="{FF2B5EF4-FFF2-40B4-BE49-F238E27FC236}">
                <a16:creationId xmlns:a16="http://schemas.microsoft.com/office/drawing/2014/main" id="{1ADBDA43-A35D-DD2B-5E00-538D63FC4BC1}"/>
              </a:ext>
            </a:extLst>
          </p:cNvPr>
          <p:cNvSpPr txBox="1"/>
          <p:nvPr/>
        </p:nvSpPr>
        <p:spPr>
          <a:xfrm>
            <a:off x="5715000" y="2133600"/>
            <a:ext cx="6128326" cy="1477328"/>
          </a:xfrm>
          <a:prstGeom prst="rect">
            <a:avLst/>
          </a:prstGeom>
          <a:noFill/>
        </p:spPr>
        <p:txBody>
          <a:bodyPr wrap="square">
            <a:spAutoFit/>
          </a:bodyPr>
          <a:lstStyle/>
          <a:p>
            <a:r>
              <a:rPr lang="es-ES" dirty="0"/>
              <a:t>Como la fase acumulada en los dos brazos es idéntica, por lo que su diferencia es 0, y no se produce ni interferencia constructivas ni destructivas por lo que la salida se mantiene constante para todas las longitudes de onda, y al ser constante no presenta periodicidad espectral. </a:t>
            </a:r>
          </a:p>
        </p:txBody>
      </p:sp>
      <p:pic>
        <p:nvPicPr>
          <p:cNvPr id="6" name="Imagen 5">
            <a:extLst>
              <a:ext uri="{FF2B5EF4-FFF2-40B4-BE49-F238E27FC236}">
                <a16:creationId xmlns:a16="http://schemas.microsoft.com/office/drawing/2014/main" id="{9C05DC71-9E9C-094D-EEC8-E01FD79B9ED8}"/>
              </a:ext>
            </a:extLst>
          </p:cNvPr>
          <p:cNvPicPr>
            <a:picLocks noChangeAspect="1"/>
          </p:cNvPicPr>
          <p:nvPr/>
        </p:nvPicPr>
        <p:blipFill>
          <a:blip r:embed="rId3"/>
          <a:stretch>
            <a:fillRect/>
          </a:stretch>
        </p:blipFill>
        <p:spPr>
          <a:xfrm>
            <a:off x="348674" y="685800"/>
            <a:ext cx="9678751" cy="847843"/>
          </a:xfrm>
          <a:prstGeom prst="rect">
            <a:avLst/>
          </a:prstGeom>
        </p:spPr>
      </p:pic>
    </p:spTree>
    <p:extLst>
      <p:ext uri="{BB962C8B-B14F-4D97-AF65-F5344CB8AC3E}">
        <p14:creationId xmlns:p14="http://schemas.microsoft.com/office/powerpoint/2010/main" val="1025983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71A0C-9291-8026-EA4C-38418E7FDA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6882D1-CFE3-4FFC-2E39-2F19838560D2}"/>
              </a:ext>
            </a:extLst>
          </p:cNvPr>
          <p:cNvSpPr>
            <a:spLocks noGrp="1"/>
          </p:cNvSpPr>
          <p:nvPr>
            <p:ph type="title"/>
          </p:nvPr>
        </p:nvSpPr>
        <p:spPr/>
        <p:txBody>
          <a:bodyPr/>
          <a:lstStyle/>
          <a:p>
            <a:r>
              <a:rPr lang="es-ES" dirty="0" err="1"/>
              <a:t>Balanced</a:t>
            </a:r>
            <a:r>
              <a:rPr lang="es-ES" dirty="0"/>
              <a:t> </a:t>
            </a:r>
            <a:r>
              <a:rPr lang="es-ES" dirty="0" err="1"/>
              <a:t>configuration</a:t>
            </a:r>
            <a:r>
              <a:rPr lang="es-ES" dirty="0"/>
              <a:t> </a:t>
            </a:r>
          </a:p>
        </p:txBody>
      </p:sp>
      <p:sp>
        <p:nvSpPr>
          <p:cNvPr id="4" name="Marcador de pie de página 3">
            <a:extLst>
              <a:ext uri="{FF2B5EF4-FFF2-40B4-BE49-F238E27FC236}">
                <a16:creationId xmlns:a16="http://schemas.microsoft.com/office/drawing/2014/main" id="{B68A5B3F-5FAB-3C74-08A9-E1A25B378CEC}"/>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D09F6A2D-4F6F-BC6D-46F2-E1A6E27B2A57}"/>
              </a:ext>
            </a:extLst>
          </p:cNvPr>
          <p:cNvSpPr>
            <a:spLocks noGrp="1"/>
          </p:cNvSpPr>
          <p:nvPr>
            <p:ph type="sldNum" sz="quarter" idx="7"/>
          </p:nvPr>
        </p:nvSpPr>
        <p:spPr/>
        <p:txBody>
          <a:bodyPr/>
          <a:lstStyle/>
          <a:p>
            <a:fld id="{B6F15528-21DE-4FAA-801E-634DDDAF4B2B}" type="slidenum">
              <a:rPr lang="es-ES" smtClean="0"/>
              <a:t>6</a:t>
            </a:fld>
            <a:endParaRPr lang="es-ES"/>
          </a:p>
        </p:txBody>
      </p:sp>
      <p:pic>
        <p:nvPicPr>
          <p:cNvPr id="7" name="Imagen 6">
            <a:extLst>
              <a:ext uri="{FF2B5EF4-FFF2-40B4-BE49-F238E27FC236}">
                <a16:creationId xmlns:a16="http://schemas.microsoft.com/office/drawing/2014/main" id="{34C9539A-4BBC-42F0-2008-A0062E3AE36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9600" y="2254791"/>
            <a:ext cx="4667901" cy="3726715"/>
          </a:xfrm>
          <a:prstGeom prst="rect">
            <a:avLst/>
          </a:prstGeom>
        </p:spPr>
      </p:pic>
      <p:sp>
        <p:nvSpPr>
          <p:cNvPr id="9" name="CuadroTexto 8">
            <a:extLst>
              <a:ext uri="{FF2B5EF4-FFF2-40B4-BE49-F238E27FC236}">
                <a16:creationId xmlns:a16="http://schemas.microsoft.com/office/drawing/2014/main" id="{56E5C985-6707-78E4-DC17-0BAEC6FA4DAE}"/>
              </a:ext>
            </a:extLst>
          </p:cNvPr>
          <p:cNvSpPr txBox="1"/>
          <p:nvPr/>
        </p:nvSpPr>
        <p:spPr>
          <a:xfrm>
            <a:off x="5715000" y="2133600"/>
            <a:ext cx="6128326" cy="923330"/>
          </a:xfrm>
          <a:prstGeom prst="rect">
            <a:avLst/>
          </a:prstGeom>
          <a:noFill/>
        </p:spPr>
        <p:txBody>
          <a:bodyPr wrap="square">
            <a:spAutoFit/>
          </a:bodyPr>
          <a:lstStyle/>
          <a:p>
            <a:r>
              <a:rPr lang="es-ES" dirty="0"/>
              <a:t>Como toda la potencia va a un mismo puerto de salida, en </a:t>
            </a:r>
            <a:r>
              <a:rPr lang="es-ES" dirty="0" err="1"/>
              <a:t>cross</a:t>
            </a:r>
            <a:r>
              <a:rPr lang="es-ES" dirty="0"/>
              <a:t>, aunque cambiemos el </a:t>
            </a:r>
            <a:r>
              <a:rPr lang="es-ES" dirty="0" err="1"/>
              <a:t>coupling</a:t>
            </a:r>
            <a:r>
              <a:rPr lang="es-ES" dirty="0"/>
              <a:t> ratio, por eso lo vemos igual que en la gráfica anterior 50:50</a:t>
            </a:r>
          </a:p>
        </p:txBody>
      </p:sp>
      <p:pic>
        <p:nvPicPr>
          <p:cNvPr id="6" name="Imagen 5">
            <a:extLst>
              <a:ext uri="{FF2B5EF4-FFF2-40B4-BE49-F238E27FC236}">
                <a16:creationId xmlns:a16="http://schemas.microsoft.com/office/drawing/2014/main" id="{A9A164FC-1E7B-45E0-80E0-5FB56AAA12C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8674" y="717581"/>
            <a:ext cx="9678751" cy="784281"/>
          </a:xfrm>
          <a:prstGeom prst="rect">
            <a:avLst/>
          </a:prstGeom>
        </p:spPr>
      </p:pic>
      <p:pic>
        <p:nvPicPr>
          <p:cNvPr id="8" name="Imagen 7">
            <a:extLst>
              <a:ext uri="{FF2B5EF4-FFF2-40B4-BE49-F238E27FC236}">
                <a16:creationId xmlns:a16="http://schemas.microsoft.com/office/drawing/2014/main" id="{ECF58007-1D7E-ADC2-2FA0-4F9B69D29E83}"/>
              </a:ext>
            </a:extLst>
          </p:cNvPr>
          <p:cNvPicPr>
            <a:picLocks noChangeAspect="1"/>
          </p:cNvPicPr>
          <p:nvPr/>
        </p:nvPicPr>
        <p:blipFill>
          <a:blip r:embed="rId4"/>
          <a:stretch>
            <a:fillRect/>
          </a:stretch>
        </p:blipFill>
        <p:spPr>
          <a:xfrm>
            <a:off x="914400" y="1826106"/>
            <a:ext cx="2257740" cy="428685"/>
          </a:xfrm>
          <a:prstGeom prst="rect">
            <a:avLst/>
          </a:prstGeom>
        </p:spPr>
      </p:pic>
      <p:sp>
        <p:nvSpPr>
          <p:cNvPr id="11" name="CuadroTexto 10">
            <a:extLst>
              <a:ext uri="{FF2B5EF4-FFF2-40B4-BE49-F238E27FC236}">
                <a16:creationId xmlns:a16="http://schemas.microsoft.com/office/drawing/2014/main" id="{D39FA656-5666-5662-F59A-E01B7174DA84}"/>
              </a:ext>
            </a:extLst>
          </p:cNvPr>
          <p:cNvSpPr txBox="1"/>
          <p:nvPr/>
        </p:nvSpPr>
        <p:spPr>
          <a:xfrm>
            <a:off x="3352800" y="1842270"/>
            <a:ext cx="6128326" cy="369332"/>
          </a:xfrm>
          <a:prstGeom prst="rect">
            <a:avLst/>
          </a:prstGeom>
          <a:noFill/>
        </p:spPr>
        <p:txBody>
          <a:bodyPr wrap="square">
            <a:spAutoFit/>
          </a:bodyPr>
          <a:lstStyle/>
          <a:p>
            <a:r>
              <a:rPr lang="es-ES" dirty="0"/>
              <a:t>Lo ponemos 70:30</a:t>
            </a:r>
          </a:p>
        </p:txBody>
      </p:sp>
    </p:spTree>
    <p:extLst>
      <p:ext uri="{BB962C8B-B14F-4D97-AF65-F5344CB8AC3E}">
        <p14:creationId xmlns:p14="http://schemas.microsoft.com/office/powerpoint/2010/main" val="1849514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833D2-6EBA-2EAA-708B-BB93CE3E486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D5429C-DCC6-5EC0-DFFB-C6ED9CD17B7A}"/>
              </a:ext>
            </a:extLst>
          </p:cNvPr>
          <p:cNvSpPr>
            <a:spLocks noGrp="1"/>
          </p:cNvSpPr>
          <p:nvPr>
            <p:ph type="title"/>
          </p:nvPr>
        </p:nvSpPr>
        <p:spPr/>
        <p:txBody>
          <a:bodyPr/>
          <a:lstStyle/>
          <a:p>
            <a:r>
              <a:rPr lang="es-ES" dirty="0" err="1"/>
              <a:t>Balanced</a:t>
            </a:r>
            <a:r>
              <a:rPr lang="es-ES" dirty="0"/>
              <a:t> </a:t>
            </a:r>
            <a:r>
              <a:rPr lang="es-ES" dirty="0" err="1"/>
              <a:t>configuration</a:t>
            </a:r>
            <a:r>
              <a:rPr lang="es-ES" dirty="0"/>
              <a:t> </a:t>
            </a:r>
          </a:p>
        </p:txBody>
      </p:sp>
      <p:sp>
        <p:nvSpPr>
          <p:cNvPr id="4" name="Marcador de pie de página 3">
            <a:extLst>
              <a:ext uri="{FF2B5EF4-FFF2-40B4-BE49-F238E27FC236}">
                <a16:creationId xmlns:a16="http://schemas.microsoft.com/office/drawing/2014/main" id="{0EE9A738-49A4-52B8-70BB-BF90A577E363}"/>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817F1DAC-3AA9-7040-7AD1-3FC0D1176A8B}"/>
              </a:ext>
            </a:extLst>
          </p:cNvPr>
          <p:cNvSpPr>
            <a:spLocks noGrp="1"/>
          </p:cNvSpPr>
          <p:nvPr>
            <p:ph type="sldNum" sz="quarter" idx="7"/>
          </p:nvPr>
        </p:nvSpPr>
        <p:spPr/>
        <p:txBody>
          <a:bodyPr/>
          <a:lstStyle/>
          <a:p>
            <a:fld id="{B6F15528-21DE-4FAA-801E-634DDDAF4B2B}" type="slidenum">
              <a:rPr lang="es-ES" smtClean="0"/>
              <a:t>7</a:t>
            </a:fld>
            <a:endParaRPr lang="es-ES"/>
          </a:p>
        </p:txBody>
      </p:sp>
      <p:pic>
        <p:nvPicPr>
          <p:cNvPr id="7" name="Imagen 6">
            <a:extLst>
              <a:ext uri="{FF2B5EF4-FFF2-40B4-BE49-F238E27FC236}">
                <a16:creationId xmlns:a16="http://schemas.microsoft.com/office/drawing/2014/main" id="{1F4381CF-5362-564E-E62A-0C7870FB6F2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32409" y="2254791"/>
            <a:ext cx="4622282" cy="3726715"/>
          </a:xfrm>
          <a:prstGeom prst="rect">
            <a:avLst/>
          </a:prstGeom>
        </p:spPr>
      </p:pic>
      <p:sp>
        <p:nvSpPr>
          <p:cNvPr id="9" name="CuadroTexto 8">
            <a:extLst>
              <a:ext uri="{FF2B5EF4-FFF2-40B4-BE49-F238E27FC236}">
                <a16:creationId xmlns:a16="http://schemas.microsoft.com/office/drawing/2014/main" id="{647114DB-5FF6-1E01-F2AF-51C721C6B545}"/>
              </a:ext>
            </a:extLst>
          </p:cNvPr>
          <p:cNvSpPr txBox="1"/>
          <p:nvPr/>
        </p:nvSpPr>
        <p:spPr>
          <a:xfrm>
            <a:off x="5715000" y="2133600"/>
            <a:ext cx="6128326" cy="923330"/>
          </a:xfrm>
          <a:prstGeom prst="rect">
            <a:avLst/>
          </a:prstGeom>
          <a:noFill/>
        </p:spPr>
        <p:txBody>
          <a:bodyPr wrap="square">
            <a:spAutoFit/>
          </a:bodyPr>
          <a:lstStyle/>
          <a:p>
            <a:r>
              <a:rPr lang="es-ES" dirty="0"/>
              <a:t>Como era de esperar, al añadir pérdidas de exceso la potencia disminuye en el puerto de salida. La suma total a la salida ya no es 1.</a:t>
            </a:r>
          </a:p>
        </p:txBody>
      </p:sp>
      <p:pic>
        <p:nvPicPr>
          <p:cNvPr id="6" name="Imagen 5">
            <a:extLst>
              <a:ext uri="{FF2B5EF4-FFF2-40B4-BE49-F238E27FC236}">
                <a16:creationId xmlns:a16="http://schemas.microsoft.com/office/drawing/2014/main" id="{153B3BD4-4EA4-FA30-C910-259ACC9E44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8674" y="799856"/>
            <a:ext cx="9678751" cy="619731"/>
          </a:xfrm>
          <a:prstGeom prst="rect">
            <a:avLst/>
          </a:prstGeom>
        </p:spPr>
      </p:pic>
      <p:pic>
        <p:nvPicPr>
          <p:cNvPr id="10" name="Imagen 9">
            <a:extLst>
              <a:ext uri="{FF2B5EF4-FFF2-40B4-BE49-F238E27FC236}">
                <a16:creationId xmlns:a16="http://schemas.microsoft.com/office/drawing/2014/main" id="{BA1440DE-6745-4357-5A9D-319EE6DF05C0}"/>
              </a:ext>
            </a:extLst>
          </p:cNvPr>
          <p:cNvPicPr>
            <a:picLocks noChangeAspect="1"/>
          </p:cNvPicPr>
          <p:nvPr/>
        </p:nvPicPr>
        <p:blipFill>
          <a:blip r:embed="rId4"/>
          <a:srcRect r="55403" b="3075"/>
          <a:stretch>
            <a:fillRect/>
          </a:stretch>
        </p:blipFill>
        <p:spPr>
          <a:xfrm>
            <a:off x="1152218" y="1801038"/>
            <a:ext cx="981382" cy="369333"/>
          </a:xfrm>
          <a:prstGeom prst="rect">
            <a:avLst/>
          </a:prstGeom>
        </p:spPr>
      </p:pic>
    </p:spTree>
    <p:extLst>
      <p:ext uri="{BB962C8B-B14F-4D97-AF65-F5344CB8AC3E}">
        <p14:creationId xmlns:p14="http://schemas.microsoft.com/office/powerpoint/2010/main" val="416924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1299C-FF0E-DA44-56A9-C687434437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6E4D7A-F67F-770C-D08E-17DE446887BF}"/>
              </a:ext>
            </a:extLst>
          </p:cNvPr>
          <p:cNvSpPr>
            <a:spLocks noGrp="1"/>
          </p:cNvSpPr>
          <p:nvPr>
            <p:ph type="title"/>
          </p:nvPr>
        </p:nvSpPr>
        <p:spPr/>
        <p:txBody>
          <a:bodyPr/>
          <a:lstStyle/>
          <a:p>
            <a:r>
              <a:rPr lang="es-ES" dirty="0" err="1"/>
              <a:t>Unbalanced</a:t>
            </a:r>
            <a:r>
              <a:rPr lang="es-ES" dirty="0"/>
              <a:t> </a:t>
            </a:r>
            <a:r>
              <a:rPr lang="es-ES" dirty="0" err="1"/>
              <a:t>configuration</a:t>
            </a:r>
            <a:r>
              <a:rPr lang="es-ES" dirty="0"/>
              <a:t> –</a:t>
            </a:r>
            <a:r>
              <a:rPr lang="es-ES" dirty="0" err="1"/>
              <a:t>Phase</a:t>
            </a:r>
            <a:r>
              <a:rPr lang="es-ES" dirty="0"/>
              <a:t> </a:t>
            </a:r>
            <a:r>
              <a:rPr lang="es-ES" dirty="0" err="1"/>
              <a:t>Difference</a:t>
            </a:r>
            <a:r>
              <a:rPr lang="es-ES" dirty="0"/>
              <a:t> </a:t>
            </a:r>
          </a:p>
        </p:txBody>
      </p:sp>
      <p:sp>
        <p:nvSpPr>
          <p:cNvPr id="4" name="Marcador de pie de página 3">
            <a:extLst>
              <a:ext uri="{FF2B5EF4-FFF2-40B4-BE49-F238E27FC236}">
                <a16:creationId xmlns:a16="http://schemas.microsoft.com/office/drawing/2014/main" id="{9F337382-B2FF-7232-405D-A1AA57C4FC1F}"/>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E4E59C47-D7EA-4A3D-4103-5964C7B8CE9B}"/>
              </a:ext>
            </a:extLst>
          </p:cNvPr>
          <p:cNvSpPr>
            <a:spLocks noGrp="1"/>
          </p:cNvSpPr>
          <p:nvPr>
            <p:ph type="sldNum" sz="quarter" idx="7"/>
          </p:nvPr>
        </p:nvSpPr>
        <p:spPr/>
        <p:txBody>
          <a:bodyPr/>
          <a:lstStyle/>
          <a:p>
            <a:fld id="{B6F15528-21DE-4FAA-801E-634DDDAF4B2B}" type="slidenum">
              <a:rPr lang="es-ES" smtClean="0"/>
              <a:t>8</a:t>
            </a:fld>
            <a:endParaRPr lang="es-ES"/>
          </a:p>
        </p:txBody>
      </p:sp>
      <p:pic>
        <p:nvPicPr>
          <p:cNvPr id="7" name="Imagen 6">
            <a:extLst>
              <a:ext uri="{FF2B5EF4-FFF2-40B4-BE49-F238E27FC236}">
                <a16:creationId xmlns:a16="http://schemas.microsoft.com/office/drawing/2014/main" id="{2BE39AC6-ABD6-258C-4AA6-E7B6DC5D6566}"/>
              </a:ext>
            </a:extLst>
          </p:cNvPr>
          <p:cNvPicPr>
            <a:picLocks noChangeAspect="1"/>
          </p:cNvPicPr>
          <p:nvPr/>
        </p:nvPicPr>
        <p:blipFill>
          <a:blip r:embed="rId2">
            <a:extLst>
              <a:ext uri="{28A0092B-C50C-407E-A947-70E740481C1C}">
                <a14:useLocalDpi xmlns:a14="http://schemas.microsoft.com/office/drawing/2010/main" val="0"/>
              </a:ext>
            </a:extLst>
          </a:blip>
          <a:srcRect t="384" b="384"/>
          <a:stretch/>
        </p:blipFill>
        <p:spPr>
          <a:xfrm>
            <a:off x="1066800" y="1764416"/>
            <a:ext cx="4038599" cy="3239122"/>
          </a:xfrm>
          <a:prstGeom prst="rect">
            <a:avLst/>
          </a:prstGeom>
        </p:spPr>
      </p:pic>
      <p:sp>
        <p:nvSpPr>
          <p:cNvPr id="9" name="CuadroTexto 8">
            <a:extLst>
              <a:ext uri="{FF2B5EF4-FFF2-40B4-BE49-F238E27FC236}">
                <a16:creationId xmlns:a16="http://schemas.microsoft.com/office/drawing/2014/main" id="{5605D7A0-A247-A34F-8ADA-7629BCACEFEE}"/>
              </a:ext>
            </a:extLst>
          </p:cNvPr>
          <p:cNvSpPr txBox="1"/>
          <p:nvPr/>
        </p:nvSpPr>
        <p:spPr>
          <a:xfrm>
            <a:off x="288637" y="5144384"/>
            <a:ext cx="11827163" cy="1477328"/>
          </a:xfrm>
          <a:prstGeom prst="rect">
            <a:avLst/>
          </a:prstGeom>
          <a:noFill/>
        </p:spPr>
        <p:txBody>
          <a:bodyPr wrap="square">
            <a:spAutoFit/>
          </a:bodyPr>
          <a:lstStyle/>
          <a:p>
            <a:r>
              <a:rPr lang="en-US" dirty="0"/>
              <a:t>Al </a:t>
            </a:r>
            <a:r>
              <a:rPr lang="en-US" dirty="0" err="1"/>
              <a:t>variar</a:t>
            </a:r>
            <a:r>
              <a:rPr lang="en-US" dirty="0"/>
              <a:t> </a:t>
            </a:r>
            <a:r>
              <a:rPr lang="en-US" dirty="0" err="1"/>
              <a:t>el</a:t>
            </a:r>
            <a:r>
              <a:rPr lang="en-US" dirty="0"/>
              <a:t> </a:t>
            </a:r>
            <a:r>
              <a:rPr lang="en-US" dirty="0" err="1"/>
              <a:t>índice</a:t>
            </a:r>
            <a:r>
              <a:rPr lang="en-US" dirty="0"/>
              <a:t> </a:t>
            </a:r>
            <a:r>
              <a:rPr lang="en-US" dirty="0" err="1"/>
              <a:t>efectivo</a:t>
            </a:r>
            <a:r>
              <a:rPr lang="en-US" dirty="0"/>
              <a:t>, la </a:t>
            </a:r>
            <a:r>
              <a:rPr lang="en-US" dirty="0" err="1"/>
              <a:t>propagación</a:t>
            </a:r>
            <a:r>
              <a:rPr lang="en-US" dirty="0"/>
              <a:t> varia, lo </a:t>
            </a:r>
            <a:r>
              <a:rPr lang="en-US" dirty="0" err="1"/>
              <a:t>que</a:t>
            </a:r>
            <a:r>
              <a:rPr lang="en-US" dirty="0"/>
              <a:t> da </a:t>
            </a:r>
            <a:r>
              <a:rPr lang="en-US" dirty="0" err="1"/>
              <a:t>como</a:t>
            </a:r>
            <a:r>
              <a:rPr lang="en-US" dirty="0"/>
              <a:t> </a:t>
            </a:r>
            <a:r>
              <a:rPr lang="en-US" dirty="0" err="1"/>
              <a:t>resultado</a:t>
            </a:r>
            <a:r>
              <a:rPr lang="en-US" dirty="0"/>
              <a:t>  </a:t>
            </a:r>
            <a:r>
              <a:rPr lang="en-US" dirty="0" err="1"/>
              <a:t>que</a:t>
            </a:r>
            <a:r>
              <a:rPr lang="en-US" dirty="0"/>
              <a:t> </a:t>
            </a:r>
            <a:r>
              <a:rPr lang="en-US" dirty="0" err="1"/>
              <a:t>lleguen</a:t>
            </a:r>
            <a:r>
              <a:rPr lang="en-US" dirty="0"/>
              <a:t> con </a:t>
            </a:r>
            <a:r>
              <a:rPr lang="en-US" dirty="0" err="1"/>
              <a:t>una</a:t>
            </a:r>
            <a:r>
              <a:rPr lang="en-US" dirty="0"/>
              <a:t> </a:t>
            </a:r>
            <a:r>
              <a:rPr lang="en-US" dirty="0" err="1"/>
              <a:t>fase</a:t>
            </a:r>
            <a:r>
              <a:rPr lang="en-US" dirty="0"/>
              <a:t> </a:t>
            </a:r>
            <a:r>
              <a:rPr lang="en-US" dirty="0" err="1"/>
              <a:t>distinta</a:t>
            </a:r>
            <a:r>
              <a:rPr lang="en-US" dirty="0"/>
              <a:t> a la hora de </a:t>
            </a:r>
            <a:r>
              <a:rPr lang="en-US" dirty="0" err="1"/>
              <a:t>recombinarse</a:t>
            </a:r>
            <a:r>
              <a:rPr lang="en-US" dirty="0"/>
              <a:t>. Como la </a:t>
            </a:r>
            <a:r>
              <a:rPr lang="en-US" dirty="0" err="1"/>
              <a:t>propagación</a:t>
            </a:r>
            <a:r>
              <a:rPr lang="en-US" dirty="0"/>
              <a:t> </a:t>
            </a:r>
            <a:r>
              <a:rPr lang="en-US" dirty="0" err="1"/>
              <a:t>depende</a:t>
            </a:r>
            <a:r>
              <a:rPr lang="en-US" dirty="0"/>
              <a:t> también de la </a:t>
            </a:r>
            <a:r>
              <a:rPr lang="en-US" dirty="0" err="1"/>
              <a:t>longitud</a:t>
            </a:r>
            <a:r>
              <a:rPr lang="en-US" dirty="0"/>
              <a:t> de </a:t>
            </a:r>
            <a:r>
              <a:rPr lang="en-US" dirty="0" err="1"/>
              <a:t>onda</a:t>
            </a:r>
            <a:r>
              <a:rPr lang="en-US" dirty="0"/>
              <a:t> </a:t>
            </a:r>
            <a:r>
              <a:rPr lang="en-US" dirty="0" err="1"/>
              <a:t>podemos</a:t>
            </a:r>
            <a:r>
              <a:rPr lang="en-US" dirty="0"/>
              <a:t> </a:t>
            </a:r>
            <a:r>
              <a:rPr lang="en-US" dirty="0" err="1"/>
              <a:t>ver</a:t>
            </a:r>
            <a:r>
              <a:rPr lang="en-US" dirty="0"/>
              <a:t> </a:t>
            </a:r>
            <a:r>
              <a:rPr lang="en-US" dirty="0" err="1"/>
              <a:t>como</a:t>
            </a:r>
            <a:r>
              <a:rPr lang="en-US" dirty="0"/>
              <a:t> varia </a:t>
            </a:r>
            <a:r>
              <a:rPr lang="en-US" dirty="0" err="1"/>
              <a:t>el</a:t>
            </a:r>
            <a:r>
              <a:rPr lang="en-US" dirty="0"/>
              <a:t> cross y bar a lo largo de la </a:t>
            </a:r>
            <a:r>
              <a:rPr lang="en-US" dirty="0" err="1"/>
              <a:t>gráfica</a:t>
            </a:r>
            <a:r>
              <a:rPr lang="en-US" dirty="0"/>
              <a:t>. </a:t>
            </a:r>
          </a:p>
          <a:p>
            <a:r>
              <a:rPr lang="en-US" dirty="0"/>
              <a:t>La </a:t>
            </a:r>
            <a:r>
              <a:rPr lang="en-US" dirty="0" err="1"/>
              <a:t>diferencia</a:t>
            </a:r>
            <a:r>
              <a:rPr lang="en-US" dirty="0"/>
              <a:t> de </a:t>
            </a:r>
            <a:r>
              <a:rPr lang="en-US" dirty="0" err="1"/>
              <a:t>indice</a:t>
            </a:r>
            <a:r>
              <a:rPr lang="en-US" dirty="0"/>
              <a:t> </a:t>
            </a:r>
            <a:r>
              <a:rPr lang="en-US" dirty="0" err="1"/>
              <a:t>efectivo</a:t>
            </a:r>
            <a:r>
              <a:rPr lang="en-US" dirty="0"/>
              <a:t> de </a:t>
            </a:r>
            <a:r>
              <a:rPr lang="en-US" dirty="0" err="1"/>
              <a:t>cada</a:t>
            </a:r>
            <a:r>
              <a:rPr lang="en-US" dirty="0"/>
              <a:t> </a:t>
            </a:r>
            <a:r>
              <a:rPr lang="en-US" dirty="0" err="1"/>
              <a:t>guia</a:t>
            </a:r>
            <a:r>
              <a:rPr lang="en-US" dirty="0"/>
              <a:t> se ha </a:t>
            </a:r>
            <a:r>
              <a:rPr lang="en-US" dirty="0" err="1"/>
              <a:t>realizado</a:t>
            </a:r>
            <a:r>
              <a:rPr lang="en-US" dirty="0"/>
              <a:t> </a:t>
            </a:r>
            <a:r>
              <a:rPr lang="en-US" dirty="0" err="1"/>
              <a:t>añadiéndole</a:t>
            </a:r>
            <a:r>
              <a:rPr lang="en-US" dirty="0"/>
              <a:t> un </a:t>
            </a:r>
            <a:r>
              <a:rPr lang="en-US" dirty="0" err="1"/>
              <a:t>incremento</a:t>
            </a:r>
            <a:r>
              <a:rPr lang="en-US" dirty="0"/>
              <a:t> a la </a:t>
            </a:r>
            <a:r>
              <a:rPr lang="en-US" dirty="0" err="1"/>
              <a:t>guia</a:t>
            </a:r>
            <a:r>
              <a:rPr lang="en-US" dirty="0"/>
              <a:t> de </a:t>
            </a:r>
            <a:r>
              <a:rPr lang="en-US" dirty="0" err="1"/>
              <a:t>abajo</a:t>
            </a:r>
            <a:r>
              <a:rPr lang="en-US" dirty="0"/>
              <a:t>. Las </a:t>
            </a:r>
            <a:r>
              <a:rPr lang="en-US" dirty="0" err="1"/>
              <a:t>gráficas</a:t>
            </a:r>
            <a:r>
              <a:rPr lang="en-US" dirty="0"/>
              <a:t> son dos </a:t>
            </a:r>
            <a:r>
              <a:rPr lang="en-US" dirty="0" err="1"/>
              <a:t>ejemplos</a:t>
            </a:r>
            <a:r>
              <a:rPr lang="en-US" dirty="0"/>
              <a:t> de </a:t>
            </a:r>
            <a:r>
              <a:rPr lang="en-US" dirty="0" err="1"/>
              <a:t>como</a:t>
            </a:r>
            <a:r>
              <a:rPr lang="en-US" dirty="0"/>
              <a:t> varia la </a:t>
            </a:r>
            <a:r>
              <a:rPr lang="en-US" dirty="0" err="1"/>
              <a:t>potencia</a:t>
            </a:r>
            <a:r>
              <a:rPr lang="en-US" dirty="0"/>
              <a:t> de </a:t>
            </a:r>
            <a:r>
              <a:rPr lang="en-US" dirty="0" err="1"/>
              <a:t>los</a:t>
            </a:r>
            <a:r>
              <a:rPr lang="en-US" dirty="0"/>
              <a:t> </a:t>
            </a:r>
            <a:r>
              <a:rPr lang="en-US" dirty="0" err="1"/>
              <a:t>puertos</a:t>
            </a:r>
            <a:r>
              <a:rPr lang="en-US" dirty="0"/>
              <a:t> </a:t>
            </a:r>
            <a:r>
              <a:rPr lang="en-US" dirty="0" err="1"/>
              <a:t>segun</a:t>
            </a:r>
            <a:r>
              <a:rPr lang="en-US" dirty="0"/>
              <a:t> la </a:t>
            </a:r>
            <a:r>
              <a:rPr lang="en-US" dirty="0" err="1"/>
              <a:t>diferencia</a:t>
            </a:r>
            <a:r>
              <a:rPr lang="en-US" dirty="0"/>
              <a:t> de </a:t>
            </a:r>
            <a:r>
              <a:rPr lang="en-US" dirty="0" err="1"/>
              <a:t>neff</a:t>
            </a:r>
            <a:r>
              <a:rPr lang="en-US" dirty="0"/>
              <a:t> y </a:t>
            </a:r>
            <a:r>
              <a:rPr lang="en-US" dirty="0" err="1"/>
              <a:t>en</a:t>
            </a:r>
            <a:r>
              <a:rPr lang="en-US" dirty="0"/>
              <a:t> </a:t>
            </a:r>
            <a:r>
              <a:rPr lang="en-US" dirty="0" err="1"/>
              <a:t>función</a:t>
            </a:r>
            <a:r>
              <a:rPr lang="en-US" dirty="0"/>
              <a:t> de la </a:t>
            </a:r>
            <a:r>
              <a:rPr lang="en-US" dirty="0" err="1"/>
              <a:t>longitud</a:t>
            </a:r>
            <a:r>
              <a:rPr lang="en-US" dirty="0"/>
              <a:t> de </a:t>
            </a:r>
            <a:r>
              <a:rPr lang="en-US" dirty="0" err="1"/>
              <a:t>onda</a:t>
            </a:r>
            <a:r>
              <a:rPr lang="en-US" dirty="0"/>
              <a:t>. </a:t>
            </a:r>
            <a:endParaRPr lang="es-ES" dirty="0"/>
          </a:p>
        </p:txBody>
      </p:sp>
      <p:pic>
        <p:nvPicPr>
          <p:cNvPr id="6" name="Imagen 5">
            <a:extLst>
              <a:ext uri="{FF2B5EF4-FFF2-40B4-BE49-F238E27FC236}">
                <a16:creationId xmlns:a16="http://schemas.microsoft.com/office/drawing/2014/main" id="{080E6C45-BA87-8943-2325-351CFFD9BD97}"/>
              </a:ext>
            </a:extLst>
          </p:cNvPr>
          <p:cNvPicPr>
            <a:picLocks noChangeAspect="1"/>
          </p:cNvPicPr>
          <p:nvPr/>
        </p:nvPicPr>
        <p:blipFill>
          <a:blip r:embed="rId3"/>
          <a:stretch>
            <a:fillRect/>
          </a:stretch>
        </p:blipFill>
        <p:spPr>
          <a:xfrm>
            <a:off x="4138049" y="1652072"/>
            <a:ext cx="2091878" cy="348647"/>
          </a:xfrm>
          <a:prstGeom prst="rect">
            <a:avLst/>
          </a:prstGeom>
        </p:spPr>
      </p:pic>
      <p:pic>
        <p:nvPicPr>
          <p:cNvPr id="8" name="Imagen 7">
            <a:extLst>
              <a:ext uri="{FF2B5EF4-FFF2-40B4-BE49-F238E27FC236}">
                <a16:creationId xmlns:a16="http://schemas.microsoft.com/office/drawing/2014/main" id="{11A46D6F-C465-7C3B-3BD9-626910705B21}"/>
              </a:ext>
            </a:extLst>
          </p:cNvPr>
          <p:cNvPicPr>
            <a:picLocks noChangeAspect="1"/>
          </p:cNvPicPr>
          <p:nvPr/>
        </p:nvPicPr>
        <p:blipFill>
          <a:blip r:embed="rId4"/>
          <a:stretch>
            <a:fillRect/>
          </a:stretch>
        </p:blipFill>
        <p:spPr>
          <a:xfrm>
            <a:off x="457200" y="609547"/>
            <a:ext cx="9545382" cy="1019317"/>
          </a:xfrm>
          <a:prstGeom prst="rect">
            <a:avLst/>
          </a:prstGeom>
        </p:spPr>
      </p:pic>
      <p:pic>
        <p:nvPicPr>
          <p:cNvPr id="10" name="Imagen 9">
            <a:extLst>
              <a:ext uri="{FF2B5EF4-FFF2-40B4-BE49-F238E27FC236}">
                <a16:creationId xmlns:a16="http://schemas.microsoft.com/office/drawing/2014/main" id="{348A2720-8461-79A9-FA3B-534073092C6A}"/>
              </a:ext>
            </a:extLst>
          </p:cNvPr>
          <p:cNvPicPr>
            <a:picLocks noChangeAspect="1"/>
          </p:cNvPicPr>
          <p:nvPr/>
        </p:nvPicPr>
        <p:blipFill>
          <a:blip r:embed="rId5"/>
          <a:stretch>
            <a:fillRect/>
          </a:stretch>
        </p:blipFill>
        <p:spPr>
          <a:xfrm>
            <a:off x="6675120" y="1833893"/>
            <a:ext cx="4038600" cy="3190214"/>
          </a:xfrm>
          <a:prstGeom prst="rect">
            <a:avLst/>
          </a:prstGeom>
        </p:spPr>
      </p:pic>
      <p:pic>
        <p:nvPicPr>
          <p:cNvPr id="12" name="Imagen 11">
            <a:extLst>
              <a:ext uri="{FF2B5EF4-FFF2-40B4-BE49-F238E27FC236}">
                <a16:creationId xmlns:a16="http://schemas.microsoft.com/office/drawing/2014/main" id="{D59EF98E-4BBD-9D93-D4E0-D03FA19EE0E3}"/>
              </a:ext>
            </a:extLst>
          </p:cNvPr>
          <p:cNvPicPr>
            <a:picLocks noChangeAspect="1"/>
          </p:cNvPicPr>
          <p:nvPr/>
        </p:nvPicPr>
        <p:blipFill>
          <a:blip r:embed="rId6"/>
          <a:stretch>
            <a:fillRect/>
          </a:stretch>
        </p:blipFill>
        <p:spPr>
          <a:xfrm>
            <a:off x="9763362" y="1620406"/>
            <a:ext cx="2048161" cy="342948"/>
          </a:xfrm>
          <a:prstGeom prst="rect">
            <a:avLst/>
          </a:prstGeom>
        </p:spPr>
      </p:pic>
    </p:spTree>
    <p:extLst>
      <p:ext uri="{BB962C8B-B14F-4D97-AF65-F5344CB8AC3E}">
        <p14:creationId xmlns:p14="http://schemas.microsoft.com/office/powerpoint/2010/main" val="2903868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8D4CB-2890-25F5-447C-921D5ED844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CBE9C3E-85C2-85E7-4E7E-944D01C09226}"/>
              </a:ext>
            </a:extLst>
          </p:cNvPr>
          <p:cNvSpPr>
            <a:spLocks noGrp="1"/>
          </p:cNvSpPr>
          <p:nvPr>
            <p:ph type="title"/>
          </p:nvPr>
        </p:nvSpPr>
        <p:spPr/>
        <p:txBody>
          <a:bodyPr/>
          <a:lstStyle/>
          <a:p>
            <a:r>
              <a:rPr lang="es-ES" dirty="0" err="1"/>
              <a:t>Unbalanced</a:t>
            </a:r>
            <a:r>
              <a:rPr lang="es-ES" dirty="0"/>
              <a:t> </a:t>
            </a:r>
            <a:r>
              <a:rPr lang="es-ES" dirty="0" err="1"/>
              <a:t>configuration</a:t>
            </a:r>
            <a:r>
              <a:rPr lang="es-ES" dirty="0"/>
              <a:t> –</a:t>
            </a:r>
            <a:r>
              <a:rPr lang="es-ES" dirty="0" err="1"/>
              <a:t>Phase</a:t>
            </a:r>
            <a:r>
              <a:rPr lang="es-ES" dirty="0"/>
              <a:t> </a:t>
            </a:r>
            <a:r>
              <a:rPr lang="es-ES" dirty="0" err="1"/>
              <a:t>Difference</a:t>
            </a:r>
            <a:r>
              <a:rPr lang="es-ES" dirty="0"/>
              <a:t> </a:t>
            </a:r>
          </a:p>
        </p:txBody>
      </p:sp>
      <p:sp>
        <p:nvSpPr>
          <p:cNvPr id="4" name="Marcador de pie de página 3">
            <a:extLst>
              <a:ext uri="{FF2B5EF4-FFF2-40B4-BE49-F238E27FC236}">
                <a16:creationId xmlns:a16="http://schemas.microsoft.com/office/drawing/2014/main" id="{8EBBC86A-D5D7-DABC-CC56-4B540C7EA45A}"/>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06866E8A-F531-5D09-ECB8-1D850C4379F5}"/>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9" name="CuadroTexto 8">
            <a:extLst>
              <a:ext uri="{FF2B5EF4-FFF2-40B4-BE49-F238E27FC236}">
                <a16:creationId xmlns:a16="http://schemas.microsoft.com/office/drawing/2014/main" id="{55902C51-8DBD-CF19-7FE4-EA59378F4C75}"/>
              </a:ext>
            </a:extLst>
          </p:cNvPr>
          <p:cNvSpPr txBox="1"/>
          <p:nvPr/>
        </p:nvSpPr>
        <p:spPr>
          <a:xfrm>
            <a:off x="590550" y="5380672"/>
            <a:ext cx="11250468" cy="1477328"/>
          </a:xfrm>
          <a:prstGeom prst="rect">
            <a:avLst/>
          </a:prstGeom>
          <a:noFill/>
        </p:spPr>
        <p:txBody>
          <a:bodyPr wrap="square">
            <a:spAutoFit/>
          </a:bodyPr>
          <a:lstStyle/>
          <a:p>
            <a:r>
              <a:rPr lang="en-US" dirty="0"/>
              <a:t>La </a:t>
            </a:r>
            <a:r>
              <a:rPr lang="en-US" dirty="0" err="1"/>
              <a:t>diferencia</a:t>
            </a:r>
            <a:r>
              <a:rPr lang="en-US" dirty="0"/>
              <a:t> de </a:t>
            </a:r>
            <a:r>
              <a:rPr lang="en-US" dirty="0" err="1"/>
              <a:t>fase</a:t>
            </a:r>
            <a:r>
              <a:rPr lang="en-US" dirty="0"/>
              <a:t> </a:t>
            </a:r>
            <a:r>
              <a:rPr lang="en-US" dirty="0" err="1"/>
              <a:t>distribuye</a:t>
            </a:r>
            <a:r>
              <a:rPr lang="en-US" dirty="0"/>
              <a:t> la </a:t>
            </a:r>
            <a:r>
              <a:rPr lang="en-US" dirty="0" err="1"/>
              <a:t>potencia</a:t>
            </a:r>
            <a:r>
              <a:rPr lang="en-US" dirty="0"/>
              <a:t> entre </a:t>
            </a:r>
            <a:r>
              <a:rPr lang="en-US" dirty="0" err="1"/>
              <a:t>los</a:t>
            </a:r>
            <a:r>
              <a:rPr lang="en-US" dirty="0"/>
              <a:t> dos </a:t>
            </a:r>
            <a:r>
              <a:rPr lang="en-US" dirty="0" err="1"/>
              <a:t>brazos</a:t>
            </a:r>
            <a:r>
              <a:rPr lang="en-US" dirty="0"/>
              <a:t>. Solo </a:t>
            </a:r>
            <a:r>
              <a:rPr lang="en-US" dirty="0" err="1"/>
              <a:t>haciendo</a:t>
            </a:r>
            <a:r>
              <a:rPr lang="en-US" dirty="0"/>
              <a:t> </a:t>
            </a:r>
            <a:r>
              <a:rPr lang="en-US" dirty="0" err="1"/>
              <a:t>caso</a:t>
            </a:r>
            <a:r>
              <a:rPr lang="en-US" dirty="0"/>
              <a:t> a las formulas del </a:t>
            </a:r>
            <a:r>
              <a:rPr lang="en-US" dirty="0" err="1"/>
              <a:t>encunciado</a:t>
            </a:r>
            <a:r>
              <a:rPr lang="en-US" dirty="0"/>
              <a:t>, temenos dos </a:t>
            </a:r>
            <a:r>
              <a:rPr lang="en-US" dirty="0" err="1"/>
              <a:t>ecuaciones</a:t>
            </a:r>
            <a:r>
              <a:rPr lang="en-US" dirty="0"/>
              <a:t> </a:t>
            </a:r>
            <a:r>
              <a:rPr lang="en-US" dirty="0" err="1"/>
              <a:t>complementarias</a:t>
            </a:r>
            <a:r>
              <a:rPr lang="en-US" dirty="0"/>
              <a:t> </a:t>
            </a:r>
            <a:r>
              <a:rPr lang="en-US" dirty="0" err="1"/>
              <a:t>que</a:t>
            </a:r>
            <a:r>
              <a:rPr lang="en-US" dirty="0"/>
              <a:t> </a:t>
            </a:r>
            <a:r>
              <a:rPr lang="en-US" dirty="0" err="1"/>
              <a:t>oscilan</a:t>
            </a:r>
            <a:r>
              <a:rPr lang="en-US" dirty="0"/>
              <a:t> entre 1 y 0, </a:t>
            </a:r>
            <a:r>
              <a:rPr lang="en-US" dirty="0" err="1"/>
              <a:t>dependientes</a:t>
            </a:r>
            <a:r>
              <a:rPr lang="en-US" dirty="0"/>
              <a:t> de la </a:t>
            </a:r>
            <a:r>
              <a:rPr lang="en-US" dirty="0" err="1"/>
              <a:t>diferencia</a:t>
            </a:r>
            <a:r>
              <a:rPr lang="en-US" dirty="0"/>
              <a:t> de </a:t>
            </a:r>
            <a:r>
              <a:rPr lang="en-US" dirty="0" err="1"/>
              <a:t>fase</a:t>
            </a:r>
            <a:r>
              <a:rPr lang="en-US" dirty="0"/>
              <a:t>, </a:t>
            </a:r>
            <a:r>
              <a:rPr lang="en-US" dirty="0" err="1"/>
              <a:t>dando</a:t>
            </a:r>
            <a:r>
              <a:rPr lang="en-US" dirty="0"/>
              <a:t> </a:t>
            </a:r>
            <a:r>
              <a:rPr lang="en-US" dirty="0" err="1"/>
              <a:t>lugar</a:t>
            </a:r>
            <a:r>
              <a:rPr lang="en-US" dirty="0"/>
              <a:t> a </a:t>
            </a:r>
            <a:r>
              <a:rPr lang="en-US" dirty="0" err="1"/>
              <a:t>que</a:t>
            </a:r>
            <a:r>
              <a:rPr lang="en-US" dirty="0"/>
              <a:t> lo </a:t>
            </a:r>
            <a:r>
              <a:rPr lang="en-US" dirty="0" err="1"/>
              <a:t>que</a:t>
            </a:r>
            <a:r>
              <a:rPr lang="en-US" dirty="0"/>
              <a:t> no </a:t>
            </a:r>
            <a:r>
              <a:rPr lang="en-US" dirty="0" err="1"/>
              <a:t>tiene</a:t>
            </a:r>
            <a:r>
              <a:rPr lang="en-US" dirty="0"/>
              <a:t> uno lo </a:t>
            </a:r>
            <a:r>
              <a:rPr lang="en-US" dirty="0" err="1"/>
              <a:t>tiene</a:t>
            </a:r>
            <a:r>
              <a:rPr lang="en-US" dirty="0"/>
              <a:t> </a:t>
            </a:r>
            <a:r>
              <a:rPr lang="en-US" dirty="0" err="1"/>
              <a:t>el</a:t>
            </a:r>
            <a:r>
              <a:rPr lang="en-US" dirty="0"/>
              <a:t> </a:t>
            </a:r>
            <a:r>
              <a:rPr lang="en-US" dirty="0" err="1"/>
              <a:t>otro</a:t>
            </a:r>
            <a:r>
              <a:rPr lang="en-US" dirty="0"/>
              <a:t>.    </a:t>
            </a:r>
          </a:p>
          <a:p>
            <a:endParaRPr lang="en-US" dirty="0"/>
          </a:p>
          <a:p>
            <a:endParaRPr lang="es-ES" dirty="0"/>
          </a:p>
        </p:txBody>
      </p:sp>
      <p:pic>
        <p:nvPicPr>
          <p:cNvPr id="8" name="Imagen 7">
            <a:extLst>
              <a:ext uri="{FF2B5EF4-FFF2-40B4-BE49-F238E27FC236}">
                <a16:creationId xmlns:a16="http://schemas.microsoft.com/office/drawing/2014/main" id="{7702ED9B-0ECF-98CC-6F8B-286A4668E39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7200" y="752076"/>
            <a:ext cx="9545382" cy="734259"/>
          </a:xfrm>
          <a:prstGeom prst="rect">
            <a:avLst/>
          </a:prstGeom>
        </p:spPr>
      </p:pic>
      <p:pic>
        <p:nvPicPr>
          <p:cNvPr id="3" name="Imagen 2">
            <a:extLst>
              <a:ext uri="{FF2B5EF4-FFF2-40B4-BE49-F238E27FC236}">
                <a16:creationId xmlns:a16="http://schemas.microsoft.com/office/drawing/2014/main" id="{A8303C71-584C-A382-1A03-E27FE4C5BE02}"/>
              </a:ext>
            </a:extLst>
          </p:cNvPr>
          <p:cNvPicPr>
            <a:picLocks noChangeAspect="1"/>
          </p:cNvPicPr>
          <p:nvPr/>
        </p:nvPicPr>
        <p:blipFill>
          <a:blip r:embed="rId3">
            <a:extLst>
              <a:ext uri="{28A0092B-C50C-407E-A947-70E740481C1C}">
                <a14:useLocalDpi xmlns:a14="http://schemas.microsoft.com/office/drawing/2010/main" val="0"/>
              </a:ext>
            </a:extLst>
          </a:blip>
          <a:srcRect t="384" b="384"/>
          <a:stretch/>
        </p:blipFill>
        <p:spPr>
          <a:xfrm>
            <a:off x="1066800" y="1764416"/>
            <a:ext cx="4038599" cy="3239122"/>
          </a:xfrm>
          <a:prstGeom prst="rect">
            <a:avLst/>
          </a:prstGeom>
        </p:spPr>
      </p:pic>
      <p:pic>
        <p:nvPicPr>
          <p:cNvPr id="10" name="Imagen 9">
            <a:extLst>
              <a:ext uri="{FF2B5EF4-FFF2-40B4-BE49-F238E27FC236}">
                <a16:creationId xmlns:a16="http://schemas.microsoft.com/office/drawing/2014/main" id="{125A1C93-EADF-22FE-85C9-F08FEFC7F6E8}"/>
              </a:ext>
            </a:extLst>
          </p:cNvPr>
          <p:cNvPicPr>
            <a:picLocks noChangeAspect="1"/>
          </p:cNvPicPr>
          <p:nvPr/>
        </p:nvPicPr>
        <p:blipFill>
          <a:blip r:embed="rId4"/>
          <a:stretch>
            <a:fillRect/>
          </a:stretch>
        </p:blipFill>
        <p:spPr>
          <a:xfrm>
            <a:off x="6675120" y="1833893"/>
            <a:ext cx="4038600" cy="3190214"/>
          </a:xfrm>
          <a:prstGeom prst="rect">
            <a:avLst/>
          </a:prstGeom>
        </p:spPr>
      </p:pic>
    </p:spTree>
    <p:extLst>
      <p:ext uri="{BB962C8B-B14F-4D97-AF65-F5344CB8AC3E}">
        <p14:creationId xmlns:p14="http://schemas.microsoft.com/office/powerpoint/2010/main" val="2971445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FCAF2-4CAF-3724-5E41-A350B5EDA2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37D877-2605-BB40-43D4-940E277FCE45}"/>
              </a:ext>
            </a:extLst>
          </p:cNvPr>
          <p:cNvSpPr>
            <a:spLocks noGrp="1"/>
          </p:cNvSpPr>
          <p:nvPr>
            <p:ph type="title"/>
          </p:nvPr>
        </p:nvSpPr>
        <p:spPr/>
        <p:txBody>
          <a:bodyPr/>
          <a:lstStyle/>
          <a:p>
            <a:r>
              <a:rPr lang="es-ES" dirty="0" err="1"/>
              <a:t>Unbalanced</a:t>
            </a:r>
            <a:r>
              <a:rPr lang="es-ES" dirty="0"/>
              <a:t> </a:t>
            </a:r>
            <a:r>
              <a:rPr lang="es-ES" dirty="0" err="1"/>
              <a:t>configuration</a:t>
            </a:r>
            <a:r>
              <a:rPr lang="es-ES" dirty="0"/>
              <a:t> –</a:t>
            </a:r>
            <a:r>
              <a:rPr lang="es-ES" dirty="0" err="1"/>
              <a:t>Phase</a:t>
            </a:r>
            <a:r>
              <a:rPr lang="es-ES" dirty="0"/>
              <a:t> </a:t>
            </a:r>
            <a:r>
              <a:rPr lang="es-ES" dirty="0" err="1"/>
              <a:t>Difference</a:t>
            </a:r>
            <a:r>
              <a:rPr lang="es-ES" dirty="0"/>
              <a:t> </a:t>
            </a:r>
          </a:p>
        </p:txBody>
      </p:sp>
      <p:sp>
        <p:nvSpPr>
          <p:cNvPr id="4" name="Marcador de pie de página 3">
            <a:extLst>
              <a:ext uri="{FF2B5EF4-FFF2-40B4-BE49-F238E27FC236}">
                <a16:creationId xmlns:a16="http://schemas.microsoft.com/office/drawing/2014/main" id="{E952A2EF-B619-D84B-C41B-713072E0CB84}"/>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DBA817EB-9F2F-0DD7-3B41-D3F255B2C785}"/>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9" name="CuadroTexto 8">
            <a:extLst>
              <a:ext uri="{FF2B5EF4-FFF2-40B4-BE49-F238E27FC236}">
                <a16:creationId xmlns:a16="http://schemas.microsoft.com/office/drawing/2014/main" id="{B1B56D5A-D857-F6BF-9581-DE217714D775}"/>
              </a:ext>
            </a:extLst>
          </p:cNvPr>
          <p:cNvSpPr txBox="1"/>
          <p:nvPr/>
        </p:nvSpPr>
        <p:spPr>
          <a:xfrm>
            <a:off x="5426365" y="2133600"/>
            <a:ext cx="6128326" cy="646331"/>
          </a:xfrm>
          <a:prstGeom prst="rect">
            <a:avLst/>
          </a:prstGeom>
          <a:noFill/>
        </p:spPr>
        <p:txBody>
          <a:bodyPr wrap="square">
            <a:spAutoFit/>
          </a:bodyPr>
          <a:lstStyle/>
          <a:p>
            <a:endParaRPr lang="en-US" dirty="0"/>
          </a:p>
          <a:p>
            <a:endParaRPr lang="es-ES" dirty="0"/>
          </a:p>
        </p:txBody>
      </p:sp>
      <p:pic>
        <p:nvPicPr>
          <p:cNvPr id="8" name="Imagen 7">
            <a:extLst>
              <a:ext uri="{FF2B5EF4-FFF2-40B4-BE49-F238E27FC236}">
                <a16:creationId xmlns:a16="http://schemas.microsoft.com/office/drawing/2014/main" id="{8FEC3C99-BB92-EE36-CF0A-51CF71688A9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5161" y="575600"/>
            <a:ext cx="10044841" cy="872200"/>
          </a:xfrm>
          <a:prstGeom prst="rect">
            <a:avLst/>
          </a:prstGeom>
        </p:spPr>
      </p:pic>
      <p:sp>
        <p:nvSpPr>
          <p:cNvPr id="10" name="CuadroTexto 9">
            <a:extLst>
              <a:ext uri="{FF2B5EF4-FFF2-40B4-BE49-F238E27FC236}">
                <a16:creationId xmlns:a16="http://schemas.microsoft.com/office/drawing/2014/main" id="{2DB85571-0C8A-62B2-4D04-46C7FCF54DA6}"/>
              </a:ext>
            </a:extLst>
          </p:cNvPr>
          <p:cNvSpPr txBox="1"/>
          <p:nvPr/>
        </p:nvSpPr>
        <p:spPr>
          <a:xfrm>
            <a:off x="609600" y="5061554"/>
            <a:ext cx="10439400" cy="1200329"/>
          </a:xfrm>
          <a:prstGeom prst="rect">
            <a:avLst/>
          </a:prstGeom>
          <a:noFill/>
        </p:spPr>
        <p:txBody>
          <a:bodyPr wrap="square">
            <a:spAutoFit/>
          </a:bodyPr>
          <a:lstStyle/>
          <a:p>
            <a:r>
              <a:rPr lang="en-US" dirty="0"/>
              <a:t>Al </a:t>
            </a:r>
            <a:r>
              <a:rPr lang="en-US" dirty="0" err="1"/>
              <a:t>varirar</a:t>
            </a:r>
            <a:r>
              <a:rPr lang="en-US" dirty="0"/>
              <a:t> </a:t>
            </a:r>
            <a:r>
              <a:rPr lang="en-US" dirty="0" err="1"/>
              <a:t>el</a:t>
            </a:r>
            <a:r>
              <a:rPr lang="en-US" dirty="0"/>
              <a:t> </a:t>
            </a:r>
            <a:r>
              <a:rPr lang="en-US" dirty="0" err="1"/>
              <a:t>índice</a:t>
            </a:r>
            <a:r>
              <a:rPr lang="en-US" dirty="0"/>
              <a:t> </a:t>
            </a:r>
            <a:r>
              <a:rPr lang="en-US" dirty="0" err="1"/>
              <a:t>efectivo</a:t>
            </a:r>
            <a:r>
              <a:rPr lang="en-US" dirty="0"/>
              <a:t> </a:t>
            </a:r>
            <a:r>
              <a:rPr lang="en-US" dirty="0" err="1"/>
              <a:t>en</a:t>
            </a:r>
            <a:r>
              <a:rPr lang="en-US" dirty="0"/>
              <a:t> mayor o </a:t>
            </a:r>
            <a:r>
              <a:rPr lang="en-US" dirty="0" err="1"/>
              <a:t>menor</a:t>
            </a:r>
            <a:r>
              <a:rPr lang="en-US" dirty="0"/>
              <a:t> </a:t>
            </a:r>
            <a:r>
              <a:rPr lang="en-US" dirty="0" err="1"/>
              <a:t>medida</a:t>
            </a:r>
            <a:r>
              <a:rPr lang="en-US" dirty="0"/>
              <a:t> de uno de </a:t>
            </a:r>
            <a:r>
              <a:rPr lang="en-US" dirty="0" err="1"/>
              <a:t>los</a:t>
            </a:r>
            <a:r>
              <a:rPr lang="en-US" dirty="0"/>
              <a:t> </a:t>
            </a:r>
            <a:r>
              <a:rPr lang="en-US" dirty="0" err="1"/>
              <a:t>brazos</a:t>
            </a:r>
            <a:r>
              <a:rPr lang="en-US" dirty="0"/>
              <a:t>, </a:t>
            </a:r>
            <a:r>
              <a:rPr lang="en-US" dirty="0" err="1"/>
              <a:t>podemos</a:t>
            </a:r>
            <a:r>
              <a:rPr lang="en-US" dirty="0"/>
              <a:t> </a:t>
            </a:r>
            <a:r>
              <a:rPr lang="en-US" dirty="0" err="1"/>
              <a:t>controlar</a:t>
            </a:r>
            <a:r>
              <a:rPr lang="en-US" dirty="0"/>
              <a:t> la </a:t>
            </a:r>
            <a:r>
              <a:rPr lang="en-US" dirty="0" err="1"/>
              <a:t>potencia</a:t>
            </a:r>
            <a:r>
              <a:rPr lang="en-US" dirty="0"/>
              <a:t> </a:t>
            </a:r>
            <a:r>
              <a:rPr lang="en-US" dirty="0" err="1"/>
              <a:t>que</a:t>
            </a:r>
            <a:r>
              <a:rPr lang="en-US" dirty="0"/>
              <a:t> sale de </a:t>
            </a:r>
            <a:r>
              <a:rPr lang="en-US" dirty="0" err="1"/>
              <a:t>los</a:t>
            </a:r>
            <a:r>
              <a:rPr lang="en-US" dirty="0"/>
              <a:t> </a:t>
            </a:r>
            <a:r>
              <a:rPr lang="en-US" dirty="0" err="1"/>
              <a:t>puertos</a:t>
            </a:r>
            <a:r>
              <a:rPr lang="en-US" dirty="0"/>
              <a:t> para </a:t>
            </a:r>
            <a:r>
              <a:rPr lang="en-US" dirty="0" err="1"/>
              <a:t>una</a:t>
            </a:r>
            <a:r>
              <a:rPr lang="en-US" dirty="0"/>
              <a:t> </a:t>
            </a:r>
            <a:r>
              <a:rPr lang="en-US" dirty="0" err="1"/>
              <a:t>determinada</a:t>
            </a:r>
            <a:r>
              <a:rPr lang="en-US" dirty="0"/>
              <a:t> </a:t>
            </a:r>
            <a:r>
              <a:rPr lang="en-US" dirty="0" err="1"/>
              <a:t>longitud</a:t>
            </a:r>
            <a:r>
              <a:rPr lang="en-US" dirty="0"/>
              <a:t> de </a:t>
            </a:r>
            <a:r>
              <a:rPr lang="en-US" dirty="0" err="1"/>
              <a:t>onda</a:t>
            </a:r>
            <a:r>
              <a:rPr lang="en-US" dirty="0"/>
              <a:t>.   </a:t>
            </a:r>
          </a:p>
          <a:p>
            <a:endParaRPr lang="en-US" dirty="0"/>
          </a:p>
          <a:p>
            <a:endParaRPr lang="es-ES" dirty="0"/>
          </a:p>
        </p:txBody>
      </p:sp>
      <p:pic>
        <p:nvPicPr>
          <p:cNvPr id="3" name="Imagen 2">
            <a:extLst>
              <a:ext uri="{FF2B5EF4-FFF2-40B4-BE49-F238E27FC236}">
                <a16:creationId xmlns:a16="http://schemas.microsoft.com/office/drawing/2014/main" id="{0763DAF3-932E-71E0-53E4-8B79009188C8}"/>
              </a:ext>
            </a:extLst>
          </p:cNvPr>
          <p:cNvPicPr>
            <a:picLocks noChangeAspect="1"/>
          </p:cNvPicPr>
          <p:nvPr/>
        </p:nvPicPr>
        <p:blipFill>
          <a:blip r:embed="rId3"/>
          <a:stretch>
            <a:fillRect/>
          </a:stretch>
        </p:blipFill>
        <p:spPr>
          <a:xfrm>
            <a:off x="6471228" y="1574149"/>
            <a:ext cx="4038600" cy="3190214"/>
          </a:xfrm>
          <a:prstGeom prst="rect">
            <a:avLst/>
          </a:prstGeom>
        </p:spPr>
      </p:pic>
      <p:pic>
        <p:nvPicPr>
          <p:cNvPr id="11" name="Imagen 10">
            <a:extLst>
              <a:ext uri="{FF2B5EF4-FFF2-40B4-BE49-F238E27FC236}">
                <a16:creationId xmlns:a16="http://schemas.microsoft.com/office/drawing/2014/main" id="{2F5C511F-3413-3D2F-3F95-259AFCFBCC2C}"/>
              </a:ext>
            </a:extLst>
          </p:cNvPr>
          <p:cNvPicPr>
            <a:picLocks noChangeAspect="1"/>
          </p:cNvPicPr>
          <p:nvPr/>
        </p:nvPicPr>
        <p:blipFill>
          <a:blip r:embed="rId4">
            <a:extLst>
              <a:ext uri="{28A0092B-C50C-407E-A947-70E740481C1C}">
                <a14:useLocalDpi xmlns:a14="http://schemas.microsoft.com/office/drawing/2010/main" val="0"/>
              </a:ext>
            </a:extLst>
          </a:blip>
          <a:srcRect t="384" b="384"/>
          <a:stretch/>
        </p:blipFill>
        <p:spPr>
          <a:xfrm>
            <a:off x="1066800" y="1508871"/>
            <a:ext cx="4038599" cy="3239122"/>
          </a:xfrm>
          <a:prstGeom prst="rect">
            <a:avLst/>
          </a:prstGeom>
        </p:spPr>
      </p:pic>
    </p:spTree>
    <p:extLst>
      <p:ext uri="{BB962C8B-B14F-4D97-AF65-F5344CB8AC3E}">
        <p14:creationId xmlns:p14="http://schemas.microsoft.com/office/powerpoint/2010/main" val="1338821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815FD-F704-9D26-960A-7D9E91DB3D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1E5218-1286-DAEA-AB8F-8AC5556E9E48}"/>
              </a:ext>
            </a:extLst>
          </p:cNvPr>
          <p:cNvSpPr>
            <a:spLocks noGrp="1"/>
          </p:cNvSpPr>
          <p:nvPr>
            <p:ph type="title"/>
          </p:nvPr>
        </p:nvSpPr>
        <p:spPr/>
        <p:txBody>
          <a:bodyPr/>
          <a:lstStyle/>
          <a:p>
            <a:r>
              <a:rPr lang="es-ES" dirty="0" err="1"/>
              <a:t>Unbalanced</a:t>
            </a:r>
            <a:r>
              <a:rPr lang="es-ES" dirty="0"/>
              <a:t> </a:t>
            </a:r>
            <a:r>
              <a:rPr lang="es-ES" dirty="0" err="1"/>
              <a:t>configuration</a:t>
            </a:r>
            <a:r>
              <a:rPr lang="es-ES" dirty="0"/>
              <a:t> –</a:t>
            </a:r>
            <a:r>
              <a:rPr lang="es-ES" dirty="0" err="1"/>
              <a:t>Delay</a:t>
            </a:r>
            <a:r>
              <a:rPr lang="es-ES" dirty="0"/>
              <a:t> </a:t>
            </a:r>
          </a:p>
        </p:txBody>
      </p:sp>
      <p:sp>
        <p:nvSpPr>
          <p:cNvPr id="4" name="Marcador de pie de página 3">
            <a:extLst>
              <a:ext uri="{FF2B5EF4-FFF2-40B4-BE49-F238E27FC236}">
                <a16:creationId xmlns:a16="http://schemas.microsoft.com/office/drawing/2014/main" id="{B5A7F22D-BC98-AE80-12FE-5452256579DA}"/>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CA199457-8A8A-C682-0926-61B2889A8D2D}"/>
              </a:ext>
            </a:extLst>
          </p:cNvPr>
          <p:cNvSpPr>
            <a:spLocks noGrp="1"/>
          </p:cNvSpPr>
          <p:nvPr>
            <p:ph type="sldNum" sz="quarter" idx="7"/>
          </p:nvPr>
        </p:nvSpPr>
        <p:spPr/>
        <p:txBody>
          <a:bodyPr/>
          <a:lstStyle/>
          <a:p>
            <a:fld id="{B6F15528-21DE-4FAA-801E-634DDDAF4B2B}" type="slidenum">
              <a:rPr lang="es-ES" smtClean="0"/>
              <a:t>11</a:t>
            </a:fld>
            <a:endParaRPr lang="es-ES"/>
          </a:p>
        </p:txBody>
      </p:sp>
      <p:pic>
        <p:nvPicPr>
          <p:cNvPr id="7" name="Imagen 6">
            <a:extLst>
              <a:ext uri="{FF2B5EF4-FFF2-40B4-BE49-F238E27FC236}">
                <a16:creationId xmlns:a16="http://schemas.microsoft.com/office/drawing/2014/main" id="{6E890FE9-C18C-6BA1-5C83-E61D0D4C2E3D}"/>
              </a:ext>
            </a:extLst>
          </p:cNvPr>
          <p:cNvPicPr>
            <a:picLocks noChangeAspect="1"/>
          </p:cNvPicPr>
          <p:nvPr/>
        </p:nvPicPr>
        <p:blipFill>
          <a:blip r:embed="rId2">
            <a:extLst>
              <a:ext uri="{28A0092B-C50C-407E-A947-70E740481C1C}">
                <a14:useLocalDpi xmlns:a14="http://schemas.microsoft.com/office/drawing/2010/main" val="0"/>
              </a:ext>
            </a:extLst>
          </a:blip>
          <a:srcRect t="154" b="154"/>
          <a:stretch/>
        </p:blipFill>
        <p:spPr>
          <a:xfrm>
            <a:off x="3810000" y="1668738"/>
            <a:ext cx="3759066" cy="3014924"/>
          </a:xfrm>
          <a:prstGeom prst="rect">
            <a:avLst/>
          </a:prstGeom>
        </p:spPr>
      </p:pic>
      <p:pic>
        <p:nvPicPr>
          <p:cNvPr id="6" name="Imagen 5">
            <a:extLst>
              <a:ext uri="{FF2B5EF4-FFF2-40B4-BE49-F238E27FC236}">
                <a16:creationId xmlns:a16="http://schemas.microsoft.com/office/drawing/2014/main" id="{B7F89E63-6169-17B1-814C-9F418393B821}"/>
              </a:ext>
            </a:extLst>
          </p:cNvPr>
          <p:cNvPicPr>
            <a:picLocks noChangeAspect="1"/>
          </p:cNvPicPr>
          <p:nvPr/>
        </p:nvPicPr>
        <p:blipFill>
          <a:blip r:embed="rId3"/>
          <a:stretch>
            <a:fillRect/>
          </a:stretch>
        </p:blipFill>
        <p:spPr>
          <a:xfrm>
            <a:off x="583623" y="582933"/>
            <a:ext cx="8852170" cy="858792"/>
          </a:xfrm>
          <a:prstGeom prst="rect">
            <a:avLst/>
          </a:prstGeom>
        </p:spPr>
      </p:pic>
      <p:sp>
        <p:nvSpPr>
          <p:cNvPr id="10" name="CuadroTexto 9">
            <a:extLst>
              <a:ext uri="{FF2B5EF4-FFF2-40B4-BE49-F238E27FC236}">
                <a16:creationId xmlns:a16="http://schemas.microsoft.com/office/drawing/2014/main" id="{0F9E83A2-3AD9-BF71-E346-7EA290887604}"/>
              </a:ext>
            </a:extLst>
          </p:cNvPr>
          <p:cNvSpPr txBox="1"/>
          <p:nvPr/>
        </p:nvSpPr>
        <p:spPr>
          <a:xfrm>
            <a:off x="5101747" y="1327181"/>
            <a:ext cx="6128326" cy="369332"/>
          </a:xfrm>
          <a:prstGeom prst="rect">
            <a:avLst/>
          </a:prstGeom>
          <a:noFill/>
        </p:spPr>
        <p:txBody>
          <a:bodyPr wrap="square">
            <a:spAutoFit/>
          </a:bodyPr>
          <a:lstStyle/>
          <a:p>
            <a:r>
              <a:rPr lang="en-US" dirty="0"/>
              <a:t>25um/5um</a:t>
            </a:r>
            <a:endParaRPr lang="es-ES" dirty="0"/>
          </a:p>
        </p:txBody>
      </p:sp>
      <p:pic>
        <p:nvPicPr>
          <p:cNvPr id="12" name="Imagen 11" descr="Gráfico, Gráfico de líneas&#10;&#10;El contenido generado por IA puede ser incorrecto.">
            <a:extLst>
              <a:ext uri="{FF2B5EF4-FFF2-40B4-BE49-F238E27FC236}">
                <a16:creationId xmlns:a16="http://schemas.microsoft.com/office/drawing/2014/main" id="{82B3A02E-C78F-29F0-CC88-23069DFB2364}"/>
              </a:ext>
            </a:extLst>
          </p:cNvPr>
          <p:cNvPicPr>
            <a:picLocks noChangeAspect="1"/>
          </p:cNvPicPr>
          <p:nvPr/>
        </p:nvPicPr>
        <p:blipFill>
          <a:blip r:embed="rId4"/>
          <a:stretch>
            <a:fillRect/>
          </a:stretch>
        </p:blipFill>
        <p:spPr>
          <a:xfrm>
            <a:off x="7772400" y="1668738"/>
            <a:ext cx="3713037" cy="3014924"/>
          </a:xfrm>
          <a:prstGeom prst="rect">
            <a:avLst/>
          </a:prstGeom>
        </p:spPr>
      </p:pic>
      <p:pic>
        <p:nvPicPr>
          <p:cNvPr id="14" name="Imagen 13" descr="Gráfico, Gráfico de líneas&#10;&#10;El contenido generado por IA puede ser incorrecto.">
            <a:extLst>
              <a:ext uri="{FF2B5EF4-FFF2-40B4-BE49-F238E27FC236}">
                <a16:creationId xmlns:a16="http://schemas.microsoft.com/office/drawing/2014/main" id="{BFE2E76B-11BE-D7E6-F6DF-FEA3525CEA59}"/>
              </a:ext>
            </a:extLst>
          </p:cNvPr>
          <p:cNvPicPr>
            <a:picLocks noChangeAspect="1"/>
          </p:cNvPicPr>
          <p:nvPr/>
        </p:nvPicPr>
        <p:blipFill>
          <a:blip r:embed="rId5"/>
          <a:stretch>
            <a:fillRect/>
          </a:stretch>
        </p:blipFill>
        <p:spPr>
          <a:xfrm>
            <a:off x="285343" y="1771907"/>
            <a:ext cx="3524657" cy="2873284"/>
          </a:xfrm>
          <a:prstGeom prst="rect">
            <a:avLst/>
          </a:prstGeom>
        </p:spPr>
      </p:pic>
      <p:sp>
        <p:nvSpPr>
          <p:cNvPr id="16" name="CuadroTexto 15">
            <a:extLst>
              <a:ext uri="{FF2B5EF4-FFF2-40B4-BE49-F238E27FC236}">
                <a16:creationId xmlns:a16="http://schemas.microsoft.com/office/drawing/2014/main" id="{8CE74FE9-9EAB-A57E-F182-00FB141DF988}"/>
              </a:ext>
            </a:extLst>
          </p:cNvPr>
          <p:cNvSpPr txBox="1"/>
          <p:nvPr/>
        </p:nvSpPr>
        <p:spPr>
          <a:xfrm>
            <a:off x="1349044" y="1424680"/>
            <a:ext cx="6128326" cy="369332"/>
          </a:xfrm>
          <a:prstGeom prst="rect">
            <a:avLst/>
          </a:prstGeom>
          <a:noFill/>
        </p:spPr>
        <p:txBody>
          <a:bodyPr wrap="square">
            <a:spAutoFit/>
          </a:bodyPr>
          <a:lstStyle/>
          <a:p>
            <a:r>
              <a:rPr lang="en-US" dirty="0"/>
              <a:t>15um/5um</a:t>
            </a:r>
            <a:endParaRPr lang="es-ES" dirty="0"/>
          </a:p>
        </p:txBody>
      </p:sp>
      <p:sp>
        <p:nvSpPr>
          <p:cNvPr id="17" name="CuadroTexto 16">
            <a:extLst>
              <a:ext uri="{FF2B5EF4-FFF2-40B4-BE49-F238E27FC236}">
                <a16:creationId xmlns:a16="http://schemas.microsoft.com/office/drawing/2014/main" id="{CBCC002E-692E-3AC2-A962-52BBC7D15A83}"/>
              </a:ext>
            </a:extLst>
          </p:cNvPr>
          <p:cNvSpPr txBox="1"/>
          <p:nvPr/>
        </p:nvSpPr>
        <p:spPr>
          <a:xfrm>
            <a:off x="9316258" y="1293333"/>
            <a:ext cx="6128326" cy="369332"/>
          </a:xfrm>
          <a:prstGeom prst="rect">
            <a:avLst/>
          </a:prstGeom>
          <a:noFill/>
        </p:spPr>
        <p:txBody>
          <a:bodyPr wrap="square">
            <a:spAutoFit/>
          </a:bodyPr>
          <a:lstStyle/>
          <a:p>
            <a:r>
              <a:rPr lang="en-US" dirty="0"/>
              <a:t>35um/5um</a:t>
            </a:r>
            <a:endParaRPr lang="es-ES" dirty="0"/>
          </a:p>
        </p:txBody>
      </p:sp>
      <p:sp>
        <p:nvSpPr>
          <p:cNvPr id="8" name="CuadroTexto 7">
            <a:extLst>
              <a:ext uri="{FF2B5EF4-FFF2-40B4-BE49-F238E27FC236}">
                <a16:creationId xmlns:a16="http://schemas.microsoft.com/office/drawing/2014/main" id="{F5B95AF6-7060-90F1-7A3C-49C1A5F078D7}"/>
              </a:ext>
            </a:extLst>
          </p:cNvPr>
          <p:cNvSpPr txBox="1"/>
          <p:nvPr/>
        </p:nvSpPr>
        <p:spPr>
          <a:xfrm>
            <a:off x="609600" y="4786831"/>
            <a:ext cx="11049000" cy="923330"/>
          </a:xfrm>
          <a:prstGeom prst="rect">
            <a:avLst/>
          </a:prstGeom>
          <a:noFill/>
        </p:spPr>
        <p:txBody>
          <a:bodyPr wrap="square">
            <a:spAutoFit/>
          </a:bodyPr>
          <a:lstStyle/>
          <a:p>
            <a:r>
              <a:rPr lang="en-US" dirty="0"/>
              <a:t>Al </a:t>
            </a:r>
            <a:r>
              <a:rPr lang="en-US" dirty="0" err="1"/>
              <a:t>aumentar</a:t>
            </a:r>
            <a:r>
              <a:rPr lang="en-US" dirty="0"/>
              <a:t> la </a:t>
            </a:r>
            <a:r>
              <a:rPr lang="en-US" dirty="0" err="1"/>
              <a:t>longitud</a:t>
            </a:r>
            <a:r>
              <a:rPr lang="en-US" dirty="0"/>
              <a:t> de uno de </a:t>
            </a:r>
            <a:r>
              <a:rPr lang="en-US" dirty="0" err="1"/>
              <a:t>los</a:t>
            </a:r>
            <a:r>
              <a:rPr lang="en-US" dirty="0"/>
              <a:t> </a:t>
            </a:r>
            <a:r>
              <a:rPr lang="en-US" dirty="0" err="1"/>
              <a:t>brazos</a:t>
            </a:r>
            <a:r>
              <a:rPr lang="en-US" dirty="0"/>
              <a:t> </a:t>
            </a:r>
            <a:r>
              <a:rPr lang="en-US" dirty="0" err="1"/>
              <a:t>respecto</a:t>
            </a:r>
            <a:r>
              <a:rPr lang="en-US" dirty="0"/>
              <a:t> al </a:t>
            </a:r>
            <a:r>
              <a:rPr lang="en-US" dirty="0" err="1"/>
              <a:t>otro</a:t>
            </a:r>
            <a:r>
              <a:rPr lang="en-US" dirty="0"/>
              <a:t>, se </a:t>
            </a:r>
            <a:r>
              <a:rPr lang="en-US" dirty="0" err="1"/>
              <a:t>necesita</a:t>
            </a:r>
            <a:r>
              <a:rPr lang="en-US" dirty="0"/>
              <a:t> un </a:t>
            </a:r>
            <a:r>
              <a:rPr lang="en-US" dirty="0" err="1"/>
              <a:t>cambio</a:t>
            </a:r>
            <a:r>
              <a:rPr lang="en-US" dirty="0"/>
              <a:t> </a:t>
            </a:r>
            <a:r>
              <a:rPr lang="en-US" dirty="0" err="1"/>
              <a:t>menor</a:t>
            </a:r>
            <a:r>
              <a:rPr lang="en-US" dirty="0"/>
              <a:t> de </a:t>
            </a:r>
            <a:r>
              <a:rPr lang="en-US" dirty="0" err="1"/>
              <a:t>longitud</a:t>
            </a:r>
            <a:r>
              <a:rPr lang="en-US" dirty="0"/>
              <a:t>  de </a:t>
            </a:r>
            <a:r>
              <a:rPr lang="en-US" dirty="0" err="1"/>
              <a:t>onda</a:t>
            </a:r>
            <a:r>
              <a:rPr lang="en-US" dirty="0"/>
              <a:t> para </a:t>
            </a:r>
            <a:r>
              <a:rPr lang="en-US" dirty="0" err="1"/>
              <a:t>poder</a:t>
            </a:r>
            <a:r>
              <a:rPr lang="en-US" dirty="0"/>
              <a:t> </a:t>
            </a:r>
            <a:r>
              <a:rPr lang="en-US" dirty="0" err="1"/>
              <a:t>volver</a:t>
            </a:r>
            <a:r>
              <a:rPr lang="en-US" dirty="0"/>
              <a:t> a </a:t>
            </a:r>
            <a:r>
              <a:rPr lang="en-US" dirty="0" err="1"/>
              <a:t>cumplir</a:t>
            </a:r>
            <a:r>
              <a:rPr lang="en-US" dirty="0"/>
              <a:t> la </a:t>
            </a:r>
            <a:r>
              <a:rPr lang="en-US" dirty="0" err="1"/>
              <a:t>la</a:t>
            </a:r>
            <a:r>
              <a:rPr lang="en-US" dirty="0"/>
              <a:t> </a:t>
            </a:r>
            <a:r>
              <a:rPr lang="en-US" dirty="0" err="1"/>
              <a:t>condición</a:t>
            </a:r>
            <a:r>
              <a:rPr lang="en-US" dirty="0"/>
              <a:t> de </a:t>
            </a:r>
            <a:r>
              <a:rPr lang="en-US" dirty="0" err="1"/>
              <a:t>interferencia</a:t>
            </a:r>
            <a:r>
              <a:rPr lang="en-US" dirty="0"/>
              <a:t>. </a:t>
            </a:r>
            <a:r>
              <a:rPr lang="en-US" dirty="0" err="1"/>
              <a:t>Teniendo</a:t>
            </a:r>
            <a:r>
              <a:rPr lang="en-US" dirty="0"/>
              <a:t> </a:t>
            </a:r>
            <a:r>
              <a:rPr lang="en-US" dirty="0" err="1"/>
              <a:t>así</a:t>
            </a:r>
            <a:r>
              <a:rPr lang="en-US" dirty="0"/>
              <a:t> la </a:t>
            </a:r>
            <a:r>
              <a:rPr lang="en-US" dirty="0" err="1"/>
              <a:t>diferencia</a:t>
            </a:r>
            <a:r>
              <a:rPr lang="en-US" dirty="0"/>
              <a:t> de </a:t>
            </a:r>
            <a:r>
              <a:rPr lang="en-US" dirty="0" err="1"/>
              <a:t>longitud</a:t>
            </a:r>
            <a:r>
              <a:rPr lang="en-US" dirty="0"/>
              <a:t> </a:t>
            </a:r>
            <a:r>
              <a:rPr lang="en-US" dirty="0" err="1"/>
              <a:t>una</a:t>
            </a:r>
            <a:r>
              <a:rPr lang="en-US" dirty="0"/>
              <a:t> </a:t>
            </a:r>
            <a:r>
              <a:rPr lang="en-US" dirty="0" err="1"/>
              <a:t>relación</a:t>
            </a:r>
            <a:r>
              <a:rPr lang="en-US" dirty="0"/>
              <a:t> </a:t>
            </a:r>
            <a:r>
              <a:rPr lang="en-US" dirty="0" err="1"/>
              <a:t>inversamente</a:t>
            </a:r>
            <a:r>
              <a:rPr lang="en-US" dirty="0"/>
              <a:t> </a:t>
            </a:r>
            <a:r>
              <a:rPr lang="en-US" dirty="0" err="1"/>
              <a:t>proporcional</a:t>
            </a:r>
            <a:r>
              <a:rPr lang="en-US" dirty="0"/>
              <a:t> con </a:t>
            </a:r>
            <a:r>
              <a:rPr lang="en-US" dirty="0" err="1"/>
              <a:t>el</a:t>
            </a:r>
            <a:r>
              <a:rPr lang="en-US" dirty="0"/>
              <a:t> FSR.</a:t>
            </a:r>
            <a:endParaRPr lang="es-ES" dirty="0"/>
          </a:p>
        </p:txBody>
      </p:sp>
      <p:pic>
        <p:nvPicPr>
          <p:cNvPr id="13" name="Imagen 12">
            <a:extLst>
              <a:ext uri="{FF2B5EF4-FFF2-40B4-BE49-F238E27FC236}">
                <a16:creationId xmlns:a16="http://schemas.microsoft.com/office/drawing/2014/main" id="{798BD986-E9BD-2BFF-72B2-0E1074FDBEA9}"/>
              </a:ext>
            </a:extLst>
          </p:cNvPr>
          <p:cNvPicPr>
            <a:picLocks noChangeAspect="1"/>
          </p:cNvPicPr>
          <p:nvPr/>
        </p:nvPicPr>
        <p:blipFill>
          <a:blip r:embed="rId6"/>
          <a:srcRect t="4185"/>
          <a:stretch>
            <a:fillRect/>
          </a:stretch>
        </p:blipFill>
        <p:spPr>
          <a:xfrm>
            <a:off x="4991235" y="5626060"/>
            <a:ext cx="4191925" cy="923330"/>
          </a:xfrm>
          <a:prstGeom prst="rect">
            <a:avLst/>
          </a:prstGeom>
        </p:spPr>
      </p:pic>
    </p:spTree>
    <p:extLst>
      <p:ext uri="{BB962C8B-B14F-4D97-AF65-F5344CB8AC3E}">
        <p14:creationId xmlns:p14="http://schemas.microsoft.com/office/powerpoint/2010/main" val="765719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12</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Considering the n_{eff} values for the SOI cross-section, what would be the path difference (</a:t>
                </a:r>
                <a14:m>
                  <m:oMath xmlns:m="http://schemas.openxmlformats.org/officeDocument/2006/math">
                    <m:r>
                      <m:rPr>
                        <m:sty m:val="p"/>
                      </m:rPr>
                      <a:rPr lang="es-ES" sz="2000" b="0" i="0" smtClean="0">
                        <a:latin typeface="Cambria Math" panose="02040503050406030204" pitchFamily="18" charset="0"/>
                      </a:rPr>
                      <m:t>ΔL</m:t>
                    </m:r>
                    <m:r>
                      <a:rPr lang="es-ES" sz="2000" b="0" i="1" smtClean="0">
                        <a:latin typeface="Cambria Math" panose="02040503050406030204" pitchFamily="18" charset="0"/>
                      </a:rPr>
                      <m:t>= </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𝑢</m:t>
                        </m:r>
                      </m:sub>
                    </m:sSub>
                    <m:r>
                      <a:rPr lang="es-ES" sz="2000" b="0" i="1" smtClean="0">
                        <a:latin typeface="Cambria Math" panose="02040503050406030204" pitchFamily="18" charset="0"/>
                      </a:rPr>
                      <m:t> −</m:t>
                    </m:r>
                    <m:sSub>
                      <m:sSubPr>
                        <m:ctrlPr>
                          <a:rPr lang="es-ES" sz="2000" i="1">
                            <a:latin typeface="Cambria Math" panose="02040503050406030204" pitchFamily="18" charset="0"/>
                          </a:rPr>
                        </m:ctrlPr>
                      </m:sSubPr>
                      <m:e>
                        <m:r>
                          <a:rPr lang="es-ES" sz="2000" b="0" i="1">
                            <a:latin typeface="Cambria Math" panose="02040503050406030204" pitchFamily="18" charset="0"/>
                          </a:rPr>
                          <m:t>𝐿</m:t>
                        </m:r>
                      </m:e>
                      <m:sub>
                        <m:r>
                          <a:rPr lang="es-ES" sz="2000" b="0" i="1" smtClean="0">
                            <a:latin typeface="Cambria Math" panose="02040503050406030204" pitchFamily="18" charset="0"/>
                          </a:rPr>
                          <m:t>𝑑</m:t>
                        </m:r>
                      </m:sub>
                    </m:sSub>
                  </m:oMath>
                </a14:m>
                <a:r>
                  <a:rPr lang="en-US" sz="2000" dirty="0"/>
                  <a:t>) needed to obtain a Free Spectral Range of 40 nm? Introduce the obtained value in the model to check the MZI response. </a:t>
                </a:r>
              </a:p>
              <a:p>
                <a:endParaRPr lang="en-US" sz="2000" dirty="0"/>
              </a:p>
              <a:p>
                <a:r>
                  <a:rPr lang="en-US" sz="2000" dirty="0"/>
                  <a:t>Hint: We assume 1550 nm as the central design wavelength (</a:t>
                </a:r>
                <a14:m>
                  <m:oMath xmlns:m="http://schemas.openxmlformats.org/officeDocument/2006/math">
                    <m:sSub>
                      <m:sSubPr>
                        <m:ctrlPr>
                          <a:rPr lang="es-ES" sz="2000" i="1" smtClean="0">
                            <a:latin typeface="Cambria Math" panose="02040503050406030204" pitchFamily="18" charset="0"/>
                          </a:rPr>
                        </m:ctrlPr>
                      </m:sSubPr>
                      <m:e>
                        <m:r>
                          <a:rPr lang="es-ES" sz="2000" i="1">
                            <a:latin typeface="Cambria Math" panose="02040503050406030204" pitchFamily="18" charset="0"/>
                          </a:rPr>
                          <m:t>𝜆</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oMath>
                </a14:m>
                <a:r>
                  <a:rPr lang="en-US" sz="2000"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6"/>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CFDBBA6B-3646-055F-7A9C-EE01830137BE}"/>
              </a:ext>
            </a:extLst>
          </p:cNvPr>
          <p:cNvSpPr txBox="1"/>
          <p:nvPr/>
        </p:nvSpPr>
        <p:spPr>
          <a:xfrm>
            <a:off x="609441" y="4860334"/>
            <a:ext cx="11199971" cy="2769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El </a:t>
            </a:r>
            <a:r>
              <a:rPr lang="en-US" sz="1200" dirty="0" err="1">
                <a:latin typeface="Arial" panose="020B0604020202020204" pitchFamily="34" charset="0"/>
                <a:cs typeface="Arial" panose="020B0604020202020204" pitchFamily="34" charset="0"/>
              </a:rPr>
              <a:t>código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utilizado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obtener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necesaria</a:t>
            </a:r>
            <a:r>
              <a:rPr lang="en-US" sz="1200" dirty="0">
                <a:latin typeface="Arial" panose="020B0604020202020204" pitchFamily="34" charset="0"/>
                <a:cs typeface="Arial" panose="020B0604020202020204" pitchFamily="34" charset="0"/>
              </a:rPr>
              <a:t> entre la longitude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brazos</a:t>
            </a:r>
            <a:r>
              <a:rPr lang="en-US" sz="1200" dirty="0">
                <a:latin typeface="Arial" panose="020B0604020202020204" pitchFamily="34" charset="0"/>
                <a:cs typeface="Arial" panose="020B0604020202020204" pitchFamily="34" charset="0"/>
              </a:rPr>
              <a:t> se documenta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siguiente</a:t>
            </a:r>
            <a:r>
              <a:rPr lang="en-US" sz="1200" dirty="0">
                <a:latin typeface="Arial" panose="020B0604020202020204" pitchFamily="34" charset="0"/>
                <a:cs typeface="Arial" panose="020B0604020202020204" pitchFamily="34" charset="0"/>
              </a:rPr>
              <a:t> diapositive.</a:t>
            </a:r>
          </a:p>
        </p:txBody>
      </p:sp>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a:extLst>
              <a:ext uri="{FF2B5EF4-FFF2-40B4-BE49-F238E27FC236}">
                <a16:creationId xmlns:a16="http://schemas.microsoft.com/office/drawing/2014/main" id="{BA0FF788-D503-8A48-324E-194EACDC4CEA}"/>
              </a:ext>
            </a:extLst>
          </p:cNvPr>
          <p:cNvPicPr>
            <a:picLocks noChangeAspect="1"/>
          </p:cNvPicPr>
          <p:nvPr/>
        </p:nvPicPr>
        <p:blipFill>
          <a:blip r:embed="rId7"/>
          <a:stretch>
            <a:fillRect/>
          </a:stretch>
        </p:blipFill>
        <p:spPr>
          <a:xfrm>
            <a:off x="608012" y="2881236"/>
            <a:ext cx="4601217" cy="1095528"/>
          </a:xfrm>
          <a:prstGeom prst="rect">
            <a:avLst/>
          </a:prstGeom>
        </p:spPr>
      </p:pic>
    </p:spTree>
    <p:extLst>
      <p:ext uri="{BB962C8B-B14F-4D97-AF65-F5344CB8AC3E}">
        <p14:creationId xmlns:p14="http://schemas.microsoft.com/office/powerpoint/2010/main" val="2337098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65022-9267-C09A-CA56-A9CD4AE85C2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CB055C97-4603-B7D4-D7A4-5AB75086373D}"/>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CB055C97-4603-B7D4-D7A4-5AB75086373D}"/>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4D5CA0D8-6E27-790D-8703-F0FE3ADE225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15ADED3-4D5C-4ECF-1DB8-7F9FFAEC04B7}"/>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5" name="Marcador de pie de página 2">
            <a:extLst>
              <a:ext uri="{FF2B5EF4-FFF2-40B4-BE49-F238E27FC236}">
                <a16:creationId xmlns:a16="http://schemas.microsoft.com/office/drawing/2014/main" id="{0386C3B5-55EE-D25A-520E-FC6CA2184439}"/>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
        <p:nvSpPr>
          <p:cNvPr id="7" name="CuadroTexto 6">
            <a:extLst>
              <a:ext uri="{FF2B5EF4-FFF2-40B4-BE49-F238E27FC236}">
                <a16:creationId xmlns:a16="http://schemas.microsoft.com/office/drawing/2014/main" id="{EDABCF87-FDB5-99F6-97E9-C08120FEA779}"/>
              </a:ext>
            </a:extLst>
          </p:cNvPr>
          <p:cNvSpPr txBox="1"/>
          <p:nvPr/>
        </p:nvSpPr>
        <p:spPr>
          <a:xfrm>
            <a:off x="797612" y="685800"/>
            <a:ext cx="11165787" cy="5492914"/>
          </a:xfrm>
          <a:prstGeom prst="rect">
            <a:avLst/>
          </a:prstGeom>
          <a:noFill/>
        </p:spPr>
        <p:txBody>
          <a:bodyPr wrap="square">
            <a:spAutoFit/>
          </a:bodyPr>
          <a:lstStyle/>
          <a:p>
            <a:pPr>
              <a:lnSpc>
                <a:spcPts val="1425"/>
              </a:lnSpc>
              <a:buNone/>
            </a:pPr>
            <a:br>
              <a:rPr lang="es-ES" b="0" dirty="0">
                <a:solidFill>
                  <a:srgbClr val="CCCCCC"/>
                </a:solidFill>
                <a:effectLst/>
                <a:latin typeface="Consolas" panose="020B0609020204030204" pitchFamily="49" charset="0"/>
              </a:rPr>
            </a:br>
            <a:endParaRPr lang="es-ES" b="0" dirty="0">
              <a:solidFill>
                <a:srgbClr val="CCCCCC"/>
              </a:solidFill>
              <a:effectLst/>
              <a:latin typeface="Consolas" panose="020B0609020204030204" pitchFamily="49" charset="0"/>
            </a:endParaRPr>
          </a:p>
          <a:p>
            <a:pPr>
              <a:lnSpc>
                <a:spcPts val="1425"/>
              </a:lnSpc>
              <a:buNone/>
            </a:pPr>
            <a:r>
              <a:rPr lang="es-ES" b="0" dirty="0">
                <a:solidFill>
                  <a:srgbClr val="4FC1FF"/>
                </a:solidFill>
                <a:effectLst/>
                <a:latin typeface="Consolas" panose="020B0609020204030204" pitchFamily="49" charset="0"/>
              </a:rPr>
              <a:t>SOI</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err="1">
                <a:solidFill>
                  <a:srgbClr val="4EC9B0"/>
                </a:solidFill>
                <a:effectLst/>
                <a:latin typeface="Consolas" panose="020B0609020204030204" pitchFamily="49" charset="0"/>
              </a:rPr>
              <a:t>np</a:t>
            </a:r>
            <a:r>
              <a:rPr lang="es-ES" b="0" dirty="0" err="1">
                <a:solidFill>
                  <a:srgbClr val="CCCCCC"/>
                </a:solidFill>
                <a:effectLst/>
                <a:latin typeface="Consolas" panose="020B0609020204030204" pitchFamily="49" charset="0"/>
              </a:rPr>
              <a:t>.</a:t>
            </a:r>
            <a:r>
              <a:rPr lang="es-ES" b="0" dirty="0" err="1">
                <a:solidFill>
                  <a:srgbClr val="DCDCAA"/>
                </a:solidFill>
                <a:effectLst/>
                <a:latin typeface="Consolas" panose="020B0609020204030204" pitchFamily="49" charset="0"/>
              </a:rPr>
              <a:t>loadtxt</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'SOI-w450-h220-clad600.txt'</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skiprows</a:t>
            </a:r>
            <a:r>
              <a:rPr lang="es-ES" b="0" dirty="0">
                <a:solidFill>
                  <a:srgbClr val="D4D4D4"/>
                </a:solidFill>
                <a:effectLst/>
                <a:latin typeface="Consolas" panose="020B0609020204030204" pitchFamily="49" charset="0"/>
              </a:rPr>
              <a:t>=</a:t>
            </a:r>
            <a:r>
              <a:rPr lang="es-ES" b="0" dirty="0">
                <a:solidFill>
                  <a:srgbClr val="B5CEA8"/>
                </a:solidFill>
                <a:effectLst/>
                <a:latin typeface="Consolas" panose="020B0609020204030204" pitchFamily="49" charset="0"/>
              </a:rPr>
              <a:t>1</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delimiter</a:t>
            </a:r>
            <a:r>
              <a:rPr lang="es-ES" b="0" dirty="0">
                <a:solidFill>
                  <a:srgbClr val="D4D4D4"/>
                </a:solidFill>
                <a:effectLst/>
                <a:latin typeface="Consolas" panose="020B0609020204030204" pitchFamily="49" charset="0"/>
              </a:rPr>
              <a:t>=</a:t>
            </a:r>
            <a:r>
              <a:rPr lang="es-ES" b="0" dirty="0">
                <a:solidFill>
                  <a:srgbClr val="CE9178"/>
                </a:solidFill>
                <a:effectLst/>
                <a:latin typeface="Consolas" panose="020B0609020204030204" pitchFamily="49" charset="0"/>
              </a:rPr>
              <a:t>'</a:t>
            </a:r>
            <a:r>
              <a:rPr lang="es-ES" b="0" dirty="0">
                <a:solidFill>
                  <a:srgbClr val="D7BA7D"/>
                </a:solidFill>
                <a:effectLst/>
                <a:latin typeface="Consolas" panose="020B0609020204030204" pitchFamily="49" charset="0"/>
              </a:rPr>
              <a:t>\t</a:t>
            </a:r>
            <a:r>
              <a:rPr lang="es-ES" b="0" dirty="0">
                <a:solidFill>
                  <a:srgbClr val="CE9178"/>
                </a:solidFill>
                <a:effectLst/>
                <a:latin typeface="Consolas" panose="020B0609020204030204" pitchFamily="49" charset="0"/>
              </a:rPr>
              <a:t>'</a:t>
            </a:r>
            <a:r>
              <a:rPr lang="es-ES" b="0" dirty="0">
                <a:solidFill>
                  <a:srgbClr val="CCCCCC"/>
                </a:solidFill>
                <a:effectLst/>
                <a:latin typeface="Consolas" panose="020B0609020204030204" pitchFamily="49" charset="0"/>
              </a:rPr>
              <a:t>)</a:t>
            </a:r>
          </a:p>
          <a:p>
            <a:pPr>
              <a:lnSpc>
                <a:spcPts val="1425"/>
              </a:lnSpc>
              <a:buNone/>
            </a:pPr>
            <a:r>
              <a:rPr lang="es-ES" b="0" dirty="0" err="1">
                <a:solidFill>
                  <a:srgbClr val="9CDCFE"/>
                </a:solidFill>
                <a:effectLst/>
                <a:latin typeface="Consolas" panose="020B0609020204030204" pitchFamily="49" charset="0"/>
              </a:rPr>
              <a:t>wvl</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a:solidFill>
                  <a:srgbClr val="4FC1FF"/>
                </a:solidFill>
                <a:effectLst/>
                <a:latin typeface="Consolas" panose="020B0609020204030204" pitchFamily="49" charset="0"/>
              </a:rPr>
              <a:t>SOI</a:t>
            </a:r>
            <a:r>
              <a:rPr lang="es-ES" b="0" dirty="0">
                <a:solidFill>
                  <a:srgbClr val="CCCCCC"/>
                </a:solidFill>
                <a:effectLst/>
                <a:latin typeface="Consolas" panose="020B0609020204030204" pitchFamily="49" charset="0"/>
              </a:rPr>
              <a:t>[:,</a:t>
            </a:r>
            <a:r>
              <a:rPr lang="es-ES" b="0" dirty="0">
                <a:solidFill>
                  <a:srgbClr val="B5CEA8"/>
                </a:solidFill>
                <a:effectLst/>
                <a:latin typeface="Consolas" panose="020B0609020204030204" pitchFamily="49" charset="0"/>
              </a:rPr>
              <a:t>0</a:t>
            </a:r>
            <a:r>
              <a:rPr lang="es-ES" b="0" dirty="0">
                <a:solidFill>
                  <a:srgbClr val="CCCCCC"/>
                </a:solidFill>
                <a:effectLst/>
                <a:latin typeface="Consolas" panose="020B0609020204030204" pitchFamily="49" charset="0"/>
              </a:rPr>
              <a:t>]       </a:t>
            </a:r>
          </a:p>
          <a:p>
            <a:pPr>
              <a:lnSpc>
                <a:spcPts val="1425"/>
              </a:lnSpc>
              <a:buNone/>
            </a:pPr>
            <a:r>
              <a:rPr lang="es-ES" b="0" dirty="0" err="1">
                <a:solidFill>
                  <a:srgbClr val="9CDCFE"/>
                </a:solidFill>
                <a:effectLst/>
                <a:latin typeface="Consolas" panose="020B0609020204030204" pitchFamily="49" charset="0"/>
              </a:rPr>
              <a:t>neff</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a:solidFill>
                  <a:srgbClr val="4FC1FF"/>
                </a:solidFill>
                <a:effectLst/>
                <a:latin typeface="Consolas" panose="020B0609020204030204" pitchFamily="49" charset="0"/>
              </a:rPr>
              <a:t>SOI</a:t>
            </a:r>
            <a:r>
              <a:rPr lang="es-ES" b="0" dirty="0">
                <a:solidFill>
                  <a:srgbClr val="CCCCCC"/>
                </a:solidFill>
                <a:effectLst/>
                <a:latin typeface="Consolas" panose="020B0609020204030204" pitchFamily="49" charset="0"/>
              </a:rPr>
              <a:t>[:,</a:t>
            </a:r>
            <a:r>
              <a:rPr lang="es-ES" b="0" dirty="0">
                <a:solidFill>
                  <a:srgbClr val="B5CEA8"/>
                </a:solidFill>
                <a:effectLst/>
                <a:latin typeface="Consolas" panose="020B0609020204030204" pitchFamily="49" charset="0"/>
              </a:rPr>
              <a:t>3</a:t>
            </a:r>
            <a:r>
              <a:rPr lang="es-ES" b="0" dirty="0">
                <a:solidFill>
                  <a:srgbClr val="CCCCCC"/>
                </a:solidFill>
                <a:effectLst/>
                <a:latin typeface="Consolas" panose="020B0609020204030204" pitchFamily="49" charset="0"/>
              </a:rPr>
              <a:t>]       </a:t>
            </a:r>
          </a:p>
          <a:p>
            <a:pPr>
              <a:lnSpc>
                <a:spcPts val="1425"/>
              </a:lnSpc>
              <a:buNone/>
            </a:pPr>
            <a:endParaRPr lang="es-ES" b="0" dirty="0">
              <a:solidFill>
                <a:srgbClr val="CCCCCC"/>
              </a:solidFill>
              <a:effectLst/>
              <a:latin typeface="Consolas" panose="020B0609020204030204" pitchFamily="49" charset="0"/>
            </a:endParaRPr>
          </a:p>
          <a:p>
            <a:pPr>
              <a:lnSpc>
                <a:spcPts val="1425"/>
              </a:lnSpc>
              <a:buNone/>
            </a:pPr>
            <a:r>
              <a:rPr lang="es-ES" b="0" dirty="0">
                <a:solidFill>
                  <a:srgbClr val="6A9955"/>
                </a:solidFill>
                <a:effectLst/>
                <a:latin typeface="Consolas" panose="020B0609020204030204" pitchFamily="49" charset="0"/>
              </a:rPr>
              <a:t>#calculamos el </a:t>
            </a:r>
            <a:r>
              <a:rPr lang="es-ES" b="0" dirty="0" err="1">
                <a:solidFill>
                  <a:srgbClr val="6A9955"/>
                </a:solidFill>
                <a:effectLst/>
                <a:latin typeface="Consolas" panose="020B0609020204030204" pitchFamily="49" charset="0"/>
              </a:rPr>
              <a:t>indice</a:t>
            </a:r>
            <a:r>
              <a:rPr lang="es-ES" b="0" dirty="0">
                <a:solidFill>
                  <a:srgbClr val="6A9955"/>
                </a:solidFill>
                <a:effectLst/>
                <a:latin typeface="Consolas" panose="020B0609020204030204" pitchFamily="49" charset="0"/>
              </a:rPr>
              <a:t> efectivo</a:t>
            </a:r>
            <a:endParaRPr lang="es-ES" b="0" dirty="0">
              <a:solidFill>
                <a:srgbClr val="CCCCCC"/>
              </a:solidFill>
              <a:effectLst/>
              <a:latin typeface="Consolas" panose="020B0609020204030204" pitchFamily="49" charset="0"/>
            </a:endParaRPr>
          </a:p>
          <a:p>
            <a:pPr>
              <a:lnSpc>
                <a:spcPts val="1425"/>
              </a:lnSpc>
              <a:buNone/>
            </a:pPr>
            <a:r>
              <a:rPr lang="es-ES" b="0" dirty="0" err="1">
                <a:solidFill>
                  <a:srgbClr val="9CDCFE"/>
                </a:solidFill>
                <a:effectLst/>
                <a:latin typeface="Consolas" panose="020B0609020204030204" pitchFamily="49" charset="0"/>
              </a:rPr>
              <a:t>dn_dlambda</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err="1">
                <a:solidFill>
                  <a:srgbClr val="4EC9B0"/>
                </a:solidFill>
                <a:effectLst/>
                <a:latin typeface="Consolas" panose="020B0609020204030204" pitchFamily="49" charset="0"/>
              </a:rPr>
              <a:t>np</a:t>
            </a:r>
            <a:r>
              <a:rPr lang="es-ES" b="0" dirty="0" err="1">
                <a:solidFill>
                  <a:srgbClr val="CCCCCC"/>
                </a:solidFill>
                <a:effectLst/>
                <a:latin typeface="Consolas" panose="020B0609020204030204" pitchFamily="49" charset="0"/>
              </a:rPr>
              <a:t>.</a:t>
            </a:r>
            <a:r>
              <a:rPr lang="es-ES" b="0" dirty="0" err="1">
                <a:solidFill>
                  <a:srgbClr val="DCDCAA"/>
                </a:solidFill>
                <a:effectLst/>
                <a:latin typeface="Consolas" panose="020B0609020204030204" pitchFamily="49" charset="0"/>
              </a:rPr>
              <a:t>gradient</a:t>
            </a:r>
            <a:r>
              <a:rPr lang="es-ES" b="0" dirty="0">
                <a:solidFill>
                  <a:srgbClr val="CCCCCC"/>
                </a:solidFill>
                <a:effectLst/>
                <a:latin typeface="Consolas" panose="020B0609020204030204" pitchFamily="49" charset="0"/>
              </a:rPr>
              <a:t>(</a:t>
            </a:r>
            <a:r>
              <a:rPr lang="es-ES" b="0" dirty="0" err="1">
                <a:solidFill>
                  <a:srgbClr val="9CDCFE"/>
                </a:solidFill>
                <a:effectLst/>
                <a:latin typeface="Consolas" panose="020B0609020204030204" pitchFamily="49" charset="0"/>
              </a:rPr>
              <a:t>neff</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wvl</a:t>
            </a:r>
            <a:r>
              <a:rPr lang="es-ES" b="0" dirty="0">
                <a:solidFill>
                  <a:srgbClr val="CCCCCC"/>
                </a:solidFill>
                <a:effectLst/>
                <a:latin typeface="Consolas" panose="020B0609020204030204" pitchFamily="49" charset="0"/>
              </a:rPr>
              <a:t>)</a:t>
            </a:r>
          </a:p>
          <a:p>
            <a:pPr>
              <a:lnSpc>
                <a:spcPts val="1425"/>
              </a:lnSpc>
              <a:buNone/>
            </a:pPr>
            <a:r>
              <a:rPr lang="es-ES" b="0" dirty="0">
                <a:solidFill>
                  <a:srgbClr val="9CDCFE"/>
                </a:solidFill>
                <a:effectLst/>
                <a:latin typeface="Consolas" panose="020B0609020204030204" pitchFamily="49" charset="0"/>
              </a:rPr>
              <a:t>ng</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neff</a:t>
            </a:r>
            <a:r>
              <a:rPr lang="es-ES" b="0" dirty="0">
                <a:solidFill>
                  <a:srgbClr val="CCCCCC"/>
                </a:solidFill>
                <a:effectLst/>
                <a:latin typeface="Consolas" panose="020B0609020204030204" pitchFamily="49" charset="0"/>
              </a:rPr>
              <a:t> </a:t>
            </a:r>
            <a:r>
              <a:rPr lang="es-ES" b="0" dirty="0">
                <a:solidFill>
                  <a:srgbClr val="DCDCAA"/>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wvl</a:t>
            </a:r>
            <a:r>
              <a:rPr lang="es-ES" b="0" dirty="0">
                <a:solidFill>
                  <a:srgbClr val="CCCCCC"/>
                </a:solidFill>
                <a:effectLst/>
                <a:latin typeface="Consolas" panose="020B0609020204030204" pitchFamily="49" charset="0"/>
              </a:rPr>
              <a:t> </a:t>
            </a:r>
            <a:r>
              <a:rPr lang="es-ES" b="0" dirty="0">
                <a:solidFill>
                  <a:srgbClr val="DCDCAA"/>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dn_dlambda</a:t>
            </a:r>
            <a:endParaRPr lang="es-ES" b="0" dirty="0">
              <a:solidFill>
                <a:srgbClr val="CCCCCC"/>
              </a:solidFill>
              <a:effectLst/>
              <a:latin typeface="Consolas" panose="020B0609020204030204" pitchFamily="49" charset="0"/>
            </a:endParaRPr>
          </a:p>
          <a:p>
            <a:pPr>
              <a:lnSpc>
                <a:spcPts val="1425"/>
              </a:lnSpc>
              <a:buNone/>
            </a:pPr>
            <a:br>
              <a:rPr lang="es-ES" b="0" dirty="0">
                <a:solidFill>
                  <a:srgbClr val="CCCCCC"/>
                </a:solidFill>
                <a:effectLst/>
                <a:latin typeface="Consolas" panose="020B0609020204030204" pitchFamily="49" charset="0"/>
              </a:rPr>
            </a:br>
            <a:endParaRPr lang="es-ES" b="0" dirty="0">
              <a:solidFill>
                <a:srgbClr val="CCCCCC"/>
              </a:solidFill>
              <a:effectLst/>
              <a:latin typeface="Consolas" panose="020B0609020204030204" pitchFamily="49" charset="0"/>
            </a:endParaRPr>
          </a:p>
          <a:p>
            <a:pPr>
              <a:lnSpc>
                <a:spcPts val="1425"/>
              </a:lnSpc>
              <a:buNone/>
            </a:pPr>
            <a:r>
              <a:rPr lang="es-ES" b="0" dirty="0">
                <a:solidFill>
                  <a:srgbClr val="9CDCFE"/>
                </a:solidFill>
                <a:effectLst/>
                <a:latin typeface="Consolas" panose="020B0609020204030204" pitchFamily="49" charset="0"/>
              </a:rPr>
              <a:t>lambda0</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a:solidFill>
                  <a:srgbClr val="B5CEA8"/>
                </a:solidFill>
                <a:effectLst/>
                <a:latin typeface="Consolas" panose="020B0609020204030204" pitchFamily="49" charset="0"/>
              </a:rPr>
              <a:t>1.55</a:t>
            </a:r>
            <a:r>
              <a:rPr lang="es-ES" b="0" dirty="0">
                <a:solidFill>
                  <a:srgbClr val="CCCCCC"/>
                </a:solidFill>
                <a:effectLst/>
                <a:latin typeface="Consolas" panose="020B0609020204030204" pitchFamily="49" charset="0"/>
              </a:rPr>
              <a:t> </a:t>
            </a:r>
          </a:p>
          <a:p>
            <a:pPr>
              <a:lnSpc>
                <a:spcPts val="1425"/>
              </a:lnSpc>
              <a:buNone/>
            </a:pPr>
            <a:br>
              <a:rPr lang="es-ES" b="0" dirty="0">
                <a:solidFill>
                  <a:srgbClr val="CCCCCC"/>
                </a:solidFill>
                <a:effectLst/>
                <a:latin typeface="Consolas" panose="020B0609020204030204" pitchFamily="49" charset="0"/>
              </a:rPr>
            </a:br>
            <a:endParaRPr lang="es-ES" b="0" dirty="0">
              <a:solidFill>
                <a:srgbClr val="CCCCCC"/>
              </a:solidFill>
              <a:effectLst/>
              <a:latin typeface="Consolas" panose="020B0609020204030204" pitchFamily="49" charset="0"/>
            </a:endParaRPr>
          </a:p>
          <a:p>
            <a:pPr>
              <a:lnSpc>
                <a:spcPts val="1425"/>
              </a:lnSpc>
              <a:buNone/>
            </a:pPr>
            <a:r>
              <a:rPr lang="es-ES" b="0" dirty="0" err="1">
                <a:solidFill>
                  <a:srgbClr val="9CDCFE"/>
                </a:solidFill>
                <a:effectLst/>
                <a:latin typeface="Consolas" panose="020B0609020204030204" pitchFamily="49" charset="0"/>
              </a:rPr>
              <a:t>idx</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err="1">
                <a:solidFill>
                  <a:srgbClr val="4EC9B0"/>
                </a:solidFill>
                <a:effectLst/>
                <a:latin typeface="Consolas" panose="020B0609020204030204" pitchFamily="49" charset="0"/>
              </a:rPr>
              <a:t>np</a:t>
            </a:r>
            <a:r>
              <a:rPr lang="es-ES" b="0" dirty="0" err="1">
                <a:solidFill>
                  <a:srgbClr val="CCCCCC"/>
                </a:solidFill>
                <a:effectLst/>
                <a:latin typeface="Consolas" panose="020B0609020204030204" pitchFamily="49" charset="0"/>
              </a:rPr>
              <a:t>.</a:t>
            </a:r>
            <a:r>
              <a:rPr lang="es-ES" b="0" dirty="0" err="1">
                <a:solidFill>
                  <a:srgbClr val="DCDCAA"/>
                </a:solidFill>
                <a:effectLst/>
                <a:latin typeface="Consolas" panose="020B0609020204030204" pitchFamily="49" charset="0"/>
              </a:rPr>
              <a:t>argmin</a:t>
            </a:r>
            <a:r>
              <a:rPr lang="es-ES" b="0" dirty="0">
                <a:solidFill>
                  <a:srgbClr val="CCCCCC"/>
                </a:solidFill>
                <a:effectLst/>
                <a:latin typeface="Consolas" panose="020B0609020204030204" pitchFamily="49" charset="0"/>
              </a:rPr>
              <a:t>(</a:t>
            </a:r>
            <a:r>
              <a:rPr lang="es-ES" b="0" dirty="0" err="1">
                <a:solidFill>
                  <a:srgbClr val="4EC9B0"/>
                </a:solidFill>
                <a:effectLst/>
                <a:latin typeface="Consolas" panose="020B0609020204030204" pitchFamily="49" charset="0"/>
              </a:rPr>
              <a:t>np</a:t>
            </a:r>
            <a:r>
              <a:rPr lang="es-ES" b="0" dirty="0" err="1">
                <a:solidFill>
                  <a:srgbClr val="CCCCCC"/>
                </a:solidFill>
                <a:effectLst/>
                <a:latin typeface="Consolas" panose="020B0609020204030204" pitchFamily="49" charset="0"/>
              </a:rPr>
              <a:t>.</a:t>
            </a:r>
            <a:r>
              <a:rPr lang="es-ES" b="0" dirty="0" err="1">
                <a:solidFill>
                  <a:srgbClr val="9CDCFE"/>
                </a:solidFill>
                <a:effectLst/>
                <a:latin typeface="Consolas" panose="020B0609020204030204" pitchFamily="49" charset="0"/>
              </a:rPr>
              <a:t>abs</a:t>
            </a:r>
            <a:r>
              <a:rPr lang="es-ES" b="0" dirty="0">
                <a:solidFill>
                  <a:srgbClr val="CCCCCC"/>
                </a:solidFill>
                <a:effectLst/>
                <a:latin typeface="Consolas" panose="020B0609020204030204" pitchFamily="49" charset="0"/>
              </a:rPr>
              <a:t>(</a:t>
            </a:r>
            <a:r>
              <a:rPr lang="es-ES" b="0" dirty="0" err="1">
                <a:solidFill>
                  <a:srgbClr val="9CDCFE"/>
                </a:solidFill>
                <a:effectLst/>
                <a:latin typeface="Consolas" panose="020B0609020204030204" pitchFamily="49" charset="0"/>
              </a:rPr>
              <a:t>wvl</a:t>
            </a:r>
            <a:r>
              <a:rPr lang="es-ES" b="0" dirty="0">
                <a:solidFill>
                  <a:srgbClr val="CCCCCC"/>
                </a:solidFill>
                <a:effectLst/>
                <a:latin typeface="Consolas" panose="020B0609020204030204" pitchFamily="49" charset="0"/>
              </a:rPr>
              <a:t> </a:t>
            </a:r>
            <a:r>
              <a:rPr lang="es-ES" b="0" dirty="0">
                <a:solidFill>
                  <a:srgbClr val="DCDCAA"/>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a:solidFill>
                  <a:srgbClr val="9CDCFE"/>
                </a:solidFill>
                <a:effectLst/>
                <a:latin typeface="Consolas" panose="020B0609020204030204" pitchFamily="49" charset="0"/>
              </a:rPr>
              <a:t>lambda0</a:t>
            </a:r>
            <a:r>
              <a:rPr lang="es-ES" b="0" dirty="0">
                <a:solidFill>
                  <a:srgbClr val="CCCCCC"/>
                </a:solidFill>
                <a:effectLst/>
                <a:latin typeface="Consolas" panose="020B0609020204030204" pitchFamily="49" charset="0"/>
              </a:rPr>
              <a:t>))</a:t>
            </a:r>
          </a:p>
          <a:p>
            <a:pPr>
              <a:lnSpc>
                <a:spcPts val="1425"/>
              </a:lnSpc>
              <a:buNone/>
            </a:pPr>
            <a:br>
              <a:rPr lang="es-ES" b="0" dirty="0">
                <a:solidFill>
                  <a:srgbClr val="CCCCCC"/>
                </a:solidFill>
                <a:effectLst/>
                <a:latin typeface="Consolas" panose="020B0609020204030204" pitchFamily="49" charset="0"/>
              </a:rPr>
            </a:br>
            <a:endParaRPr lang="es-ES" b="0" dirty="0">
              <a:solidFill>
                <a:srgbClr val="CCCCCC"/>
              </a:solidFill>
              <a:effectLst/>
              <a:latin typeface="Consolas" panose="020B0609020204030204" pitchFamily="49" charset="0"/>
            </a:endParaRPr>
          </a:p>
          <a:p>
            <a:pPr>
              <a:lnSpc>
                <a:spcPts val="1425"/>
              </a:lnSpc>
              <a:buNone/>
            </a:pPr>
            <a:r>
              <a:rPr lang="es-ES" b="0" dirty="0">
                <a:solidFill>
                  <a:srgbClr val="9CDCFE"/>
                </a:solidFill>
                <a:effectLst/>
                <a:latin typeface="Consolas" panose="020B0609020204030204" pitchFamily="49" charset="0"/>
              </a:rPr>
              <a:t>ng0</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a:solidFill>
                  <a:srgbClr val="9CDCFE"/>
                </a:solidFill>
                <a:effectLst/>
                <a:latin typeface="Consolas" panose="020B0609020204030204" pitchFamily="49" charset="0"/>
              </a:rPr>
              <a:t>ng</a:t>
            </a:r>
            <a:r>
              <a:rPr lang="es-ES" b="0" dirty="0">
                <a:solidFill>
                  <a:srgbClr val="CCCCCC"/>
                </a:solidFill>
                <a:effectLst/>
                <a:latin typeface="Consolas" panose="020B0609020204030204" pitchFamily="49" charset="0"/>
              </a:rPr>
              <a:t>[</a:t>
            </a:r>
            <a:r>
              <a:rPr lang="es-ES" b="0" dirty="0" err="1">
                <a:solidFill>
                  <a:srgbClr val="9CDCFE"/>
                </a:solidFill>
                <a:effectLst/>
                <a:latin typeface="Consolas" panose="020B0609020204030204" pitchFamily="49" charset="0"/>
              </a:rPr>
              <a:t>idx</a:t>
            </a:r>
            <a:r>
              <a:rPr lang="es-ES" b="0" dirty="0">
                <a:solidFill>
                  <a:srgbClr val="CCCCCC"/>
                </a:solidFill>
                <a:effectLst/>
                <a:latin typeface="Consolas" panose="020B0609020204030204" pitchFamily="49" charset="0"/>
              </a:rPr>
              <a:t>] </a:t>
            </a:r>
            <a:r>
              <a:rPr lang="es-ES" b="0" dirty="0">
                <a:solidFill>
                  <a:srgbClr val="6A9955"/>
                </a:solidFill>
                <a:effectLst/>
                <a:latin typeface="Consolas" panose="020B0609020204030204" pitchFamily="49" charset="0"/>
              </a:rPr>
              <a:t># para obtener la posición de la lambda central</a:t>
            </a:r>
            <a:endParaRPr lang="es-ES" b="0" dirty="0">
              <a:solidFill>
                <a:srgbClr val="CCCCCC"/>
              </a:solidFill>
              <a:effectLst/>
              <a:latin typeface="Consolas" panose="020B0609020204030204" pitchFamily="49" charset="0"/>
            </a:endParaRPr>
          </a:p>
          <a:p>
            <a:pPr>
              <a:lnSpc>
                <a:spcPts val="1425"/>
              </a:lnSpc>
              <a:buNone/>
            </a:pPr>
            <a:br>
              <a:rPr lang="es-ES" b="0" dirty="0">
                <a:solidFill>
                  <a:srgbClr val="CCCCCC"/>
                </a:solidFill>
                <a:effectLst/>
                <a:latin typeface="Consolas" panose="020B0609020204030204" pitchFamily="49" charset="0"/>
              </a:rPr>
            </a:br>
            <a:endParaRPr lang="es-ES" b="0" dirty="0">
              <a:solidFill>
                <a:srgbClr val="CCCCCC"/>
              </a:solidFill>
              <a:effectLst/>
              <a:latin typeface="Consolas" panose="020B0609020204030204" pitchFamily="49" charset="0"/>
            </a:endParaRPr>
          </a:p>
          <a:p>
            <a:pPr>
              <a:lnSpc>
                <a:spcPts val="1425"/>
              </a:lnSpc>
              <a:buNone/>
            </a:pPr>
            <a:r>
              <a:rPr lang="es-ES" b="0" dirty="0">
                <a:solidFill>
                  <a:srgbClr val="6A9955"/>
                </a:solidFill>
                <a:effectLst/>
                <a:latin typeface="Consolas" panose="020B0609020204030204" pitchFamily="49" charset="0"/>
              </a:rPr>
              <a:t># FSR de 40nm</a:t>
            </a:r>
            <a:endParaRPr lang="es-ES" b="0" dirty="0">
              <a:solidFill>
                <a:srgbClr val="CCCCCC"/>
              </a:solidFill>
              <a:effectLst/>
              <a:latin typeface="Consolas" panose="020B0609020204030204" pitchFamily="49" charset="0"/>
            </a:endParaRPr>
          </a:p>
          <a:p>
            <a:pPr>
              <a:lnSpc>
                <a:spcPts val="1425"/>
              </a:lnSpc>
              <a:buNone/>
            </a:pPr>
            <a:r>
              <a:rPr lang="es-ES" b="0" dirty="0">
                <a:solidFill>
                  <a:srgbClr val="4FC1FF"/>
                </a:solidFill>
                <a:effectLst/>
                <a:latin typeface="Consolas" panose="020B0609020204030204" pitchFamily="49" charset="0"/>
              </a:rPr>
              <a:t>FSR</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a:solidFill>
                  <a:srgbClr val="B5CEA8"/>
                </a:solidFill>
                <a:effectLst/>
                <a:latin typeface="Consolas" panose="020B0609020204030204" pitchFamily="49" charset="0"/>
              </a:rPr>
              <a:t>0.04</a:t>
            </a:r>
            <a:r>
              <a:rPr lang="es-ES" b="0" dirty="0">
                <a:solidFill>
                  <a:srgbClr val="CCCCCC"/>
                </a:solidFill>
                <a:effectLst/>
                <a:latin typeface="Consolas" panose="020B0609020204030204" pitchFamily="49" charset="0"/>
              </a:rPr>
              <a:t>   </a:t>
            </a:r>
          </a:p>
          <a:p>
            <a:pPr>
              <a:lnSpc>
                <a:spcPts val="1425"/>
              </a:lnSpc>
              <a:buNone/>
            </a:pPr>
            <a:br>
              <a:rPr lang="es-ES" b="0" dirty="0">
                <a:solidFill>
                  <a:srgbClr val="CCCCCC"/>
                </a:solidFill>
                <a:effectLst/>
                <a:latin typeface="Consolas" panose="020B0609020204030204" pitchFamily="49" charset="0"/>
              </a:rPr>
            </a:br>
            <a:endParaRPr lang="es-ES" b="0" dirty="0">
              <a:solidFill>
                <a:srgbClr val="CCCCCC"/>
              </a:solidFill>
              <a:effectLst/>
              <a:latin typeface="Consolas" panose="020B0609020204030204" pitchFamily="49" charset="0"/>
            </a:endParaRPr>
          </a:p>
          <a:p>
            <a:pPr>
              <a:lnSpc>
                <a:spcPts val="1425"/>
              </a:lnSpc>
              <a:buNone/>
            </a:pPr>
            <a:r>
              <a:rPr lang="es-ES" b="0" dirty="0">
                <a:solidFill>
                  <a:srgbClr val="6A9955"/>
                </a:solidFill>
                <a:effectLst/>
                <a:latin typeface="Consolas" panose="020B0609020204030204" pitchFamily="49" charset="0"/>
              </a:rPr>
              <a:t>#Calculamos la diferencia de longitud</a:t>
            </a:r>
            <a:endParaRPr lang="es-ES" b="0" dirty="0">
              <a:solidFill>
                <a:srgbClr val="CCCCCC"/>
              </a:solidFill>
              <a:effectLst/>
              <a:latin typeface="Consolas" panose="020B0609020204030204" pitchFamily="49" charset="0"/>
            </a:endParaRPr>
          </a:p>
          <a:p>
            <a:pPr>
              <a:lnSpc>
                <a:spcPts val="1425"/>
              </a:lnSpc>
              <a:buNone/>
            </a:pPr>
            <a:r>
              <a:rPr lang="es-ES" b="0" dirty="0" err="1">
                <a:solidFill>
                  <a:srgbClr val="9CDCFE"/>
                </a:solidFill>
                <a:effectLst/>
                <a:latin typeface="Consolas" panose="020B0609020204030204" pitchFamily="49" charset="0"/>
              </a:rPr>
              <a:t>DeltaL</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a:solidFill>
                  <a:srgbClr val="9CDCFE"/>
                </a:solidFill>
                <a:effectLst/>
                <a:latin typeface="Consolas" panose="020B0609020204030204" pitchFamily="49" charset="0"/>
              </a:rPr>
              <a:t>lambda0</a:t>
            </a:r>
            <a:r>
              <a:rPr lang="es-ES" b="0" dirty="0">
                <a:solidFill>
                  <a:srgbClr val="D4D4D4"/>
                </a:solidFill>
                <a:effectLst/>
                <a:latin typeface="Consolas" panose="020B0609020204030204" pitchFamily="49" charset="0"/>
              </a:rPr>
              <a:t>**</a:t>
            </a:r>
            <a:r>
              <a:rPr lang="es-ES" b="0" dirty="0">
                <a:solidFill>
                  <a:srgbClr val="B5CEA8"/>
                </a:solidFill>
                <a:effectLst/>
                <a:latin typeface="Consolas" panose="020B0609020204030204" pitchFamily="49" charset="0"/>
              </a:rPr>
              <a:t>2</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a:solidFill>
                  <a:srgbClr val="9CDCFE"/>
                </a:solidFill>
                <a:effectLst/>
                <a:latin typeface="Consolas" panose="020B0609020204030204" pitchFamily="49" charset="0"/>
              </a:rPr>
              <a:t>ng0</a:t>
            </a:r>
            <a:r>
              <a:rPr lang="es-ES" b="0" dirty="0">
                <a:solidFill>
                  <a:srgbClr val="CCCCCC"/>
                </a:solidFill>
                <a:effectLst/>
                <a:latin typeface="Consolas" panose="020B0609020204030204" pitchFamily="49" charset="0"/>
              </a:rPr>
              <a:t> </a:t>
            </a:r>
            <a:r>
              <a:rPr lang="es-ES" b="0" dirty="0">
                <a:solidFill>
                  <a:srgbClr val="D4D4D4"/>
                </a:solidFill>
                <a:effectLst/>
                <a:latin typeface="Consolas" panose="020B0609020204030204" pitchFamily="49" charset="0"/>
              </a:rPr>
              <a:t>*</a:t>
            </a:r>
            <a:r>
              <a:rPr lang="es-ES" b="0" dirty="0">
                <a:solidFill>
                  <a:srgbClr val="CCCCCC"/>
                </a:solidFill>
                <a:effectLst/>
                <a:latin typeface="Consolas" panose="020B0609020204030204" pitchFamily="49" charset="0"/>
              </a:rPr>
              <a:t> </a:t>
            </a:r>
            <a:r>
              <a:rPr lang="es-ES" b="0" dirty="0">
                <a:solidFill>
                  <a:srgbClr val="4FC1FF"/>
                </a:solidFill>
                <a:effectLst/>
                <a:latin typeface="Consolas" panose="020B0609020204030204" pitchFamily="49" charset="0"/>
              </a:rPr>
              <a:t>FSR</a:t>
            </a:r>
            <a:r>
              <a:rPr lang="es-ES" b="0" dirty="0">
                <a:solidFill>
                  <a:srgbClr val="CCCCCC"/>
                </a:solidFill>
                <a:effectLst/>
                <a:latin typeface="Consolas" panose="020B0609020204030204" pitchFamily="49" charset="0"/>
              </a:rPr>
              <a:t>)</a:t>
            </a:r>
          </a:p>
          <a:p>
            <a:pPr>
              <a:lnSpc>
                <a:spcPts val="1425"/>
              </a:lnSpc>
              <a:buNone/>
            </a:pPr>
            <a:br>
              <a:rPr lang="es-ES" b="0" dirty="0">
                <a:solidFill>
                  <a:srgbClr val="CCCCCC"/>
                </a:solidFill>
                <a:effectLst/>
                <a:latin typeface="Consolas" panose="020B0609020204030204" pitchFamily="49" charset="0"/>
              </a:rPr>
            </a:br>
            <a:endParaRPr lang="es-ES" b="0" dirty="0">
              <a:solidFill>
                <a:srgbClr val="CCCCCC"/>
              </a:solidFill>
              <a:effectLst/>
              <a:latin typeface="Consolas" panose="020B0609020204030204" pitchFamily="49" charset="0"/>
            </a:endParaRPr>
          </a:p>
          <a:p>
            <a:pPr>
              <a:lnSpc>
                <a:spcPts val="1425"/>
              </a:lnSpc>
              <a:buNone/>
            </a:pPr>
            <a:r>
              <a:rPr lang="es-ES" b="0" dirty="0" err="1">
                <a:solidFill>
                  <a:srgbClr val="DCDCAA"/>
                </a:solidFill>
                <a:effectLst/>
                <a:latin typeface="Consolas" panose="020B0609020204030204" pitchFamily="49" charset="0"/>
              </a:rPr>
              <a:t>print</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"índice de grupo="</a:t>
            </a:r>
            <a:r>
              <a:rPr lang="es-ES" b="0" dirty="0">
                <a:solidFill>
                  <a:srgbClr val="CCCCCC"/>
                </a:solidFill>
                <a:effectLst/>
                <a:latin typeface="Consolas" panose="020B0609020204030204" pitchFamily="49" charset="0"/>
              </a:rPr>
              <a:t>, </a:t>
            </a:r>
            <a:r>
              <a:rPr lang="es-ES" b="0" dirty="0">
                <a:solidFill>
                  <a:srgbClr val="9CDCFE"/>
                </a:solidFill>
                <a:effectLst/>
                <a:latin typeface="Consolas" panose="020B0609020204030204" pitchFamily="49" charset="0"/>
              </a:rPr>
              <a:t>ng0</a:t>
            </a:r>
            <a:r>
              <a:rPr lang="es-ES" b="0" dirty="0">
                <a:solidFill>
                  <a:srgbClr val="CCCCCC"/>
                </a:solidFill>
                <a:effectLst/>
                <a:latin typeface="Consolas" panose="020B0609020204030204" pitchFamily="49" charset="0"/>
              </a:rPr>
              <a:t>)</a:t>
            </a:r>
          </a:p>
          <a:p>
            <a:pPr>
              <a:lnSpc>
                <a:spcPts val="1425"/>
              </a:lnSpc>
              <a:buNone/>
            </a:pPr>
            <a:r>
              <a:rPr lang="es-ES" b="0" dirty="0" err="1">
                <a:solidFill>
                  <a:srgbClr val="DCDCAA"/>
                </a:solidFill>
                <a:effectLst/>
                <a:latin typeface="Consolas" panose="020B0609020204030204" pitchFamily="49" charset="0"/>
              </a:rPr>
              <a:t>print</a:t>
            </a:r>
            <a:r>
              <a:rPr lang="es-ES" b="0" dirty="0">
                <a:solidFill>
                  <a:srgbClr val="CCCCCC"/>
                </a:solidFill>
                <a:effectLst/>
                <a:latin typeface="Consolas" panose="020B0609020204030204" pitchFamily="49" charset="0"/>
              </a:rPr>
              <a:t>(</a:t>
            </a:r>
            <a:r>
              <a:rPr lang="es-ES" b="0" dirty="0">
                <a:solidFill>
                  <a:srgbClr val="CE9178"/>
                </a:solidFill>
                <a:effectLst/>
                <a:latin typeface="Consolas" panose="020B0609020204030204" pitchFamily="49" charset="0"/>
              </a:rPr>
              <a:t>"</a:t>
            </a:r>
            <a:r>
              <a:rPr lang="el-GR" b="0" dirty="0">
                <a:solidFill>
                  <a:srgbClr val="CE9178"/>
                </a:solidFill>
                <a:effectLst/>
                <a:latin typeface="Consolas" panose="020B0609020204030204" pitchFamily="49" charset="0"/>
              </a:rPr>
              <a:t>Δ</a:t>
            </a:r>
            <a:r>
              <a:rPr lang="es-ES" b="0" dirty="0">
                <a:solidFill>
                  <a:srgbClr val="CE9178"/>
                </a:solidFill>
                <a:effectLst/>
                <a:latin typeface="Consolas" panose="020B0609020204030204" pitchFamily="49" charset="0"/>
              </a:rPr>
              <a:t>L necesario ="</a:t>
            </a:r>
            <a:r>
              <a:rPr lang="es-ES" b="0" dirty="0">
                <a:solidFill>
                  <a:srgbClr val="CCCCCC"/>
                </a:solidFill>
                <a:effectLst/>
                <a:latin typeface="Consolas" panose="020B0609020204030204" pitchFamily="49" charset="0"/>
              </a:rPr>
              <a:t>, </a:t>
            </a:r>
            <a:r>
              <a:rPr lang="es-ES" b="0" dirty="0" err="1">
                <a:solidFill>
                  <a:srgbClr val="9CDCFE"/>
                </a:solidFill>
                <a:effectLst/>
                <a:latin typeface="Consolas" panose="020B0609020204030204" pitchFamily="49" charset="0"/>
              </a:rPr>
              <a:t>DeltaL</a:t>
            </a:r>
            <a:r>
              <a:rPr lang="es-ES" b="0" dirty="0">
                <a:solidFill>
                  <a:srgbClr val="CCCCCC"/>
                </a:solidFill>
                <a:effectLst/>
                <a:latin typeface="Consolas" panose="020B0609020204030204" pitchFamily="49" charset="0"/>
              </a:rPr>
              <a:t>, </a:t>
            </a:r>
            <a:r>
              <a:rPr lang="es-ES" b="0" dirty="0">
                <a:solidFill>
                  <a:srgbClr val="CE9178"/>
                </a:solidFill>
                <a:effectLst/>
                <a:latin typeface="Consolas" panose="020B0609020204030204" pitchFamily="49" charset="0"/>
              </a:rPr>
              <a:t>"</a:t>
            </a:r>
            <a:r>
              <a:rPr lang="es-ES" b="0" dirty="0" err="1">
                <a:solidFill>
                  <a:srgbClr val="CE9178"/>
                </a:solidFill>
                <a:effectLst/>
                <a:latin typeface="Consolas" panose="020B0609020204030204" pitchFamily="49" charset="0"/>
              </a:rPr>
              <a:t>um</a:t>
            </a:r>
            <a:r>
              <a:rPr lang="es-ES" b="0" dirty="0">
                <a:solidFill>
                  <a:srgbClr val="CE9178"/>
                </a:solidFill>
                <a:effectLst/>
                <a:latin typeface="Consolas" panose="020B0609020204030204" pitchFamily="49" charset="0"/>
              </a:rPr>
              <a:t>"</a:t>
            </a:r>
            <a:r>
              <a:rPr lang="es-E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091792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64055-CB79-500C-1328-398E95F3A79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87D03F16-1DEE-A1EA-554B-575697D2A0EB}"/>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87D03F16-1DEE-A1EA-554B-575697D2A0EB}"/>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0A8C38BD-7CAF-B1D3-4DC4-0DD98E781C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47EF6EA-BDDE-9EBC-1A75-5F585A01E118}"/>
              </a:ext>
            </a:extLst>
          </p:cNvPr>
          <p:cNvSpPr>
            <a:spLocks noGrp="1"/>
          </p:cNvSpPr>
          <p:nvPr>
            <p:ph type="sldNum" sz="quarter" idx="7"/>
          </p:nvPr>
        </p:nvSpPr>
        <p:spPr/>
        <p:txBody>
          <a:bodyPr/>
          <a:lstStyle/>
          <a:p>
            <a:fld id="{B6F15528-21DE-4FAA-801E-634DDDAF4B2B}" type="slidenum">
              <a:rPr lang="es-ES" smtClean="0"/>
              <a:t>14</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CE7CDC56-C049-9B02-E65B-B7CD89637FD6}"/>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Considering the n_{eff} values for the SOI cross-section, what would be the path difference (</a:t>
                </a:r>
                <a14:m>
                  <m:oMath xmlns:m="http://schemas.openxmlformats.org/officeDocument/2006/math">
                    <m:r>
                      <m:rPr>
                        <m:sty m:val="p"/>
                      </m:rPr>
                      <a:rPr lang="es-ES" sz="2000" b="0" i="0" smtClean="0">
                        <a:latin typeface="Cambria Math" panose="02040503050406030204" pitchFamily="18" charset="0"/>
                      </a:rPr>
                      <m:t>ΔL</m:t>
                    </m:r>
                    <m:r>
                      <a:rPr lang="es-ES" sz="2000" b="0" i="1" smtClean="0">
                        <a:latin typeface="Cambria Math" panose="02040503050406030204" pitchFamily="18" charset="0"/>
                      </a:rPr>
                      <m:t>= </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𝑢</m:t>
                        </m:r>
                      </m:sub>
                    </m:sSub>
                    <m:r>
                      <a:rPr lang="es-ES" sz="2000" b="0" i="1" smtClean="0">
                        <a:latin typeface="Cambria Math" panose="02040503050406030204" pitchFamily="18" charset="0"/>
                      </a:rPr>
                      <m:t> −</m:t>
                    </m:r>
                    <m:sSub>
                      <m:sSubPr>
                        <m:ctrlPr>
                          <a:rPr lang="es-ES" sz="2000" i="1">
                            <a:latin typeface="Cambria Math" panose="02040503050406030204" pitchFamily="18" charset="0"/>
                          </a:rPr>
                        </m:ctrlPr>
                      </m:sSubPr>
                      <m:e>
                        <m:r>
                          <a:rPr lang="es-ES" sz="2000" b="0" i="1">
                            <a:latin typeface="Cambria Math" panose="02040503050406030204" pitchFamily="18" charset="0"/>
                          </a:rPr>
                          <m:t>𝐿</m:t>
                        </m:r>
                      </m:e>
                      <m:sub>
                        <m:r>
                          <a:rPr lang="es-ES" sz="2000" b="0" i="1" smtClean="0">
                            <a:latin typeface="Cambria Math" panose="02040503050406030204" pitchFamily="18" charset="0"/>
                          </a:rPr>
                          <m:t>𝑑</m:t>
                        </m:r>
                      </m:sub>
                    </m:sSub>
                  </m:oMath>
                </a14:m>
                <a:r>
                  <a:rPr lang="en-US" sz="2000" dirty="0"/>
                  <a:t>) needed to obtain a Free Spectral Range of 40 nm? Introduce the obtained value in the model to check the MZI response. </a:t>
                </a:r>
              </a:p>
              <a:p>
                <a:endParaRPr lang="en-US" sz="2000" dirty="0"/>
              </a:p>
              <a:p>
                <a:r>
                  <a:rPr lang="en-US" sz="2000" dirty="0"/>
                  <a:t>Hint: We assume 1550 nm as the central design wavelength (</a:t>
                </a:r>
                <a14:m>
                  <m:oMath xmlns:m="http://schemas.openxmlformats.org/officeDocument/2006/math">
                    <m:sSub>
                      <m:sSubPr>
                        <m:ctrlPr>
                          <a:rPr lang="es-ES" sz="2000" i="1" smtClean="0">
                            <a:latin typeface="Cambria Math" panose="02040503050406030204" pitchFamily="18" charset="0"/>
                          </a:rPr>
                        </m:ctrlPr>
                      </m:sSubPr>
                      <m:e>
                        <m:r>
                          <a:rPr lang="es-ES" sz="2000" i="1">
                            <a:latin typeface="Cambria Math" panose="02040503050406030204" pitchFamily="18" charset="0"/>
                          </a:rPr>
                          <m:t>𝜆</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oMath>
                </a14:m>
                <a:r>
                  <a:rPr lang="en-US" sz="2000"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CE7CDC56-C049-9B02-E65B-B7CD89637FD6}"/>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6"/>
                <a:stretch>
                  <a:fillRect l="-607" t="-738"/>
                </a:stretch>
              </a:blipFill>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DED44F72-469A-4CD5-D4DC-0A729FA21766}"/>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a:extLst>
              <a:ext uri="{FF2B5EF4-FFF2-40B4-BE49-F238E27FC236}">
                <a16:creationId xmlns:a16="http://schemas.microsoft.com/office/drawing/2014/main" id="{5E02B3A9-06D0-E099-7768-E4AFCB377C13}"/>
              </a:ext>
            </a:extLst>
          </p:cNvPr>
          <p:cNvPicPr>
            <a:picLocks noChangeAspect="1"/>
          </p:cNvPicPr>
          <p:nvPr/>
        </p:nvPicPr>
        <p:blipFill>
          <a:blip r:embed="rId7"/>
          <a:stretch>
            <a:fillRect/>
          </a:stretch>
        </p:blipFill>
        <p:spPr>
          <a:xfrm>
            <a:off x="608012" y="2881236"/>
            <a:ext cx="4601217" cy="1095528"/>
          </a:xfrm>
          <a:prstGeom prst="rect">
            <a:avLst/>
          </a:prstGeom>
        </p:spPr>
      </p:pic>
      <p:sp>
        <p:nvSpPr>
          <p:cNvPr id="8" name="CuadroTexto 7">
            <a:extLst>
              <a:ext uri="{FF2B5EF4-FFF2-40B4-BE49-F238E27FC236}">
                <a16:creationId xmlns:a16="http://schemas.microsoft.com/office/drawing/2014/main" id="{A0D585D9-DE20-DEB8-BCA6-4AAA9E7E2FB9}"/>
              </a:ext>
            </a:extLst>
          </p:cNvPr>
          <p:cNvSpPr txBox="1"/>
          <p:nvPr/>
        </p:nvSpPr>
        <p:spPr>
          <a:xfrm>
            <a:off x="5791200" y="3059668"/>
            <a:ext cx="6128326" cy="923330"/>
          </a:xfrm>
          <a:prstGeom prst="rect">
            <a:avLst/>
          </a:prstGeom>
          <a:noFill/>
        </p:spPr>
        <p:txBody>
          <a:bodyPr wrap="square">
            <a:spAutoFit/>
          </a:bodyPr>
          <a:lstStyle/>
          <a:p>
            <a:r>
              <a:rPr lang="es-ES" dirty="0"/>
              <a:t>Teniendo ng = 4.29327, despejando la diferencia de longitud de los brazos para un FSR de 40 nm, nos da una diferencia de alrededor de los 13.9899...</a:t>
            </a:r>
          </a:p>
        </p:txBody>
      </p:sp>
    </p:spTree>
    <p:extLst>
      <p:ext uri="{BB962C8B-B14F-4D97-AF65-F5344CB8AC3E}">
        <p14:creationId xmlns:p14="http://schemas.microsoft.com/office/powerpoint/2010/main" val="717777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DE2F8-9789-0BBF-10A8-D60F04EF16F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71122DA4-1140-9539-C40A-8D9F83E28584}"/>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71122DA4-1140-9539-C40A-8D9F83E28584}"/>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9FCEE6DE-5883-79FA-4D17-7F1BC8B4819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1267BB0-0FF7-D6C8-4AE7-10B5778475D7}"/>
              </a:ext>
            </a:extLst>
          </p:cNvPr>
          <p:cNvSpPr>
            <a:spLocks noGrp="1"/>
          </p:cNvSpPr>
          <p:nvPr>
            <p:ph type="sldNum" sz="quarter" idx="7"/>
          </p:nvPr>
        </p:nvSpPr>
        <p:spPr/>
        <p:txBody>
          <a:bodyPr/>
          <a:lstStyle/>
          <a:p>
            <a:fld id="{B6F15528-21DE-4FAA-801E-634DDDAF4B2B}" type="slidenum">
              <a:rPr lang="es-ES" smtClean="0"/>
              <a:t>15</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790F1095-03F4-9722-213D-5BE832B5C40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Considering the n_{eff} values for the SOI cross-section, what would be the path difference (</a:t>
                </a:r>
                <a14:m>
                  <m:oMath xmlns:m="http://schemas.openxmlformats.org/officeDocument/2006/math">
                    <m:r>
                      <m:rPr>
                        <m:sty m:val="p"/>
                      </m:rPr>
                      <a:rPr lang="es-ES" sz="2000" b="0" i="0" smtClean="0">
                        <a:latin typeface="Cambria Math" panose="02040503050406030204" pitchFamily="18" charset="0"/>
                      </a:rPr>
                      <m:t>ΔL</m:t>
                    </m:r>
                    <m:r>
                      <a:rPr lang="es-ES" sz="2000" b="0" i="1" smtClean="0">
                        <a:latin typeface="Cambria Math" panose="02040503050406030204" pitchFamily="18" charset="0"/>
                      </a:rPr>
                      <m:t>= </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𝑢</m:t>
                        </m:r>
                      </m:sub>
                    </m:sSub>
                    <m:r>
                      <a:rPr lang="es-ES" sz="2000" b="0" i="1" smtClean="0">
                        <a:latin typeface="Cambria Math" panose="02040503050406030204" pitchFamily="18" charset="0"/>
                      </a:rPr>
                      <m:t> −</m:t>
                    </m:r>
                    <m:sSub>
                      <m:sSubPr>
                        <m:ctrlPr>
                          <a:rPr lang="es-ES" sz="2000" i="1">
                            <a:latin typeface="Cambria Math" panose="02040503050406030204" pitchFamily="18" charset="0"/>
                          </a:rPr>
                        </m:ctrlPr>
                      </m:sSubPr>
                      <m:e>
                        <m:r>
                          <a:rPr lang="es-ES" sz="2000" b="0" i="1">
                            <a:latin typeface="Cambria Math" panose="02040503050406030204" pitchFamily="18" charset="0"/>
                          </a:rPr>
                          <m:t>𝐿</m:t>
                        </m:r>
                      </m:e>
                      <m:sub>
                        <m:r>
                          <a:rPr lang="es-ES" sz="2000" b="0" i="1" smtClean="0">
                            <a:latin typeface="Cambria Math" panose="02040503050406030204" pitchFamily="18" charset="0"/>
                          </a:rPr>
                          <m:t>𝑑</m:t>
                        </m:r>
                      </m:sub>
                    </m:sSub>
                  </m:oMath>
                </a14:m>
                <a:r>
                  <a:rPr lang="en-US" sz="2000" dirty="0"/>
                  <a:t>) needed to obtain a Free Spectral Range of 40 nm? Introduce the obtained value in the model to check the MZI response. </a:t>
                </a:r>
              </a:p>
              <a:p>
                <a:endParaRPr lang="en-US" sz="2000" dirty="0"/>
              </a:p>
              <a:p>
                <a:r>
                  <a:rPr lang="en-US" sz="2000" dirty="0"/>
                  <a:t>Hint: We assume 1550 nm as the central design wavelength (</a:t>
                </a:r>
                <a14:m>
                  <m:oMath xmlns:m="http://schemas.openxmlformats.org/officeDocument/2006/math">
                    <m:sSub>
                      <m:sSubPr>
                        <m:ctrlPr>
                          <a:rPr lang="es-ES" sz="2000" i="1" smtClean="0">
                            <a:latin typeface="Cambria Math" panose="02040503050406030204" pitchFamily="18" charset="0"/>
                          </a:rPr>
                        </m:ctrlPr>
                      </m:sSubPr>
                      <m:e>
                        <m:r>
                          <a:rPr lang="es-ES" sz="2000" i="1">
                            <a:latin typeface="Cambria Math" panose="02040503050406030204" pitchFamily="18" charset="0"/>
                          </a:rPr>
                          <m:t>𝜆</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oMath>
                </a14:m>
                <a:r>
                  <a:rPr lang="en-US" sz="2000" dirty="0"/>
                  <a:t>1550 nm).</a:t>
                </a:r>
              </a:p>
              <a:p>
                <a:endParaRPr lang="en-US" sz="2000" dirty="0"/>
              </a:p>
              <a:p>
                <a:pPr algn="just"/>
                <a:endParaRPr lang="en-US" sz="2000" dirty="0"/>
              </a:p>
              <a:p>
                <a:pPr algn="just"/>
                <a:r>
                  <a:rPr lang="en-US" sz="2000" dirty="0"/>
                  <a:t>central</a:t>
                </a:r>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790F1095-03F4-9722-213D-5BE832B5C40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6"/>
                <a:stretch>
                  <a:fillRect l="-607" t="-738"/>
                </a:stretch>
              </a:blipFill>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7B0C5760-D668-7F82-2508-C9F5DA4DF38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3" name="Imagen 2">
            <a:extLst>
              <a:ext uri="{FF2B5EF4-FFF2-40B4-BE49-F238E27FC236}">
                <a16:creationId xmlns:a16="http://schemas.microsoft.com/office/drawing/2014/main" id="{1ED14354-6BFC-0593-A02C-063B8EF0FBE0}"/>
              </a:ext>
            </a:extLst>
          </p:cNvPr>
          <p:cNvPicPr>
            <a:picLocks noChangeAspect="1"/>
          </p:cNvPicPr>
          <p:nvPr/>
        </p:nvPicPr>
        <p:blipFill>
          <a:blip r:embed="rId7"/>
          <a:stretch>
            <a:fillRect/>
          </a:stretch>
        </p:blipFill>
        <p:spPr>
          <a:xfrm>
            <a:off x="534989" y="3012685"/>
            <a:ext cx="4038600" cy="3240852"/>
          </a:xfrm>
          <a:prstGeom prst="rect">
            <a:avLst/>
          </a:prstGeom>
        </p:spPr>
      </p:pic>
      <p:sp>
        <p:nvSpPr>
          <p:cNvPr id="9" name="CuadroTexto 8">
            <a:extLst>
              <a:ext uri="{FF2B5EF4-FFF2-40B4-BE49-F238E27FC236}">
                <a16:creationId xmlns:a16="http://schemas.microsoft.com/office/drawing/2014/main" id="{45C9341C-74F9-ABE8-638B-FC586D2B4054}"/>
              </a:ext>
            </a:extLst>
          </p:cNvPr>
          <p:cNvSpPr txBox="1"/>
          <p:nvPr/>
        </p:nvSpPr>
        <p:spPr>
          <a:xfrm>
            <a:off x="5045006" y="3393329"/>
            <a:ext cx="6128326" cy="646331"/>
          </a:xfrm>
          <a:prstGeom prst="rect">
            <a:avLst/>
          </a:prstGeom>
          <a:noFill/>
        </p:spPr>
        <p:txBody>
          <a:bodyPr wrap="square">
            <a:spAutoFit/>
          </a:bodyPr>
          <a:lstStyle/>
          <a:p>
            <a:r>
              <a:rPr lang="en-US" sz="1800" dirty="0" err="1"/>
              <a:t>Vemos</a:t>
            </a:r>
            <a:r>
              <a:rPr lang="en-US" sz="1800" dirty="0"/>
              <a:t> </a:t>
            </a:r>
            <a:r>
              <a:rPr lang="en-US" sz="1800" dirty="0" err="1"/>
              <a:t>que</a:t>
            </a:r>
            <a:r>
              <a:rPr lang="en-US" sz="1800" dirty="0"/>
              <a:t> entre un </a:t>
            </a:r>
            <a:r>
              <a:rPr lang="en-US" sz="1800" dirty="0" err="1"/>
              <a:t>áximo</a:t>
            </a:r>
            <a:r>
              <a:rPr lang="en-US" sz="1800" dirty="0"/>
              <a:t> y un </a:t>
            </a:r>
            <a:r>
              <a:rPr lang="en-US" sz="1800" dirty="0" err="1"/>
              <a:t>mínimo</a:t>
            </a:r>
            <a:r>
              <a:rPr lang="en-US" sz="1800" dirty="0"/>
              <a:t> hay 20nm, </a:t>
            </a:r>
            <a:r>
              <a:rPr lang="en-US" sz="1800" dirty="0" err="1"/>
              <a:t>por</a:t>
            </a:r>
            <a:r>
              <a:rPr lang="en-US" sz="1800" dirty="0"/>
              <a:t> lo </a:t>
            </a:r>
            <a:r>
              <a:rPr lang="en-US" sz="1800" dirty="0" err="1"/>
              <a:t>que</a:t>
            </a:r>
            <a:r>
              <a:rPr lang="en-US" sz="1800" dirty="0"/>
              <a:t> entre dos </a:t>
            </a:r>
            <a:r>
              <a:rPr lang="en-US" sz="1800" dirty="0" err="1"/>
              <a:t>máximos</a:t>
            </a:r>
            <a:r>
              <a:rPr lang="en-US" sz="1800" dirty="0"/>
              <a:t> </a:t>
            </a:r>
            <a:r>
              <a:rPr lang="en-US" sz="1800" dirty="0" err="1"/>
              <a:t>habrá</a:t>
            </a:r>
            <a:r>
              <a:rPr lang="en-US" sz="1800" dirty="0"/>
              <a:t> 40nm de FSR. </a:t>
            </a:r>
            <a:endParaRPr lang="es-ES" dirty="0"/>
          </a:p>
        </p:txBody>
      </p:sp>
    </p:spTree>
    <p:extLst>
      <p:ext uri="{BB962C8B-B14F-4D97-AF65-F5344CB8AC3E}">
        <p14:creationId xmlns:p14="http://schemas.microsoft.com/office/powerpoint/2010/main" val="2109005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0" y="10668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dirty="0"/>
            </a:br>
            <a:r>
              <a:rPr lang="en-US" dirty="0"/>
              <a:t>In order to implement the SAX model, take as example the following lines:</a:t>
            </a:r>
          </a:p>
          <a:p>
            <a:endParaRPr lang="en-US" dirty="0"/>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 = </a:t>
            </a:r>
            <a:r>
              <a:rPr lang="es-ES" sz="1400" b="0" dirty="0" err="1">
                <a:effectLst/>
                <a:latin typeface="Courier New" panose="02070309020205020404" pitchFamily="49" charset="0"/>
              </a:rPr>
              <a:t>mzi</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coup_a</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wvg_d</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l_d</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wvg_u</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l_u</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coup_b</a:t>
            </a:r>
            <a:r>
              <a:rPr lang="es-ES" sz="1400" b="0" dirty="0">
                <a:effectLst/>
                <a:latin typeface="Courier New" panose="02070309020205020404" pitchFamily="49" charset="0"/>
              </a:rPr>
              <a:t> = ... )</a:t>
            </a:r>
          </a:p>
          <a:p>
            <a:pPr lvl="2">
              <a:lnSpc>
                <a:spcPts val="1425"/>
              </a:lnSpc>
            </a:pPr>
            <a:br>
              <a:rPr lang="es-ES" sz="1400" b="0" dirty="0">
                <a:effectLst/>
                <a:latin typeface="Courier New" panose="02070309020205020404" pitchFamily="49" charset="0"/>
              </a:rPr>
            </a:br>
            <a:r>
              <a:rPr lang="es-ES" sz="1400" b="0" dirty="0">
                <a:effectLst/>
                <a:latin typeface="Courier New" panose="02070309020205020404" pitchFamily="49" charset="0"/>
              </a:rPr>
              <a:t>    H00 =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["in0", "out0"]</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CA4A2D6E-5993-52B3-D251-1ADF2B0C8355}"/>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transfer function employing SAX modeling and include the comparative plot of the models)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6436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E35A3-9BF1-5F47-9801-DFF295E8E3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EAC3089-0AD5-0B13-E615-6C4B1CB912F8}"/>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 COMPARACION UNBALNCED DELAY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A8BB54B-DEB2-B2FA-378D-E79C660224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B2F4FC1-6E2C-FC7B-0232-565FF94B9D52}"/>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5" name="Marcador de pie de página 2">
            <a:extLst>
              <a:ext uri="{FF2B5EF4-FFF2-40B4-BE49-F238E27FC236}">
                <a16:creationId xmlns:a16="http://schemas.microsoft.com/office/drawing/2014/main" id="{0B187D9F-4617-CAA1-AB5F-A1A1DF376686}"/>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descr="Gráfico, Gráfico de líneas&#10;&#10;El contenido generado por IA puede ser incorrecto.">
            <a:extLst>
              <a:ext uri="{FF2B5EF4-FFF2-40B4-BE49-F238E27FC236}">
                <a16:creationId xmlns:a16="http://schemas.microsoft.com/office/drawing/2014/main" id="{39B777BC-CA70-04DA-B486-32038DED4083}"/>
              </a:ext>
            </a:extLst>
          </p:cNvPr>
          <p:cNvPicPr>
            <a:picLocks noChangeAspect="1"/>
          </p:cNvPicPr>
          <p:nvPr/>
        </p:nvPicPr>
        <p:blipFill>
          <a:blip r:embed="rId5"/>
          <a:stretch>
            <a:fillRect/>
          </a:stretch>
        </p:blipFill>
        <p:spPr>
          <a:xfrm>
            <a:off x="381000" y="2057400"/>
            <a:ext cx="4588528" cy="3689072"/>
          </a:xfrm>
          <a:prstGeom prst="rect">
            <a:avLst/>
          </a:prstGeom>
        </p:spPr>
      </p:pic>
      <p:pic>
        <p:nvPicPr>
          <p:cNvPr id="7" name="Imagen 6">
            <a:extLst>
              <a:ext uri="{FF2B5EF4-FFF2-40B4-BE49-F238E27FC236}">
                <a16:creationId xmlns:a16="http://schemas.microsoft.com/office/drawing/2014/main" id="{FDC1DC3C-AF70-B556-A85C-BC2BC1BF23A0}"/>
              </a:ext>
            </a:extLst>
          </p:cNvPr>
          <p:cNvPicPr>
            <a:picLocks noChangeAspect="1"/>
          </p:cNvPicPr>
          <p:nvPr/>
        </p:nvPicPr>
        <p:blipFill>
          <a:blip r:embed="rId6">
            <a:extLst>
              <a:ext uri="{28A0092B-C50C-407E-A947-70E740481C1C}">
                <a14:useLocalDpi xmlns:a14="http://schemas.microsoft.com/office/drawing/2010/main" val="0"/>
              </a:ext>
            </a:extLst>
          </a:blip>
          <a:srcRect t="154" b="154"/>
          <a:stretch/>
        </p:blipFill>
        <p:spPr>
          <a:xfrm>
            <a:off x="5181600" y="2159345"/>
            <a:ext cx="4343400" cy="3483584"/>
          </a:xfrm>
          <a:prstGeom prst="rect">
            <a:avLst/>
          </a:prstGeom>
        </p:spPr>
      </p:pic>
      <p:pic>
        <p:nvPicPr>
          <p:cNvPr id="9" name="Imagen 8" descr="Texto&#10;&#10;El contenido generado por IA puede ser incorrecto.">
            <a:extLst>
              <a:ext uri="{FF2B5EF4-FFF2-40B4-BE49-F238E27FC236}">
                <a16:creationId xmlns:a16="http://schemas.microsoft.com/office/drawing/2014/main" id="{04861998-0FEC-F76F-BD2B-686867E5EEC9}"/>
              </a:ext>
            </a:extLst>
          </p:cNvPr>
          <p:cNvPicPr>
            <a:picLocks noChangeAspect="1"/>
          </p:cNvPicPr>
          <p:nvPr/>
        </p:nvPicPr>
        <p:blipFill>
          <a:blip r:embed="rId7"/>
          <a:stretch>
            <a:fillRect/>
          </a:stretch>
        </p:blipFill>
        <p:spPr>
          <a:xfrm>
            <a:off x="511791" y="781782"/>
            <a:ext cx="5355610" cy="1121633"/>
          </a:xfrm>
          <a:prstGeom prst="rect">
            <a:avLst/>
          </a:prstGeom>
        </p:spPr>
      </p:pic>
      <p:sp>
        <p:nvSpPr>
          <p:cNvPr id="11" name="CuadroTexto 10">
            <a:extLst>
              <a:ext uri="{FF2B5EF4-FFF2-40B4-BE49-F238E27FC236}">
                <a16:creationId xmlns:a16="http://schemas.microsoft.com/office/drawing/2014/main" id="{2428D1E7-CAAA-F44F-B9B2-9E81AC066D01}"/>
              </a:ext>
            </a:extLst>
          </p:cNvPr>
          <p:cNvSpPr txBox="1"/>
          <p:nvPr/>
        </p:nvSpPr>
        <p:spPr>
          <a:xfrm>
            <a:off x="5791200" y="781782"/>
            <a:ext cx="6733728" cy="1200329"/>
          </a:xfrm>
          <a:prstGeom prst="rect">
            <a:avLst/>
          </a:prstGeom>
          <a:noFill/>
        </p:spPr>
        <p:txBody>
          <a:bodyPr wrap="square">
            <a:spAutoFit/>
          </a:bodyPr>
          <a:lstStyle/>
          <a:p>
            <a:r>
              <a:rPr lang="en-US" dirty="0" err="1"/>
              <a:t>Comparamos</a:t>
            </a:r>
            <a:r>
              <a:rPr lang="en-US" dirty="0"/>
              <a:t> la </a:t>
            </a:r>
            <a:r>
              <a:rPr lang="en-US" dirty="0" err="1"/>
              <a:t>respuesta</a:t>
            </a:r>
            <a:r>
              <a:rPr lang="en-US" dirty="0"/>
              <a:t> </a:t>
            </a:r>
            <a:r>
              <a:rPr lang="en-US" dirty="0" err="1"/>
              <a:t>obtenida</a:t>
            </a:r>
            <a:r>
              <a:rPr lang="en-US" dirty="0"/>
              <a:t> al introducer </a:t>
            </a:r>
            <a:r>
              <a:rPr lang="en-US" dirty="0" err="1"/>
              <a:t>una</a:t>
            </a:r>
            <a:r>
              <a:rPr lang="en-US" dirty="0"/>
              <a:t> </a:t>
            </a:r>
            <a:r>
              <a:rPr lang="en-US" dirty="0" err="1"/>
              <a:t>diferencia</a:t>
            </a:r>
            <a:r>
              <a:rPr lang="en-US" dirty="0"/>
              <a:t> de </a:t>
            </a:r>
            <a:r>
              <a:rPr lang="en-US" dirty="0" err="1"/>
              <a:t>longitud</a:t>
            </a:r>
            <a:r>
              <a:rPr lang="en-US" dirty="0"/>
              <a:t> de 20um entre </a:t>
            </a:r>
            <a:r>
              <a:rPr lang="en-US" dirty="0" err="1"/>
              <a:t>los</a:t>
            </a:r>
            <a:r>
              <a:rPr lang="en-US" dirty="0"/>
              <a:t> </a:t>
            </a:r>
            <a:r>
              <a:rPr lang="en-US" dirty="0" err="1"/>
              <a:t>brazos</a:t>
            </a:r>
            <a:r>
              <a:rPr lang="en-US" dirty="0"/>
              <a:t>.</a:t>
            </a:r>
          </a:p>
          <a:p>
            <a:r>
              <a:rPr lang="en-US" dirty="0"/>
              <a:t>Como </a:t>
            </a:r>
            <a:r>
              <a:rPr lang="en-US" dirty="0" err="1"/>
              <a:t>podemos</a:t>
            </a:r>
            <a:r>
              <a:rPr lang="en-US" dirty="0"/>
              <a:t> </a:t>
            </a:r>
            <a:r>
              <a:rPr lang="en-US" dirty="0" err="1"/>
              <a:t>observar</a:t>
            </a:r>
            <a:r>
              <a:rPr lang="en-US" dirty="0"/>
              <a:t> </a:t>
            </a:r>
            <a:r>
              <a:rPr lang="en-US" dirty="0" err="1"/>
              <a:t>el</a:t>
            </a:r>
            <a:r>
              <a:rPr lang="en-US" dirty="0"/>
              <a:t> </a:t>
            </a:r>
            <a:r>
              <a:rPr lang="en-US" dirty="0" err="1"/>
              <a:t>comportamiento</a:t>
            </a:r>
            <a:r>
              <a:rPr lang="en-US" dirty="0"/>
              <a:t> a </a:t>
            </a:r>
            <a:r>
              <a:rPr lang="en-US" dirty="0" err="1"/>
              <a:t>primera</a:t>
            </a:r>
            <a:endParaRPr lang="en-US" dirty="0"/>
          </a:p>
          <a:p>
            <a:r>
              <a:rPr lang="en-US" dirty="0"/>
              <a:t>vista es </a:t>
            </a:r>
            <a:r>
              <a:rPr lang="en-US" dirty="0" err="1"/>
              <a:t>el</a:t>
            </a:r>
            <a:r>
              <a:rPr lang="en-US" dirty="0"/>
              <a:t> </a:t>
            </a:r>
            <a:r>
              <a:rPr lang="en-US" dirty="0" err="1"/>
              <a:t>mismo</a:t>
            </a:r>
            <a:r>
              <a:rPr lang="en-US" dirty="0"/>
              <a:t>. </a:t>
            </a:r>
            <a:endParaRPr lang="es-ES" dirty="0"/>
          </a:p>
        </p:txBody>
      </p:sp>
      <p:sp>
        <p:nvSpPr>
          <p:cNvPr id="3" name="CuadroTexto 2">
            <a:extLst>
              <a:ext uri="{FF2B5EF4-FFF2-40B4-BE49-F238E27FC236}">
                <a16:creationId xmlns:a16="http://schemas.microsoft.com/office/drawing/2014/main" id="{0E595B22-0DC3-253D-39E2-E402655E437A}"/>
              </a:ext>
            </a:extLst>
          </p:cNvPr>
          <p:cNvSpPr txBox="1"/>
          <p:nvPr/>
        </p:nvSpPr>
        <p:spPr>
          <a:xfrm>
            <a:off x="838200" y="5816099"/>
            <a:ext cx="6386944" cy="369332"/>
          </a:xfrm>
          <a:prstGeom prst="rect">
            <a:avLst/>
          </a:prstGeom>
          <a:noFill/>
        </p:spPr>
        <p:txBody>
          <a:bodyPr wrap="square">
            <a:spAutoFit/>
          </a:bodyPr>
          <a:lstStyle/>
          <a:p>
            <a:r>
              <a:rPr lang="en-US" sz="1800" dirty="0"/>
              <a:t>SAX implementation </a:t>
            </a:r>
            <a:endParaRPr lang="es-ES" dirty="0"/>
          </a:p>
        </p:txBody>
      </p:sp>
      <p:sp>
        <p:nvSpPr>
          <p:cNvPr id="8" name="CuadroTexto 7">
            <a:extLst>
              <a:ext uri="{FF2B5EF4-FFF2-40B4-BE49-F238E27FC236}">
                <a16:creationId xmlns:a16="http://schemas.microsoft.com/office/drawing/2014/main" id="{1EEF33DB-C619-2C6B-0828-D94B6A0DA7F8}"/>
              </a:ext>
            </a:extLst>
          </p:cNvPr>
          <p:cNvSpPr txBox="1"/>
          <p:nvPr/>
        </p:nvSpPr>
        <p:spPr>
          <a:xfrm>
            <a:off x="5562600" y="5648597"/>
            <a:ext cx="6386944" cy="369332"/>
          </a:xfrm>
          <a:prstGeom prst="rect">
            <a:avLst/>
          </a:prstGeom>
          <a:noFill/>
        </p:spPr>
        <p:txBody>
          <a:bodyPr wrap="square">
            <a:spAutoFit/>
          </a:bodyPr>
          <a:lstStyle/>
          <a:p>
            <a:r>
              <a:rPr lang="en-US" dirty="0" err="1"/>
              <a:t>Simulación</a:t>
            </a:r>
            <a:r>
              <a:rPr lang="en-US" dirty="0"/>
              <a:t> anterior </a:t>
            </a:r>
            <a:r>
              <a:rPr lang="en-US" dirty="0" err="1"/>
              <a:t>realizada</a:t>
            </a:r>
            <a:r>
              <a:rPr lang="en-US" dirty="0"/>
              <a:t>.  </a:t>
            </a:r>
            <a:endParaRPr lang="es-ES" dirty="0"/>
          </a:p>
        </p:txBody>
      </p:sp>
    </p:spTree>
    <p:extLst>
      <p:ext uri="{BB962C8B-B14F-4D97-AF65-F5344CB8AC3E}">
        <p14:creationId xmlns:p14="http://schemas.microsoft.com/office/powerpoint/2010/main" val="3653090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En las </a:t>
            </a:r>
            <a:r>
              <a:rPr lang="en-US" sz="1200" dirty="0" err="1">
                <a:latin typeface="Arial" panose="020B0604020202020204" pitchFamily="34" charset="0"/>
                <a:cs typeface="Arial" panose="020B0604020202020204" pitchFamily="34" charset="0"/>
              </a:rPr>
              <a:t>siguientes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diapositivas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muestran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Assessment 4 y 5.</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0438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0A3F0-EA15-DCE9-5C9B-2750BC4FFEE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60F6957-F761-CCA5-0129-63FB8B3EAAC8}"/>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3D5FE5B5-FEB9-F348-DAE0-40A4075F5C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D33B171-C6AB-9CDE-9E9C-941BC4D40F6A}"/>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4" name="Marcador de texto 2">
            <a:extLst>
              <a:ext uri="{FF2B5EF4-FFF2-40B4-BE49-F238E27FC236}">
                <a16:creationId xmlns:a16="http://schemas.microsoft.com/office/drawing/2014/main" id="{D12749E7-883C-CDA1-4D7A-8BBE32465926}"/>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pPr algn="just"/>
            <a:endParaRPr lang="en-US" sz="2000" kern="0" dirty="0">
              <a:solidFill>
                <a:sysClr val="windowText" lastClr="000000"/>
              </a:solidFill>
            </a:endParaRPr>
          </a:p>
        </p:txBody>
      </p:sp>
      <p:sp>
        <p:nvSpPr>
          <p:cNvPr id="6" name="Marcador de pie de página 2">
            <a:extLst>
              <a:ext uri="{FF2B5EF4-FFF2-40B4-BE49-F238E27FC236}">
                <a16:creationId xmlns:a16="http://schemas.microsoft.com/office/drawing/2014/main" id="{53B85258-834C-3C60-485C-EF3CD80F9B3B}"/>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5" name="Imagen 4" descr="Gráfico, Gráfico de líneas&#10;&#10;El contenido generado por IA puede ser incorrecto.">
            <a:extLst>
              <a:ext uri="{FF2B5EF4-FFF2-40B4-BE49-F238E27FC236}">
                <a16:creationId xmlns:a16="http://schemas.microsoft.com/office/drawing/2014/main" id="{12AB92E1-9E51-F8CB-D88E-6A37C8F1A1CE}"/>
              </a:ext>
            </a:extLst>
          </p:cNvPr>
          <p:cNvPicPr>
            <a:picLocks noChangeAspect="1"/>
          </p:cNvPicPr>
          <p:nvPr/>
        </p:nvPicPr>
        <p:blipFill>
          <a:blip r:embed="rId5"/>
          <a:stretch>
            <a:fillRect/>
          </a:stretch>
        </p:blipFill>
        <p:spPr>
          <a:xfrm>
            <a:off x="642648" y="1960721"/>
            <a:ext cx="3511202" cy="2787141"/>
          </a:xfrm>
          <a:prstGeom prst="rect">
            <a:avLst/>
          </a:prstGeom>
        </p:spPr>
      </p:pic>
      <p:pic>
        <p:nvPicPr>
          <p:cNvPr id="8" name="Imagen 7" descr="Texto&#10;&#10;El contenido generado por IA puede ser incorrecto.">
            <a:extLst>
              <a:ext uri="{FF2B5EF4-FFF2-40B4-BE49-F238E27FC236}">
                <a16:creationId xmlns:a16="http://schemas.microsoft.com/office/drawing/2014/main" id="{693E8B91-EBFC-D0F7-5B7D-512F8C4BB5D3}"/>
              </a:ext>
            </a:extLst>
          </p:cNvPr>
          <p:cNvPicPr>
            <a:picLocks noChangeAspect="1"/>
          </p:cNvPicPr>
          <p:nvPr/>
        </p:nvPicPr>
        <p:blipFill>
          <a:blip r:embed="rId6"/>
          <a:stretch>
            <a:fillRect/>
          </a:stretch>
        </p:blipFill>
        <p:spPr>
          <a:xfrm>
            <a:off x="4343400" y="2080801"/>
            <a:ext cx="6077798" cy="752580"/>
          </a:xfrm>
          <a:prstGeom prst="rect">
            <a:avLst/>
          </a:prstGeom>
        </p:spPr>
      </p:pic>
      <p:sp>
        <p:nvSpPr>
          <p:cNvPr id="10" name="CuadroTexto 9">
            <a:extLst>
              <a:ext uri="{FF2B5EF4-FFF2-40B4-BE49-F238E27FC236}">
                <a16:creationId xmlns:a16="http://schemas.microsoft.com/office/drawing/2014/main" id="{7274EF89-FD25-B48D-AEED-63FF006839DD}"/>
              </a:ext>
            </a:extLst>
          </p:cNvPr>
          <p:cNvSpPr txBox="1"/>
          <p:nvPr/>
        </p:nvSpPr>
        <p:spPr>
          <a:xfrm>
            <a:off x="4343400" y="3137687"/>
            <a:ext cx="6128326" cy="646331"/>
          </a:xfrm>
          <a:prstGeom prst="rect">
            <a:avLst/>
          </a:prstGeom>
          <a:noFill/>
        </p:spPr>
        <p:txBody>
          <a:bodyPr wrap="square">
            <a:spAutoFit/>
          </a:bodyPr>
          <a:lstStyle/>
          <a:p>
            <a:r>
              <a:rPr lang="es-ES" dirty="0"/>
              <a:t>Con una diferencia de longitudes de 25 </a:t>
            </a:r>
            <a:r>
              <a:rPr lang="es-ES" dirty="0" err="1"/>
              <a:t>um</a:t>
            </a:r>
            <a:r>
              <a:rPr lang="es-ES" dirty="0"/>
              <a:t>, teniendo un máximo en </a:t>
            </a:r>
            <a:r>
              <a:rPr lang="es-ES" dirty="0" err="1"/>
              <a:t>cross</a:t>
            </a:r>
            <a:r>
              <a:rPr lang="es-ES" dirty="0"/>
              <a:t> en 1550nm  </a:t>
            </a:r>
          </a:p>
        </p:txBody>
      </p:sp>
    </p:spTree>
    <p:extLst>
      <p:ext uri="{BB962C8B-B14F-4D97-AF65-F5344CB8AC3E}">
        <p14:creationId xmlns:p14="http://schemas.microsoft.com/office/powerpoint/2010/main" val="1359720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86E8E-397B-1841-9BD3-C75A054EA27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16E3C5C-841C-5D62-2A1D-32F5A91EA371}"/>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043AAB1D-F7FD-2F8E-6EC0-DDC970F20D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4B7AD11-1FD3-6AC4-BF09-4D589E8382B3}"/>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4" name="Marcador de texto 2">
            <a:extLst>
              <a:ext uri="{FF2B5EF4-FFF2-40B4-BE49-F238E27FC236}">
                <a16:creationId xmlns:a16="http://schemas.microsoft.com/office/drawing/2014/main" id="{44469A6A-D3DB-60FE-3A74-3CF213032E6A}"/>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pPr algn="just"/>
            <a:endParaRPr lang="en-US" sz="2000" kern="0" dirty="0">
              <a:solidFill>
                <a:sysClr val="windowText" lastClr="000000"/>
              </a:solidFill>
            </a:endParaRPr>
          </a:p>
        </p:txBody>
      </p:sp>
      <p:sp>
        <p:nvSpPr>
          <p:cNvPr id="6" name="Marcador de pie de página 2">
            <a:extLst>
              <a:ext uri="{FF2B5EF4-FFF2-40B4-BE49-F238E27FC236}">
                <a16:creationId xmlns:a16="http://schemas.microsoft.com/office/drawing/2014/main" id="{1B0E7D77-C21A-0F71-C8AE-878763F261D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5" name="Imagen 4" descr="Gráfico, Gráfico de líneas&#10;&#10;El contenido generado por IA puede ser incorrecto.">
            <a:extLst>
              <a:ext uri="{FF2B5EF4-FFF2-40B4-BE49-F238E27FC236}">
                <a16:creationId xmlns:a16="http://schemas.microsoft.com/office/drawing/2014/main" id="{8F3F4BED-B61B-1C9A-F3CC-1970B22EBED1}"/>
              </a:ext>
            </a:extLst>
          </p:cNvPr>
          <p:cNvPicPr>
            <a:picLocks noChangeAspect="1"/>
          </p:cNvPicPr>
          <p:nvPr/>
        </p:nvPicPr>
        <p:blipFill>
          <a:blip r:embed="rId5"/>
          <a:stretch>
            <a:fillRect/>
          </a:stretch>
        </p:blipFill>
        <p:spPr>
          <a:xfrm>
            <a:off x="5867399" y="2313629"/>
            <a:ext cx="3706183" cy="2970167"/>
          </a:xfrm>
          <a:prstGeom prst="rect">
            <a:avLst/>
          </a:prstGeom>
        </p:spPr>
      </p:pic>
      <p:pic>
        <p:nvPicPr>
          <p:cNvPr id="8" name="Imagen 7" descr="Gráfico, Gráfico de líneas&#10;&#10;El contenido generado por IA puede ser incorrecto.">
            <a:extLst>
              <a:ext uri="{FF2B5EF4-FFF2-40B4-BE49-F238E27FC236}">
                <a16:creationId xmlns:a16="http://schemas.microsoft.com/office/drawing/2014/main" id="{91345F26-98A5-C035-E772-CEA063AE2862}"/>
              </a:ext>
            </a:extLst>
          </p:cNvPr>
          <p:cNvPicPr>
            <a:picLocks noChangeAspect="1"/>
          </p:cNvPicPr>
          <p:nvPr/>
        </p:nvPicPr>
        <p:blipFill>
          <a:blip r:embed="rId6"/>
          <a:stretch>
            <a:fillRect/>
          </a:stretch>
        </p:blipFill>
        <p:spPr>
          <a:xfrm>
            <a:off x="1841248" y="2265138"/>
            <a:ext cx="3753498" cy="3018658"/>
          </a:xfrm>
          <a:prstGeom prst="rect">
            <a:avLst/>
          </a:prstGeom>
        </p:spPr>
      </p:pic>
      <p:sp>
        <p:nvSpPr>
          <p:cNvPr id="10" name="CuadroTexto 9">
            <a:extLst>
              <a:ext uri="{FF2B5EF4-FFF2-40B4-BE49-F238E27FC236}">
                <a16:creationId xmlns:a16="http://schemas.microsoft.com/office/drawing/2014/main" id="{7D74DF8F-76E3-0798-6389-07D257E70727}"/>
              </a:ext>
            </a:extLst>
          </p:cNvPr>
          <p:cNvSpPr txBox="1"/>
          <p:nvPr/>
        </p:nvSpPr>
        <p:spPr>
          <a:xfrm>
            <a:off x="381000" y="5487316"/>
            <a:ext cx="10896600" cy="923330"/>
          </a:xfrm>
          <a:prstGeom prst="rect">
            <a:avLst/>
          </a:prstGeom>
          <a:noFill/>
        </p:spPr>
        <p:txBody>
          <a:bodyPr wrap="square">
            <a:spAutoFit/>
          </a:bodyPr>
          <a:lstStyle/>
          <a:p>
            <a:r>
              <a:rPr lang="en-US" dirty="0"/>
              <a:t>Se produce un </a:t>
            </a:r>
            <a:r>
              <a:rPr lang="en-US" dirty="0" err="1"/>
              <a:t>desplazamiento</a:t>
            </a:r>
            <a:r>
              <a:rPr lang="en-US" dirty="0"/>
              <a:t> del </a:t>
            </a:r>
            <a:r>
              <a:rPr lang="en-US" dirty="0" err="1"/>
              <a:t>espectro</a:t>
            </a:r>
            <a:r>
              <a:rPr lang="en-US" dirty="0"/>
              <a:t>. Como se ha </a:t>
            </a:r>
            <a:r>
              <a:rPr lang="en-US" dirty="0" err="1"/>
              <a:t>comentado</a:t>
            </a:r>
            <a:r>
              <a:rPr lang="en-US" dirty="0"/>
              <a:t> </a:t>
            </a:r>
            <a:r>
              <a:rPr lang="en-US" dirty="0" err="1"/>
              <a:t>en</a:t>
            </a:r>
            <a:r>
              <a:rPr lang="en-US" dirty="0"/>
              <a:t> </a:t>
            </a:r>
            <a:r>
              <a:rPr lang="en-US" dirty="0" err="1"/>
              <a:t>clase</a:t>
            </a:r>
            <a:r>
              <a:rPr lang="en-US" dirty="0"/>
              <a:t> </a:t>
            </a:r>
            <a:r>
              <a:rPr lang="en-US" dirty="0" err="1"/>
              <a:t>en</a:t>
            </a:r>
            <a:r>
              <a:rPr lang="en-US" dirty="0"/>
              <a:t> </a:t>
            </a:r>
            <a:r>
              <a:rPr lang="en-US" dirty="0" err="1"/>
              <a:t>diferentes</a:t>
            </a:r>
            <a:r>
              <a:rPr lang="en-US" dirty="0"/>
              <a:t> </a:t>
            </a:r>
            <a:r>
              <a:rPr lang="en-US" dirty="0" err="1"/>
              <a:t>ocasiones</a:t>
            </a:r>
            <a:r>
              <a:rPr lang="en-US" dirty="0"/>
              <a:t> se </a:t>
            </a:r>
            <a:r>
              <a:rPr lang="en-US" dirty="0" err="1"/>
              <a:t>puede</a:t>
            </a:r>
            <a:r>
              <a:rPr lang="en-US" dirty="0"/>
              <a:t> </a:t>
            </a:r>
            <a:r>
              <a:rPr lang="en-US" dirty="0" err="1"/>
              <a:t>utilizar</a:t>
            </a:r>
            <a:r>
              <a:rPr lang="en-US" dirty="0"/>
              <a:t> </a:t>
            </a:r>
            <a:r>
              <a:rPr lang="en-US" dirty="0" err="1"/>
              <a:t>como</a:t>
            </a:r>
            <a:r>
              <a:rPr lang="en-US" dirty="0"/>
              <a:t> detector de </a:t>
            </a:r>
            <a:r>
              <a:rPr lang="en-US" dirty="0" err="1"/>
              <a:t>substancias</a:t>
            </a:r>
            <a:r>
              <a:rPr lang="en-US" dirty="0"/>
              <a:t>, </a:t>
            </a:r>
            <a:r>
              <a:rPr lang="en-US" dirty="0" err="1"/>
              <a:t>ya</a:t>
            </a:r>
            <a:r>
              <a:rPr lang="en-US" dirty="0"/>
              <a:t> </a:t>
            </a:r>
            <a:r>
              <a:rPr lang="en-US" dirty="0" err="1"/>
              <a:t>que</a:t>
            </a:r>
            <a:r>
              <a:rPr lang="en-US" dirty="0"/>
              <a:t> la </a:t>
            </a:r>
            <a:r>
              <a:rPr lang="en-US" dirty="0" err="1"/>
              <a:t>presencia</a:t>
            </a:r>
            <a:r>
              <a:rPr lang="en-US" dirty="0"/>
              <a:t> de </a:t>
            </a:r>
            <a:r>
              <a:rPr lang="en-US" dirty="0" err="1"/>
              <a:t>cierta</a:t>
            </a:r>
            <a:r>
              <a:rPr lang="en-US" dirty="0"/>
              <a:t> </a:t>
            </a:r>
            <a:r>
              <a:rPr lang="en-US" dirty="0" err="1"/>
              <a:t>substancia</a:t>
            </a:r>
            <a:r>
              <a:rPr lang="en-US" dirty="0"/>
              <a:t> altera </a:t>
            </a:r>
            <a:r>
              <a:rPr lang="en-US" dirty="0" err="1"/>
              <a:t>el</a:t>
            </a:r>
            <a:r>
              <a:rPr lang="en-US" dirty="0"/>
              <a:t> </a:t>
            </a:r>
            <a:r>
              <a:rPr lang="en-US" dirty="0" err="1"/>
              <a:t>neff</a:t>
            </a:r>
            <a:r>
              <a:rPr lang="en-US" dirty="0"/>
              <a:t>, y </a:t>
            </a:r>
            <a:r>
              <a:rPr lang="en-US" dirty="0" err="1"/>
              <a:t>por</a:t>
            </a:r>
            <a:r>
              <a:rPr lang="en-US" dirty="0"/>
              <a:t> </a:t>
            </a:r>
            <a:r>
              <a:rPr lang="en-US" dirty="0" err="1"/>
              <a:t>ende</a:t>
            </a:r>
            <a:r>
              <a:rPr lang="en-US" dirty="0"/>
              <a:t> la </a:t>
            </a:r>
            <a:r>
              <a:rPr lang="en-US" dirty="0" err="1"/>
              <a:t>respuesta</a:t>
            </a:r>
            <a:r>
              <a:rPr lang="en-US" dirty="0"/>
              <a:t>, </a:t>
            </a:r>
            <a:r>
              <a:rPr lang="en-US" dirty="0" err="1"/>
              <a:t>pudiendo</a:t>
            </a:r>
            <a:r>
              <a:rPr lang="en-US" dirty="0"/>
              <a:t> </a:t>
            </a:r>
            <a:r>
              <a:rPr lang="en-US" dirty="0" err="1"/>
              <a:t>así</a:t>
            </a:r>
            <a:r>
              <a:rPr lang="en-US" dirty="0"/>
              <a:t> </a:t>
            </a:r>
            <a:r>
              <a:rPr lang="en-US" dirty="0" err="1"/>
              <a:t>obtener</a:t>
            </a:r>
            <a:r>
              <a:rPr lang="en-US" dirty="0"/>
              <a:t> </a:t>
            </a:r>
            <a:r>
              <a:rPr lang="en-US" dirty="0" err="1"/>
              <a:t>información</a:t>
            </a:r>
            <a:r>
              <a:rPr lang="en-US" dirty="0"/>
              <a:t>. </a:t>
            </a:r>
            <a:endParaRPr lang="es-ES" dirty="0"/>
          </a:p>
        </p:txBody>
      </p:sp>
    </p:spTree>
    <p:extLst>
      <p:ext uri="{BB962C8B-B14F-4D97-AF65-F5344CB8AC3E}">
        <p14:creationId xmlns:p14="http://schemas.microsoft.com/office/powerpoint/2010/main" val="3577319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1278</TotalTime>
  <Words>1691</Words>
  <Application>Microsoft Office PowerPoint</Application>
  <PresentationFormat>Panorámica</PresentationFormat>
  <Paragraphs>197</Paragraphs>
  <Slides>21</Slides>
  <Notes>11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21</vt:i4>
      </vt:variant>
    </vt:vector>
  </HeadingPairs>
  <TitlesOfParts>
    <vt:vector size="30" baseType="lpstr">
      <vt:lpstr>Aptos</vt:lpstr>
      <vt:lpstr>Arial</vt:lpstr>
      <vt:lpstr>Calibri</vt:lpstr>
      <vt:lpstr>Cambria Math</vt:lpstr>
      <vt:lpstr>Consolas</vt:lpstr>
      <vt:lpstr>Courier New</vt:lpstr>
      <vt:lpstr>Lucida Sans</vt:lpstr>
      <vt:lpstr>Wingdings</vt:lpstr>
      <vt:lpstr>Office Theme</vt:lpstr>
      <vt:lpstr>Presentación de PowerPoint</vt:lpstr>
      <vt:lpstr>Instructions General</vt:lpstr>
      <vt:lpstr>ASSESSMENT #1 – Recap from theory – MZI configurations </vt:lpstr>
      <vt:lpstr>AVISO </vt:lpstr>
      <vt:lpstr>Balanced configuration </vt:lpstr>
      <vt:lpstr>Balanced configuration </vt:lpstr>
      <vt:lpstr>Balanced configuration </vt:lpstr>
      <vt:lpstr>Unbalanced configuration –Phase Difference </vt:lpstr>
      <vt:lpstr>Unbalanced configuration –Phase Difference </vt:lpstr>
      <vt:lpstr>Unbalanced configuration –Phase Difference </vt:lpstr>
      <vt:lpstr>Unbalanced configuration –Delay </vt:lpstr>
      <vt:lpstr>ASSESSMENT #2 – Recap from theory – Calculation of ΔL  </vt:lpstr>
      <vt:lpstr>ASSESSMENT #2 – Recap from theory – Calculation of ΔL  </vt:lpstr>
      <vt:lpstr>ASSESSMENT #2 – Recap from theory – Calculation of ΔL  </vt:lpstr>
      <vt:lpstr>ASSESSMENT #2 – Recap from theory – Calculation of ΔL  </vt:lpstr>
      <vt:lpstr>ASSESSMENT #3 – SAX implementation  </vt:lpstr>
      <vt:lpstr>ASSESSMENT #3 – SAX implementation – COMPARACION UNBALNCED DELAY </vt:lpstr>
      <vt:lpstr>Extra assessments </vt:lpstr>
      <vt:lpstr>Extra assessments </vt:lpstr>
      <vt:lpstr>Extra assessments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Roberto José Fernández Sevilla</cp:lastModifiedBy>
  <cp:revision>30</cp:revision>
  <dcterms:created xsi:type="dcterms:W3CDTF">2025-01-27T02:46:57Z</dcterms:created>
  <dcterms:modified xsi:type="dcterms:W3CDTF">2026-03-12T14:03:06Z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