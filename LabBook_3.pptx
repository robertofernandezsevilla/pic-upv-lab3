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8"/>
  </p:notesMasterIdLst>
  <p:handoutMasterIdLst>
    <p:handoutMasterId r:id="rId29"/>
  </p:handoutMasterIdLst>
  <p:sldIdLst>
    <p:sldId id="256" r:id="rId2"/>
    <p:sldId id="289" r:id="rId3"/>
    <p:sldId id="290" r:id="rId4"/>
    <p:sldId id="297" r:id="rId5"/>
    <p:sldId id="300" r:id="rId6"/>
    <p:sldId id="298" r:id="rId7"/>
    <p:sldId id="301" r:id="rId8"/>
    <p:sldId id="299" r:id="rId9"/>
    <p:sldId id="302" r:id="rId10"/>
    <p:sldId id="303" r:id="rId11"/>
    <p:sldId id="304" r:id="rId12"/>
    <p:sldId id="305" r:id="rId13"/>
    <p:sldId id="306" r:id="rId14"/>
    <p:sldId id="307" r:id="rId15"/>
    <p:sldId id="308" r:id="rId16"/>
    <p:sldId id="309" r:id="rId17"/>
    <p:sldId id="310" r:id="rId18"/>
    <p:sldId id="313" r:id="rId19"/>
    <p:sldId id="312" r:id="rId20"/>
    <p:sldId id="295" r:id="rId21"/>
    <p:sldId id="296" r:id="rId22"/>
    <p:sldId id="314" r:id="rId23"/>
    <p:sldId id="293" r:id="rId24"/>
    <p:sldId id="315" r:id="rId25"/>
    <p:sldId id="316" r:id="rId26"/>
    <p:sldId id="288" r:id="rId27"/>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3" d="100"/>
          <a:sy n="83" d="100"/>
        </p:scale>
        <p:origin x="1109" y="77"/>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E33-0F54-BD0D-269E-CB4A54BB747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F1F192B-1372-7B3C-398F-F71A88131E8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71F8CAE-D470-6C1A-E5DB-09105326C23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618B16C-2A36-BC4C-BE7F-CBA7ED27AEEC}"/>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1527005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4E6C5-6855-F1A0-D8D0-56C3AF90C0D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9E5A019-088C-0A7F-9630-07781EE5EAC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773C0A4-7BB0-6298-F2E9-A80EA26537A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3B64994-6E1A-B581-2E34-CA7C3C75CE7E}"/>
              </a:ext>
            </a:extLst>
          </p:cNvPr>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33003303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E23A-4399-03CE-714F-6A674F8DBDA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30F111B-271F-0F28-9580-0B90AA22B0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CB511B8-9B2C-780E-1617-88E5DDF8A0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A018D95-1CD5-F9E8-91F7-49F2D71C996B}"/>
              </a:ext>
            </a:extLst>
          </p:cNvPr>
          <p:cNvSpPr>
            <a:spLocks noGrp="1"/>
          </p:cNvSpPr>
          <p:nvPr>
            <p:ph type="sldNum" sz="quarter" idx="5"/>
          </p:nvPr>
        </p:nvSpPr>
        <p:spPr/>
        <p:txBody>
          <a:bodyPr/>
          <a:lstStyle/>
          <a:p>
            <a:fld id="{676223B9-C868-4436-87D9-1A3152E1157A}" type="slidenum">
              <a:rPr lang="es-ES" smtClean="0"/>
              <a:t>25</a:t>
            </a:fld>
            <a:endParaRPr lang="es-ES"/>
          </a:p>
        </p:txBody>
      </p:sp>
    </p:spTree>
    <p:extLst>
      <p:ext uri="{BB962C8B-B14F-4D97-AF65-F5344CB8AC3E}">
        <p14:creationId xmlns:p14="http://schemas.microsoft.com/office/powerpoint/2010/main" val="12236959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8.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4.sv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svg"/></Relationships>
</file>

<file path=ppt/slides/_rels/slide2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n-US" kern="0" dirty="0">
                <a:solidFill>
                  <a:sysClr val="windowText" lastClr="000000"/>
                </a:solidFill>
              </a:rPr>
              <a:t>Either run locally or at Cloud workspace</a:t>
            </a: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4"/>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5"/>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7"/>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0A4E7C-278E-DB41-DA08-2D377B315B36}"/>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88FD8AAE-A71B-C203-AA72-0036B8056F25}"/>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C5553953-B725-BDD3-8B06-3B007F25DB8F}"/>
              </a:ext>
            </a:extLst>
          </p:cNvPr>
          <p:cNvSpPr>
            <a:spLocks noGrp="1"/>
          </p:cNvSpPr>
          <p:nvPr>
            <p:ph type="sldNum" sz="quarter" idx="7"/>
          </p:nvPr>
        </p:nvSpPr>
        <p:spPr/>
        <p:txBody>
          <a:bodyPr/>
          <a:lstStyle/>
          <a:p>
            <a:fld id="{B6F15528-21DE-4FAA-801E-634DDDAF4B2B}" type="slidenum">
              <a:rPr lang="es-ES" smtClean="0"/>
              <a:t>4</a:t>
            </a:fld>
            <a:endParaRPr lang="es-ES"/>
          </a:p>
        </p:txBody>
      </p:sp>
      <p:pic>
        <p:nvPicPr>
          <p:cNvPr id="7" name="Imagen 6" descr="Gráfico, Gráfico de líneas&#10;&#10;El contenido generado por IA puede ser incorrecto.">
            <a:extLst>
              <a:ext uri="{FF2B5EF4-FFF2-40B4-BE49-F238E27FC236}">
                <a16:creationId xmlns:a16="http://schemas.microsoft.com/office/drawing/2014/main" id="{43F7455F-6149-600B-BDD4-A614B8ED9F56}"/>
              </a:ext>
            </a:extLst>
          </p:cNvPr>
          <p:cNvPicPr>
            <a:picLocks noChangeAspect="1"/>
          </p:cNvPicPr>
          <p:nvPr/>
        </p:nvPicPr>
        <p:blipFill>
          <a:blip r:embed="rId2"/>
          <a:stretch>
            <a:fillRect/>
          </a:stretch>
        </p:blipFill>
        <p:spPr>
          <a:xfrm>
            <a:off x="533400" y="609600"/>
            <a:ext cx="4667901" cy="3743847"/>
          </a:xfrm>
          <a:prstGeom prst="rect">
            <a:avLst/>
          </a:prstGeom>
        </p:spPr>
      </p:pic>
      <p:sp>
        <p:nvSpPr>
          <p:cNvPr id="9" name="CuadroTexto 8">
            <a:extLst>
              <a:ext uri="{FF2B5EF4-FFF2-40B4-BE49-F238E27FC236}">
                <a16:creationId xmlns:a16="http://schemas.microsoft.com/office/drawing/2014/main" id="{A618339F-1EDE-F50C-2117-355861CCF3D9}"/>
              </a:ext>
            </a:extLst>
          </p:cNvPr>
          <p:cNvSpPr txBox="1"/>
          <p:nvPr/>
        </p:nvSpPr>
        <p:spPr>
          <a:xfrm>
            <a:off x="5715000" y="914400"/>
            <a:ext cx="6128326" cy="923330"/>
          </a:xfrm>
          <a:prstGeom prst="rect">
            <a:avLst/>
          </a:prstGeom>
          <a:noFill/>
        </p:spPr>
        <p:txBody>
          <a:bodyPr wrap="square">
            <a:spAutoFit/>
          </a:bodyPr>
          <a:lstStyle/>
          <a:p>
            <a:r>
              <a:rPr lang="en-US" dirty="0"/>
              <a:t>Las </a:t>
            </a:r>
            <a:r>
              <a:rPr lang="en-US" dirty="0" err="1"/>
              <a:t>característica</a:t>
            </a:r>
            <a:r>
              <a:rPr lang="en-US" dirty="0"/>
              <a:t> de </a:t>
            </a:r>
            <a:r>
              <a:rPr lang="en-US" dirty="0" err="1"/>
              <a:t>los</a:t>
            </a:r>
            <a:r>
              <a:rPr lang="en-US" dirty="0"/>
              <a:t> dos </a:t>
            </a:r>
            <a:r>
              <a:rPr lang="en-US" dirty="0" err="1"/>
              <a:t>brazos</a:t>
            </a:r>
            <a:r>
              <a:rPr lang="en-US" dirty="0"/>
              <a:t> son </a:t>
            </a:r>
            <a:r>
              <a:rPr lang="en-US" dirty="0" err="1"/>
              <a:t>iguales</a:t>
            </a:r>
            <a:r>
              <a:rPr lang="en-US" dirty="0"/>
              <a:t>, </a:t>
            </a:r>
            <a:r>
              <a:rPr lang="en-US" dirty="0" err="1"/>
              <a:t>misma</a:t>
            </a:r>
            <a:r>
              <a:rPr lang="en-US" dirty="0"/>
              <a:t> </a:t>
            </a:r>
            <a:r>
              <a:rPr lang="en-US" dirty="0" err="1"/>
              <a:t>longitud</a:t>
            </a:r>
            <a:r>
              <a:rPr lang="en-US" dirty="0"/>
              <a:t> y </a:t>
            </a:r>
            <a:r>
              <a:rPr lang="en-US" dirty="0" err="1"/>
              <a:t>mismo</a:t>
            </a:r>
            <a:r>
              <a:rPr lang="en-US" dirty="0"/>
              <a:t> </a:t>
            </a:r>
            <a:r>
              <a:rPr lang="en-US" dirty="0" err="1"/>
              <a:t>neff</a:t>
            </a:r>
            <a:r>
              <a:rPr lang="en-US" dirty="0"/>
              <a:t>.  Se </a:t>
            </a:r>
            <a:r>
              <a:rPr lang="en-US" dirty="0" err="1"/>
              <a:t>comporta</a:t>
            </a:r>
            <a:r>
              <a:rPr lang="en-US" dirty="0"/>
              <a:t> </a:t>
            </a:r>
            <a:r>
              <a:rPr lang="en-US" dirty="0" err="1"/>
              <a:t>como</a:t>
            </a:r>
            <a:r>
              <a:rPr lang="en-US" dirty="0"/>
              <a:t> </a:t>
            </a:r>
            <a:r>
              <a:rPr lang="en-US" dirty="0" err="1"/>
              <a:t>una</a:t>
            </a:r>
            <a:r>
              <a:rPr lang="en-US" dirty="0"/>
              <a:t> </a:t>
            </a:r>
            <a:r>
              <a:rPr lang="en-US" dirty="0" err="1"/>
              <a:t>guia</a:t>
            </a:r>
            <a:r>
              <a:rPr lang="en-US" dirty="0"/>
              <a:t> recta. Lo </a:t>
            </a:r>
            <a:r>
              <a:rPr lang="en-US" dirty="0" err="1"/>
              <a:t>que</a:t>
            </a:r>
            <a:r>
              <a:rPr lang="en-US" dirty="0"/>
              <a:t> </a:t>
            </a:r>
            <a:r>
              <a:rPr lang="en-US" dirty="0" err="1"/>
              <a:t>entra</a:t>
            </a:r>
            <a:r>
              <a:rPr lang="en-US" dirty="0"/>
              <a:t> sale </a:t>
            </a:r>
            <a:r>
              <a:rPr lang="en-US" dirty="0" err="1"/>
              <a:t>en</a:t>
            </a:r>
            <a:r>
              <a:rPr lang="en-US" dirty="0"/>
              <a:t> bar. </a:t>
            </a:r>
            <a:endParaRPr lang="es-ES" dirty="0"/>
          </a:p>
        </p:txBody>
      </p:sp>
    </p:spTree>
    <p:extLst>
      <p:ext uri="{BB962C8B-B14F-4D97-AF65-F5344CB8AC3E}">
        <p14:creationId xmlns:p14="http://schemas.microsoft.com/office/powerpoint/2010/main" val="24106709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56EDE-87C7-CF19-F9D8-26DA222D85B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F249D62-813C-BB9A-7FE4-0EBB5E40B81C}"/>
              </a:ext>
            </a:extLst>
          </p:cNvPr>
          <p:cNvSpPr>
            <a:spLocks noGrp="1"/>
          </p:cNvSpPr>
          <p:nvPr>
            <p:ph type="title"/>
          </p:nvPr>
        </p:nvSpPr>
        <p:spPr/>
        <p:txBody>
          <a:bodyPr/>
          <a:lstStyle/>
          <a:p>
            <a:r>
              <a:rPr lang="es-ES" dirty="0" err="1"/>
              <a:t>Balanced</a:t>
            </a:r>
            <a:r>
              <a:rPr lang="es-ES" dirty="0"/>
              <a:t> </a:t>
            </a:r>
            <a:r>
              <a:rPr lang="es-ES" dirty="0" err="1"/>
              <a:t>configuration</a:t>
            </a:r>
            <a:r>
              <a:rPr lang="es-ES" dirty="0"/>
              <a:t> – Pérdidas variando la longitud y manteniendo las pérdidas de propagación </a:t>
            </a:r>
          </a:p>
        </p:txBody>
      </p:sp>
      <p:sp>
        <p:nvSpPr>
          <p:cNvPr id="4" name="Marcador de pie de página 3">
            <a:extLst>
              <a:ext uri="{FF2B5EF4-FFF2-40B4-BE49-F238E27FC236}">
                <a16:creationId xmlns:a16="http://schemas.microsoft.com/office/drawing/2014/main" id="{1A43F933-0C01-EFBF-A9FE-E20769F02332}"/>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279ECCD8-3ED1-97E8-758C-7195F2010442}"/>
              </a:ext>
            </a:extLst>
          </p:cNvPr>
          <p:cNvSpPr>
            <a:spLocks noGrp="1"/>
          </p:cNvSpPr>
          <p:nvPr>
            <p:ph type="sldNum" sz="quarter" idx="7"/>
          </p:nvPr>
        </p:nvSpPr>
        <p:spPr/>
        <p:txBody>
          <a:bodyPr/>
          <a:lstStyle/>
          <a:p>
            <a:fld id="{B6F15528-21DE-4FAA-801E-634DDDAF4B2B}" type="slidenum">
              <a:rPr lang="es-ES" smtClean="0"/>
              <a:t>5</a:t>
            </a:fld>
            <a:endParaRPr lang="es-ES"/>
          </a:p>
        </p:txBody>
      </p:sp>
      <p:pic>
        <p:nvPicPr>
          <p:cNvPr id="7" name="Imagen 6">
            <a:extLst>
              <a:ext uri="{FF2B5EF4-FFF2-40B4-BE49-F238E27FC236}">
                <a16:creationId xmlns:a16="http://schemas.microsoft.com/office/drawing/2014/main" id="{1C0F582C-54CB-717B-1596-1631BEE69AA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33401" y="618167"/>
            <a:ext cx="3733800" cy="2980956"/>
          </a:xfrm>
          <a:prstGeom prst="rect">
            <a:avLst/>
          </a:prstGeom>
        </p:spPr>
      </p:pic>
      <p:sp>
        <p:nvSpPr>
          <p:cNvPr id="9" name="CuadroTexto 8">
            <a:extLst>
              <a:ext uri="{FF2B5EF4-FFF2-40B4-BE49-F238E27FC236}">
                <a16:creationId xmlns:a16="http://schemas.microsoft.com/office/drawing/2014/main" id="{B599BE8A-B4DD-CDC5-1F7F-80D4F1086F60}"/>
              </a:ext>
            </a:extLst>
          </p:cNvPr>
          <p:cNvSpPr txBox="1"/>
          <p:nvPr/>
        </p:nvSpPr>
        <p:spPr>
          <a:xfrm>
            <a:off x="4585394" y="762000"/>
            <a:ext cx="6128326" cy="923330"/>
          </a:xfrm>
          <a:prstGeom prst="rect">
            <a:avLst/>
          </a:prstGeom>
          <a:noFill/>
        </p:spPr>
        <p:txBody>
          <a:bodyPr wrap="square">
            <a:spAutoFit/>
          </a:bodyPr>
          <a:lstStyle/>
          <a:p>
            <a:r>
              <a:rPr lang="en-US" dirty="0"/>
              <a:t>Al </a:t>
            </a:r>
            <a:r>
              <a:rPr lang="en-US" dirty="0" err="1"/>
              <a:t>introducir</a:t>
            </a:r>
            <a:r>
              <a:rPr lang="en-US" dirty="0"/>
              <a:t> </a:t>
            </a:r>
            <a:r>
              <a:rPr lang="en-US" dirty="0" err="1"/>
              <a:t>pérdidas</a:t>
            </a:r>
            <a:r>
              <a:rPr lang="en-US" dirty="0"/>
              <a:t>, </a:t>
            </a:r>
            <a:r>
              <a:rPr lang="en-US" dirty="0" err="1"/>
              <a:t>claramente</a:t>
            </a:r>
            <a:r>
              <a:rPr lang="en-US" dirty="0"/>
              <a:t> baja la </a:t>
            </a:r>
            <a:r>
              <a:rPr lang="en-US" dirty="0" err="1"/>
              <a:t>potencia</a:t>
            </a:r>
            <a:r>
              <a:rPr lang="en-US" dirty="0"/>
              <a:t> de </a:t>
            </a:r>
            <a:r>
              <a:rPr lang="en-US" dirty="0" err="1"/>
              <a:t>salida</a:t>
            </a:r>
            <a:r>
              <a:rPr lang="en-US" dirty="0"/>
              <a:t>,</a:t>
            </a:r>
          </a:p>
          <a:p>
            <a:r>
              <a:rPr lang="en-US" dirty="0" err="1"/>
              <a:t>como</a:t>
            </a:r>
            <a:r>
              <a:rPr lang="en-US" dirty="0"/>
              <a:t> Podemos </a:t>
            </a:r>
            <a:r>
              <a:rPr lang="en-US" dirty="0" err="1"/>
              <a:t>ver</a:t>
            </a:r>
            <a:r>
              <a:rPr lang="en-US" dirty="0"/>
              <a:t> </a:t>
            </a:r>
            <a:r>
              <a:rPr lang="en-US" dirty="0" err="1"/>
              <a:t>en</a:t>
            </a:r>
            <a:r>
              <a:rPr lang="en-US" dirty="0"/>
              <a:t> </a:t>
            </a:r>
            <a:r>
              <a:rPr lang="en-US" dirty="0" err="1"/>
              <a:t>el</a:t>
            </a:r>
            <a:r>
              <a:rPr lang="en-US" dirty="0"/>
              <a:t> </a:t>
            </a:r>
            <a:r>
              <a:rPr lang="en-US" dirty="0" err="1"/>
              <a:t>ejemplo</a:t>
            </a:r>
            <a:r>
              <a:rPr lang="en-US" dirty="0"/>
              <a:t> para 25um y 0.05dB/um de </a:t>
            </a:r>
            <a:r>
              <a:rPr lang="en-US" dirty="0" err="1"/>
              <a:t>pérdidas</a:t>
            </a:r>
            <a:r>
              <a:rPr lang="en-US" dirty="0"/>
              <a:t> de </a:t>
            </a:r>
            <a:r>
              <a:rPr lang="en-US" dirty="0" err="1"/>
              <a:t>propagación</a:t>
            </a:r>
            <a:r>
              <a:rPr lang="en-US" dirty="0"/>
              <a:t>. </a:t>
            </a:r>
          </a:p>
        </p:txBody>
      </p:sp>
      <p:pic>
        <p:nvPicPr>
          <p:cNvPr id="6" name="Imagen 5" descr="Gráfico, Gráfico de líneas&#10;&#10;El contenido generado por IA puede ser incorrecto.">
            <a:extLst>
              <a:ext uri="{FF2B5EF4-FFF2-40B4-BE49-F238E27FC236}">
                <a16:creationId xmlns:a16="http://schemas.microsoft.com/office/drawing/2014/main" id="{DD9C5E92-3E84-8ECB-8971-ED1FF7508903}"/>
              </a:ext>
            </a:extLst>
          </p:cNvPr>
          <p:cNvPicPr>
            <a:picLocks noChangeAspect="1"/>
          </p:cNvPicPr>
          <p:nvPr/>
        </p:nvPicPr>
        <p:blipFill>
          <a:blip r:embed="rId3"/>
          <a:stretch>
            <a:fillRect/>
          </a:stretch>
        </p:blipFill>
        <p:spPr>
          <a:xfrm>
            <a:off x="607291" y="3701155"/>
            <a:ext cx="3722372" cy="2980955"/>
          </a:xfrm>
          <a:prstGeom prst="rect">
            <a:avLst/>
          </a:prstGeom>
        </p:spPr>
      </p:pic>
      <p:sp>
        <p:nvSpPr>
          <p:cNvPr id="10" name="CuadroTexto 9">
            <a:extLst>
              <a:ext uri="{FF2B5EF4-FFF2-40B4-BE49-F238E27FC236}">
                <a16:creationId xmlns:a16="http://schemas.microsoft.com/office/drawing/2014/main" id="{D7C18C43-9AF6-EC8D-636E-64BD0AFC6823}"/>
              </a:ext>
            </a:extLst>
          </p:cNvPr>
          <p:cNvSpPr txBox="1"/>
          <p:nvPr/>
        </p:nvSpPr>
        <p:spPr>
          <a:xfrm>
            <a:off x="4798176" y="3701155"/>
            <a:ext cx="6128326" cy="923330"/>
          </a:xfrm>
          <a:prstGeom prst="rect">
            <a:avLst/>
          </a:prstGeom>
          <a:noFill/>
        </p:spPr>
        <p:txBody>
          <a:bodyPr wrap="square">
            <a:spAutoFit/>
          </a:bodyPr>
          <a:lstStyle/>
          <a:p>
            <a:r>
              <a:rPr lang="en-US" dirty="0"/>
              <a:t>Al </a:t>
            </a:r>
            <a:r>
              <a:rPr lang="en-US" dirty="0" err="1"/>
              <a:t>introducir</a:t>
            </a:r>
            <a:r>
              <a:rPr lang="en-US" dirty="0"/>
              <a:t> </a:t>
            </a:r>
            <a:r>
              <a:rPr lang="en-US" dirty="0" err="1"/>
              <a:t>pérdidas</a:t>
            </a:r>
            <a:r>
              <a:rPr lang="en-US" dirty="0"/>
              <a:t>, </a:t>
            </a:r>
            <a:r>
              <a:rPr lang="en-US" dirty="0" err="1"/>
              <a:t>claramente</a:t>
            </a:r>
            <a:r>
              <a:rPr lang="en-US" dirty="0"/>
              <a:t> baja la </a:t>
            </a:r>
            <a:r>
              <a:rPr lang="en-US" dirty="0" err="1"/>
              <a:t>potencia</a:t>
            </a:r>
            <a:r>
              <a:rPr lang="en-US" dirty="0"/>
              <a:t> de </a:t>
            </a:r>
            <a:r>
              <a:rPr lang="en-US" dirty="0" err="1"/>
              <a:t>salida</a:t>
            </a:r>
            <a:r>
              <a:rPr lang="en-US" dirty="0"/>
              <a:t>,</a:t>
            </a:r>
          </a:p>
          <a:p>
            <a:r>
              <a:rPr lang="en-US" dirty="0" err="1"/>
              <a:t>como</a:t>
            </a:r>
            <a:r>
              <a:rPr lang="en-US" dirty="0"/>
              <a:t> Podemos </a:t>
            </a:r>
            <a:r>
              <a:rPr lang="en-US" dirty="0" err="1"/>
              <a:t>ver</a:t>
            </a:r>
            <a:r>
              <a:rPr lang="en-US" dirty="0"/>
              <a:t> </a:t>
            </a:r>
            <a:r>
              <a:rPr lang="en-US" dirty="0" err="1"/>
              <a:t>en</a:t>
            </a:r>
            <a:r>
              <a:rPr lang="en-US" dirty="0"/>
              <a:t> </a:t>
            </a:r>
            <a:r>
              <a:rPr lang="en-US" dirty="0" err="1"/>
              <a:t>el</a:t>
            </a:r>
            <a:r>
              <a:rPr lang="en-US" dirty="0"/>
              <a:t> </a:t>
            </a:r>
            <a:r>
              <a:rPr lang="en-US" dirty="0" err="1"/>
              <a:t>ejemplo</a:t>
            </a:r>
            <a:r>
              <a:rPr lang="en-US" dirty="0"/>
              <a:t> para 5um y 0.05dB/um de </a:t>
            </a:r>
            <a:r>
              <a:rPr lang="en-US" dirty="0" err="1"/>
              <a:t>pérdidas</a:t>
            </a:r>
            <a:r>
              <a:rPr lang="en-US" dirty="0"/>
              <a:t> de </a:t>
            </a:r>
            <a:r>
              <a:rPr lang="en-US" dirty="0" err="1"/>
              <a:t>propagación</a:t>
            </a:r>
            <a:r>
              <a:rPr lang="en-US" dirty="0"/>
              <a:t>. </a:t>
            </a:r>
          </a:p>
        </p:txBody>
      </p:sp>
    </p:spTree>
    <p:extLst>
      <p:ext uri="{BB962C8B-B14F-4D97-AF65-F5344CB8AC3E}">
        <p14:creationId xmlns:p14="http://schemas.microsoft.com/office/powerpoint/2010/main" val="38010397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112E3-AEBE-22EF-5A09-D974C5ABBEA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0A0F3D2-5E16-22F4-CA3C-789F09AF51B2}"/>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CE8D12D6-BF52-CF98-5E51-73E29C4DE096}"/>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FCC4CFB9-8F3C-E738-5D0F-365052DF47D0}"/>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7" name="Imagen 6">
            <a:extLst>
              <a:ext uri="{FF2B5EF4-FFF2-40B4-BE49-F238E27FC236}">
                <a16:creationId xmlns:a16="http://schemas.microsoft.com/office/drawing/2014/main" id="{E6663471-EBAB-E164-7428-6C136D3ADB2E}"/>
              </a:ext>
            </a:extLst>
          </p:cNvPr>
          <p:cNvPicPr>
            <a:picLocks noChangeAspect="1"/>
          </p:cNvPicPr>
          <p:nvPr/>
        </p:nvPicPr>
        <p:blipFill>
          <a:blip r:embed="rId2">
            <a:extLst>
              <a:ext uri="{28A0092B-C50C-407E-A947-70E740481C1C}">
                <a14:useLocalDpi xmlns:a14="http://schemas.microsoft.com/office/drawing/2010/main" val="0"/>
              </a:ext>
            </a:extLst>
          </a:blip>
          <a:srcRect l="78" r="78"/>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EE847FBF-BE40-171E-99DB-9DDABEC42488}"/>
              </a:ext>
            </a:extLst>
          </p:cNvPr>
          <p:cNvSpPr txBox="1"/>
          <p:nvPr/>
        </p:nvSpPr>
        <p:spPr>
          <a:xfrm>
            <a:off x="5715000" y="914400"/>
            <a:ext cx="6128326" cy="2308324"/>
          </a:xfrm>
          <a:prstGeom prst="rect">
            <a:avLst/>
          </a:prstGeom>
          <a:noFill/>
        </p:spPr>
        <p:txBody>
          <a:bodyPr wrap="square">
            <a:spAutoFit/>
          </a:bodyPr>
          <a:lstStyle/>
          <a:p>
            <a:r>
              <a:rPr lang="en-US" dirty="0"/>
              <a:t>Al </a:t>
            </a:r>
            <a:r>
              <a:rPr lang="en-US" dirty="0" err="1"/>
              <a:t>variar</a:t>
            </a:r>
            <a:r>
              <a:rPr lang="en-US" dirty="0"/>
              <a:t> </a:t>
            </a:r>
            <a:r>
              <a:rPr lang="en-US" dirty="0" err="1"/>
              <a:t>el</a:t>
            </a:r>
            <a:r>
              <a:rPr lang="en-US" dirty="0"/>
              <a:t> </a:t>
            </a:r>
            <a:r>
              <a:rPr lang="en-US" dirty="0" err="1"/>
              <a:t>índice</a:t>
            </a:r>
            <a:r>
              <a:rPr lang="en-US" dirty="0"/>
              <a:t> </a:t>
            </a:r>
            <a:r>
              <a:rPr lang="en-US" dirty="0" err="1"/>
              <a:t>efectivo</a:t>
            </a:r>
            <a:r>
              <a:rPr lang="en-US" dirty="0"/>
              <a:t>, la </a:t>
            </a:r>
            <a:r>
              <a:rPr lang="en-US" dirty="0" err="1"/>
              <a:t>propagación</a:t>
            </a:r>
            <a:r>
              <a:rPr lang="en-US" dirty="0"/>
              <a:t> varia, lo </a:t>
            </a:r>
            <a:r>
              <a:rPr lang="en-US" dirty="0" err="1"/>
              <a:t>que</a:t>
            </a:r>
            <a:r>
              <a:rPr lang="en-US" dirty="0"/>
              <a:t> da </a:t>
            </a:r>
            <a:r>
              <a:rPr lang="en-US" dirty="0" err="1"/>
              <a:t>como</a:t>
            </a:r>
            <a:r>
              <a:rPr lang="en-US" dirty="0"/>
              <a:t> </a:t>
            </a:r>
            <a:r>
              <a:rPr lang="en-US" dirty="0" err="1"/>
              <a:t>resultado</a:t>
            </a:r>
            <a:r>
              <a:rPr lang="en-US" dirty="0"/>
              <a:t>  </a:t>
            </a:r>
            <a:r>
              <a:rPr lang="en-US" dirty="0" err="1"/>
              <a:t>que</a:t>
            </a:r>
            <a:r>
              <a:rPr lang="en-US" dirty="0"/>
              <a:t> </a:t>
            </a:r>
            <a:r>
              <a:rPr lang="en-US" dirty="0" err="1"/>
              <a:t>lleguen</a:t>
            </a:r>
            <a:r>
              <a:rPr lang="en-US" dirty="0"/>
              <a:t> con </a:t>
            </a:r>
            <a:r>
              <a:rPr lang="en-US" dirty="0" err="1"/>
              <a:t>una</a:t>
            </a:r>
            <a:r>
              <a:rPr lang="en-US" dirty="0"/>
              <a:t> </a:t>
            </a:r>
            <a:r>
              <a:rPr lang="en-US" dirty="0" err="1"/>
              <a:t>fase</a:t>
            </a:r>
            <a:r>
              <a:rPr lang="en-US" dirty="0"/>
              <a:t> </a:t>
            </a:r>
            <a:r>
              <a:rPr lang="en-US" dirty="0" err="1"/>
              <a:t>distinta</a:t>
            </a:r>
            <a:r>
              <a:rPr lang="en-US" dirty="0"/>
              <a:t> a la hora de </a:t>
            </a:r>
            <a:r>
              <a:rPr lang="en-US" dirty="0" err="1"/>
              <a:t>recombinarse</a:t>
            </a:r>
            <a:r>
              <a:rPr lang="en-US" dirty="0"/>
              <a:t>. Como la </a:t>
            </a:r>
            <a:r>
              <a:rPr lang="en-US" dirty="0" err="1"/>
              <a:t>propagación</a:t>
            </a:r>
            <a:r>
              <a:rPr lang="en-US" dirty="0"/>
              <a:t> </a:t>
            </a:r>
            <a:r>
              <a:rPr lang="en-US" dirty="0" err="1"/>
              <a:t>depende</a:t>
            </a:r>
            <a:r>
              <a:rPr lang="en-US" dirty="0"/>
              <a:t> también de la longitude de </a:t>
            </a:r>
            <a:r>
              <a:rPr lang="en-US" dirty="0" err="1"/>
              <a:t>onda</a:t>
            </a:r>
            <a:r>
              <a:rPr lang="en-US" dirty="0"/>
              <a:t> Podemos </a:t>
            </a:r>
            <a:r>
              <a:rPr lang="en-US" dirty="0" err="1"/>
              <a:t>ver</a:t>
            </a:r>
            <a:r>
              <a:rPr lang="en-US" dirty="0"/>
              <a:t> </a:t>
            </a:r>
            <a:r>
              <a:rPr lang="en-US" dirty="0" err="1"/>
              <a:t>como</a:t>
            </a:r>
            <a:r>
              <a:rPr lang="en-US" dirty="0"/>
              <a:t> varia </a:t>
            </a:r>
            <a:r>
              <a:rPr lang="en-US" dirty="0" err="1"/>
              <a:t>el</a:t>
            </a:r>
            <a:r>
              <a:rPr lang="en-US" dirty="0"/>
              <a:t> cross y bar a lo largo de la </a:t>
            </a:r>
            <a:r>
              <a:rPr lang="en-US" dirty="0" err="1"/>
              <a:t>gráfica</a:t>
            </a:r>
            <a:r>
              <a:rPr lang="en-US" dirty="0"/>
              <a:t>. </a:t>
            </a:r>
          </a:p>
          <a:p>
            <a:endParaRPr lang="en-US" dirty="0"/>
          </a:p>
          <a:p>
            <a:r>
              <a:rPr lang="en-US" dirty="0"/>
              <a:t>La </a:t>
            </a:r>
            <a:r>
              <a:rPr lang="en-US" dirty="0" err="1"/>
              <a:t>diferencia</a:t>
            </a:r>
            <a:r>
              <a:rPr lang="en-US" dirty="0"/>
              <a:t> de </a:t>
            </a:r>
            <a:r>
              <a:rPr lang="en-US" dirty="0" err="1"/>
              <a:t>indice</a:t>
            </a:r>
            <a:r>
              <a:rPr lang="en-US" dirty="0"/>
              <a:t> </a:t>
            </a:r>
            <a:r>
              <a:rPr lang="en-US" dirty="0" err="1"/>
              <a:t>efectivo</a:t>
            </a:r>
            <a:r>
              <a:rPr lang="en-US" dirty="0"/>
              <a:t> de </a:t>
            </a:r>
            <a:r>
              <a:rPr lang="en-US" dirty="0" err="1"/>
              <a:t>cada</a:t>
            </a:r>
            <a:r>
              <a:rPr lang="en-US" dirty="0"/>
              <a:t> </a:t>
            </a:r>
            <a:r>
              <a:rPr lang="en-US" dirty="0" err="1"/>
              <a:t>guia</a:t>
            </a:r>
            <a:r>
              <a:rPr lang="en-US" dirty="0"/>
              <a:t> se ha </a:t>
            </a:r>
            <a:r>
              <a:rPr lang="en-US" dirty="0" err="1"/>
              <a:t>realizado</a:t>
            </a:r>
            <a:endParaRPr lang="en-US" dirty="0"/>
          </a:p>
          <a:p>
            <a:r>
              <a:rPr lang="en-US" dirty="0" err="1"/>
              <a:t>añadiéndole</a:t>
            </a:r>
            <a:r>
              <a:rPr lang="en-US" dirty="0"/>
              <a:t> un </a:t>
            </a:r>
            <a:r>
              <a:rPr lang="en-US" dirty="0" err="1"/>
              <a:t>pequeño</a:t>
            </a:r>
            <a:r>
              <a:rPr lang="en-US" dirty="0"/>
              <a:t> </a:t>
            </a:r>
            <a:r>
              <a:rPr lang="en-US" dirty="0" err="1"/>
              <a:t>incremento</a:t>
            </a:r>
            <a:r>
              <a:rPr lang="en-US" dirty="0"/>
              <a:t> a la </a:t>
            </a:r>
            <a:r>
              <a:rPr lang="en-US" dirty="0" err="1"/>
              <a:t>guia</a:t>
            </a:r>
            <a:r>
              <a:rPr lang="en-US" dirty="0"/>
              <a:t> de </a:t>
            </a:r>
            <a:r>
              <a:rPr lang="en-US" dirty="0" err="1"/>
              <a:t>abajo</a:t>
            </a:r>
            <a:r>
              <a:rPr lang="en-US" dirty="0"/>
              <a:t>.</a:t>
            </a:r>
            <a:endParaRPr lang="es-ES" dirty="0"/>
          </a:p>
        </p:txBody>
      </p:sp>
      <p:pic>
        <p:nvPicPr>
          <p:cNvPr id="6" name="Imagen 5">
            <a:extLst>
              <a:ext uri="{FF2B5EF4-FFF2-40B4-BE49-F238E27FC236}">
                <a16:creationId xmlns:a16="http://schemas.microsoft.com/office/drawing/2014/main" id="{1DEEC6BB-3434-1E7E-74DD-EC9B72FF6222}"/>
              </a:ext>
            </a:extLst>
          </p:cNvPr>
          <p:cNvPicPr>
            <a:picLocks noChangeAspect="1"/>
          </p:cNvPicPr>
          <p:nvPr/>
        </p:nvPicPr>
        <p:blipFill>
          <a:blip r:embed="rId3"/>
          <a:stretch>
            <a:fillRect/>
          </a:stretch>
        </p:blipFill>
        <p:spPr>
          <a:xfrm>
            <a:off x="5867400" y="3305157"/>
            <a:ext cx="1486107" cy="247685"/>
          </a:xfrm>
          <a:prstGeom prst="rect">
            <a:avLst/>
          </a:prstGeom>
        </p:spPr>
      </p:pic>
    </p:spTree>
    <p:extLst>
      <p:ext uri="{BB962C8B-B14F-4D97-AF65-F5344CB8AC3E}">
        <p14:creationId xmlns:p14="http://schemas.microsoft.com/office/powerpoint/2010/main" val="26342965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F6C-0F5A-388E-D312-EAB4868C7FF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58E604A-5803-8D4B-D935-E9F91CFA27DF}"/>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 pérdidas por exceso de 0.075 </a:t>
            </a:r>
          </a:p>
        </p:txBody>
      </p:sp>
      <p:sp>
        <p:nvSpPr>
          <p:cNvPr id="4" name="Marcador de pie de página 3">
            <a:extLst>
              <a:ext uri="{FF2B5EF4-FFF2-40B4-BE49-F238E27FC236}">
                <a16:creationId xmlns:a16="http://schemas.microsoft.com/office/drawing/2014/main" id="{4C6B85E9-AD4C-6177-A25C-27E82FE225E6}"/>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EE06614-8978-A986-9FDD-E1FA701274A2}"/>
              </a:ext>
            </a:extLst>
          </p:cNvPr>
          <p:cNvSpPr>
            <a:spLocks noGrp="1"/>
          </p:cNvSpPr>
          <p:nvPr>
            <p:ph type="sldNum" sz="quarter" idx="7"/>
          </p:nvPr>
        </p:nvSpPr>
        <p:spPr/>
        <p:txBody>
          <a:bodyPr/>
          <a:lstStyle/>
          <a:p>
            <a:fld id="{B6F15528-21DE-4FAA-801E-634DDDAF4B2B}" type="slidenum">
              <a:rPr lang="es-ES" smtClean="0"/>
              <a:t>7</a:t>
            </a:fld>
            <a:endParaRPr lang="es-ES"/>
          </a:p>
        </p:txBody>
      </p:sp>
      <p:pic>
        <p:nvPicPr>
          <p:cNvPr id="7" name="Imagen 6">
            <a:extLst>
              <a:ext uri="{FF2B5EF4-FFF2-40B4-BE49-F238E27FC236}">
                <a16:creationId xmlns:a16="http://schemas.microsoft.com/office/drawing/2014/main" id="{19AE03EC-DAAF-758E-E062-E2E857672B14}"/>
              </a:ext>
            </a:extLst>
          </p:cNvPr>
          <p:cNvPicPr>
            <a:picLocks noChangeAspect="1"/>
          </p:cNvPicPr>
          <p:nvPr/>
        </p:nvPicPr>
        <p:blipFill>
          <a:blip r:embed="rId2">
            <a:extLst>
              <a:ext uri="{28A0092B-C50C-407E-A947-70E740481C1C}">
                <a14:useLocalDpi xmlns:a14="http://schemas.microsoft.com/office/drawing/2010/main" val="0"/>
              </a:ext>
            </a:extLst>
          </a:blip>
          <a:srcRect l="1071" r="1071"/>
          <a:stretch/>
        </p:blipFill>
        <p:spPr>
          <a:xfrm>
            <a:off x="590550" y="422560"/>
            <a:ext cx="3352800" cy="2689082"/>
          </a:xfrm>
          <a:prstGeom prst="rect">
            <a:avLst/>
          </a:prstGeom>
        </p:spPr>
      </p:pic>
      <p:pic>
        <p:nvPicPr>
          <p:cNvPr id="11" name="Imagen 10" descr="Gráfico, Gráfico de líneas&#10;&#10;El contenido generado por IA puede ser incorrecto.">
            <a:extLst>
              <a:ext uri="{FF2B5EF4-FFF2-40B4-BE49-F238E27FC236}">
                <a16:creationId xmlns:a16="http://schemas.microsoft.com/office/drawing/2014/main" id="{0DAAE265-FF7B-996E-169A-FA45701F2F24}"/>
              </a:ext>
            </a:extLst>
          </p:cNvPr>
          <p:cNvPicPr>
            <a:picLocks noChangeAspect="1"/>
          </p:cNvPicPr>
          <p:nvPr/>
        </p:nvPicPr>
        <p:blipFill>
          <a:blip r:embed="rId3"/>
          <a:stretch>
            <a:fillRect/>
          </a:stretch>
        </p:blipFill>
        <p:spPr>
          <a:xfrm>
            <a:off x="641927" y="3111642"/>
            <a:ext cx="3352800" cy="2606987"/>
          </a:xfrm>
          <a:prstGeom prst="rect">
            <a:avLst/>
          </a:prstGeom>
        </p:spPr>
      </p:pic>
      <p:sp>
        <p:nvSpPr>
          <p:cNvPr id="13" name="CuadroTexto 12">
            <a:extLst>
              <a:ext uri="{FF2B5EF4-FFF2-40B4-BE49-F238E27FC236}">
                <a16:creationId xmlns:a16="http://schemas.microsoft.com/office/drawing/2014/main" id="{9D539EEC-CC73-CA99-8225-EC5B6D142530}"/>
              </a:ext>
            </a:extLst>
          </p:cNvPr>
          <p:cNvSpPr txBox="1"/>
          <p:nvPr/>
        </p:nvSpPr>
        <p:spPr>
          <a:xfrm>
            <a:off x="4596939" y="2497520"/>
            <a:ext cx="6128326" cy="646331"/>
          </a:xfrm>
          <a:prstGeom prst="rect">
            <a:avLst/>
          </a:prstGeom>
          <a:noFill/>
        </p:spPr>
        <p:txBody>
          <a:bodyPr wrap="square">
            <a:spAutoFit/>
          </a:bodyPr>
          <a:lstStyle/>
          <a:p>
            <a:r>
              <a:rPr lang="en-US" dirty="0" err="1"/>
              <a:t>Variando</a:t>
            </a:r>
            <a:r>
              <a:rPr lang="en-US" dirty="0"/>
              <a:t> las </a:t>
            </a:r>
            <a:r>
              <a:rPr lang="en-US" dirty="0" err="1"/>
              <a:t>pérdidas</a:t>
            </a:r>
            <a:r>
              <a:rPr lang="en-US" dirty="0"/>
              <a:t> de </a:t>
            </a:r>
            <a:r>
              <a:rPr lang="en-US" dirty="0" err="1"/>
              <a:t>exceso</a:t>
            </a:r>
            <a:r>
              <a:rPr lang="en-US" dirty="0"/>
              <a:t>, entre 0.05 y 0.1 </a:t>
            </a:r>
            <a:r>
              <a:rPr lang="en-US" dirty="0" err="1"/>
              <a:t>vemos</a:t>
            </a:r>
            <a:r>
              <a:rPr lang="en-US" dirty="0"/>
              <a:t> </a:t>
            </a:r>
            <a:r>
              <a:rPr lang="en-US" dirty="0" err="1"/>
              <a:t>que</a:t>
            </a:r>
            <a:r>
              <a:rPr lang="en-US" dirty="0"/>
              <a:t> la </a:t>
            </a:r>
            <a:r>
              <a:rPr lang="en-US" dirty="0" err="1"/>
              <a:t>potencia</a:t>
            </a:r>
            <a:r>
              <a:rPr lang="en-US" dirty="0"/>
              <a:t> de </a:t>
            </a:r>
            <a:r>
              <a:rPr lang="en-US" dirty="0" err="1"/>
              <a:t>salida</a:t>
            </a:r>
            <a:r>
              <a:rPr lang="en-US" dirty="0"/>
              <a:t> </a:t>
            </a:r>
            <a:r>
              <a:rPr lang="en-US" dirty="0" err="1"/>
              <a:t>va</a:t>
            </a:r>
            <a:r>
              <a:rPr lang="en-US" dirty="0"/>
              <a:t> </a:t>
            </a:r>
            <a:r>
              <a:rPr lang="en-US" dirty="0" err="1"/>
              <a:t>dejadno</a:t>
            </a:r>
            <a:r>
              <a:rPr lang="en-US" dirty="0"/>
              <a:t> de </a:t>
            </a:r>
            <a:r>
              <a:rPr lang="en-US" dirty="0" err="1"/>
              <a:t>sumar</a:t>
            </a:r>
            <a:r>
              <a:rPr lang="en-US" dirty="0"/>
              <a:t> 1.</a:t>
            </a:r>
            <a:endParaRPr lang="es-ES" dirty="0"/>
          </a:p>
        </p:txBody>
      </p:sp>
    </p:spTree>
    <p:extLst>
      <p:ext uri="{BB962C8B-B14F-4D97-AF65-F5344CB8AC3E}">
        <p14:creationId xmlns:p14="http://schemas.microsoft.com/office/powerpoint/2010/main" val="23532619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A11A2-9800-5184-C93E-0AFF72785D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D0E60C-D7A4-8418-D3F2-53ABA10FF7DB}"/>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a:t>
            </a:r>
          </a:p>
        </p:txBody>
      </p:sp>
      <p:sp>
        <p:nvSpPr>
          <p:cNvPr id="4" name="Marcador de pie de página 3">
            <a:extLst>
              <a:ext uri="{FF2B5EF4-FFF2-40B4-BE49-F238E27FC236}">
                <a16:creationId xmlns:a16="http://schemas.microsoft.com/office/drawing/2014/main" id="{540CF40C-4100-3EFB-3E58-D0A221370D7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4E2E78C5-06C4-76CD-5975-2D5D7E27CBD5}"/>
              </a:ext>
            </a:extLst>
          </p:cNvPr>
          <p:cNvSpPr>
            <a:spLocks noGrp="1"/>
          </p:cNvSpPr>
          <p:nvPr>
            <p:ph type="sldNum" sz="quarter" idx="7"/>
          </p:nvPr>
        </p:nvSpPr>
        <p:spPr/>
        <p:txBody>
          <a:bodyPr/>
          <a:lstStyle/>
          <a:p>
            <a:fld id="{B6F15528-21DE-4FAA-801E-634DDDAF4B2B}" type="slidenum">
              <a:rPr lang="es-ES" smtClean="0"/>
              <a:t>8</a:t>
            </a:fld>
            <a:endParaRPr lang="es-ES"/>
          </a:p>
        </p:txBody>
      </p:sp>
      <p:pic>
        <p:nvPicPr>
          <p:cNvPr id="7" name="Imagen 6">
            <a:extLst>
              <a:ext uri="{FF2B5EF4-FFF2-40B4-BE49-F238E27FC236}">
                <a16:creationId xmlns:a16="http://schemas.microsoft.com/office/drawing/2014/main" id="{46EDE371-EA75-D526-7875-513F25764F73}"/>
              </a:ext>
            </a:extLst>
          </p:cNvPr>
          <p:cNvPicPr>
            <a:picLocks noChangeAspect="1"/>
          </p:cNvPicPr>
          <p:nvPr/>
        </p:nvPicPr>
        <p:blipFill>
          <a:blip r:embed="rId2">
            <a:extLst>
              <a:ext uri="{28A0092B-C50C-407E-A947-70E740481C1C}">
                <a14:useLocalDpi xmlns:a14="http://schemas.microsoft.com/office/drawing/2010/main" val="0"/>
              </a:ext>
            </a:extLst>
          </a:blip>
          <a:srcRect l="153" r="153"/>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C0574A49-D754-68D7-4EED-2B33987C76AA}"/>
              </a:ext>
            </a:extLst>
          </p:cNvPr>
          <p:cNvSpPr txBox="1"/>
          <p:nvPr/>
        </p:nvSpPr>
        <p:spPr>
          <a:xfrm>
            <a:off x="5715000" y="914400"/>
            <a:ext cx="6128326" cy="923330"/>
          </a:xfrm>
          <a:prstGeom prst="rect">
            <a:avLst/>
          </a:prstGeom>
          <a:noFill/>
        </p:spPr>
        <p:txBody>
          <a:bodyPr wrap="square">
            <a:spAutoFit/>
          </a:bodyPr>
          <a:lstStyle/>
          <a:p>
            <a:r>
              <a:rPr lang="en-US" dirty="0"/>
              <a:t>Al </a:t>
            </a:r>
            <a:r>
              <a:rPr lang="en-US" dirty="0" err="1"/>
              <a:t>tener</a:t>
            </a:r>
            <a:r>
              <a:rPr lang="en-US" dirty="0"/>
              <a:t> </a:t>
            </a:r>
            <a:r>
              <a:rPr lang="en-US" dirty="0" err="1"/>
              <a:t>los</a:t>
            </a:r>
            <a:r>
              <a:rPr lang="en-US" dirty="0"/>
              <a:t> dos </a:t>
            </a:r>
            <a:r>
              <a:rPr lang="en-US" dirty="0" err="1"/>
              <a:t>brazos</a:t>
            </a:r>
            <a:r>
              <a:rPr lang="en-US" dirty="0"/>
              <a:t> las </a:t>
            </a:r>
            <a:r>
              <a:rPr lang="en-US" dirty="0" err="1"/>
              <a:t>mismas</a:t>
            </a:r>
            <a:r>
              <a:rPr lang="en-US" dirty="0"/>
              <a:t> </a:t>
            </a:r>
            <a:r>
              <a:rPr lang="en-US" dirty="0" err="1"/>
              <a:t>propiedades</a:t>
            </a:r>
            <a:r>
              <a:rPr lang="en-US" dirty="0"/>
              <a:t> </a:t>
            </a:r>
            <a:r>
              <a:rPr lang="en-US" dirty="0" err="1"/>
              <a:t>pero</a:t>
            </a:r>
            <a:r>
              <a:rPr lang="en-US" dirty="0"/>
              <a:t> caminos con </a:t>
            </a:r>
            <a:r>
              <a:rPr lang="en-US" dirty="0" err="1"/>
              <a:t>distintas</a:t>
            </a:r>
            <a:r>
              <a:rPr lang="en-US" dirty="0"/>
              <a:t> longitudes </a:t>
            </a:r>
            <a:r>
              <a:rPr lang="en-US" dirty="0" err="1"/>
              <a:t>provoca</a:t>
            </a:r>
            <a:r>
              <a:rPr lang="en-US" dirty="0"/>
              <a:t> también </a:t>
            </a:r>
            <a:r>
              <a:rPr lang="en-US" dirty="0" err="1"/>
              <a:t>que</a:t>
            </a:r>
            <a:r>
              <a:rPr lang="en-US" dirty="0"/>
              <a:t> se </a:t>
            </a:r>
            <a:r>
              <a:rPr lang="en-US" dirty="0" err="1"/>
              <a:t>recombinen</a:t>
            </a:r>
            <a:r>
              <a:rPr lang="en-US" dirty="0"/>
              <a:t> con </a:t>
            </a:r>
            <a:r>
              <a:rPr lang="en-US" dirty="0" err="1"/>
              <a:t>fases</a:t>
            </a:r>
            <a:r>
              <a:rPr lang="en-US" dirty="0"/>
              <a:t> </a:t>
            </a:r>
            <a:r>
              <a:rPr lang="en-US" dirty="0" err="1"/>
              <a:t>distintas</a:t>
            </a:r>
            <a:r>
              <a:rPr lang="en-US" dirty="0"/>
              <a:t>.</a:t>
            </a:r>
            <a:endParaRPr lang="es-ES" dirty="0"/>
          </a:p>
        </p:txBody>
      </p:sp>
    </p:spTree>
    <p:extLst>
      <p:ext uri="{BB962C8B-B14F-4D97-AF65-F5344CB8AC3E}">
        <p14:creationId xmlns:p14="http://schemas.microsoft.com/office/powerpoint/2010/main" val="2985386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AF435-7036-2DE9-80B7-3A8B0D15163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90A3F34-B253-FC63-847E-768C6A58BAA4}"/>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con pérdidas de propagación </a:t>
            </a:r>
          </a:p>
        </p:txBody>
      </p:sp>
      <p:sp>
        <p:nvSpPr>
          <p:cNvPr id="4" name="Marcador de pie de página 3">
            <a:extLst>
              <a:ext uri="{FF2B5EF4-FFF2-40B4-BE49-F238E27FC236}">
                <a16:creationId xmlns:a16="http://schemas.microsoft.com/office/drawing/2014/main" id="{D987503D-E4D7-BC33-D61C-2576088BCAAE}"/>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14E84B7C-5D8E-8034-7ACB-F859CB5723FA}"/>
              </a:ext>
            </a:extLst>
          </p:cNvPr>
          <p:cNvSpPr>
            <a:spLocks noGrp="1"/>
          </p:cNvSpPr>
          <p:nvPr>
            <p:ph type="sldNum" sz="quarter" idx="7"/>
          </p:nvPr>
        </p:nvSpPr>
        <p:spPr/>
        <p:txBody>
          <a:bodyPr/>
          <a:lstStyle/>
          <a:p>
            <a:fld id="{B6F15528-21DE-4FAA-801E-634DDDAF4B2B}" type="slidenum">
              <a:rPr lang="es-ES" smtClean="0"/>
              <a:t>9</a:t>
            </a:fld>
            <a:endParaRPr lang="es-ES"/>
          </a:p>
        </p:txBody>
      </p:sp>
      <p:pic>
        <p:nvPicPr>
          <p:cNvPr id="7" name="Imagen 6">
            <a:extLst>
              <a:ext uri="{FF2B5EF4-FFF2-40B4-BE49-F238E27FC236}">
                <a16:creationId xmlns:a16="http://schemas.microsoft.com/office/drawing/2014/main" id="{7A25EBD6-DF49-6E65-80E5-500D5F5BB17D}"/>
              </a:ext>
            </a:extLst>
          </p:cNvPr>
          <p:cNvPicPr>
            <a:picLocks noChangeAspect="1"/>
          </p:cNvPicPr>
          <p:nvPr/>
        </p:nvPicPr>
        <p:blipFill>
          <a:blip r:embed="rId2">
            <a:extLst>
              <a:ext uri="{28A0092B-C50C-407E-A947-70E740481C1C}">
                <a14:useLocalDpi xmlns:a14="http://schemas.microsoft.com/office/drawing/2010/main" val="0"/>
              </a:ext>
            </a:extLst>
          </a:blip>
          <a:srcRect l="615" r="615"/>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3545B410-8BA6-E14B-DE9E-65A44C93E9B3}"/>
              </a:ext>
            </a:extLst>
          </p:cNvPr>
          <p:cNvSpPr txBox="1"/>
          <p:nvPr/>
        </p:nvSpPr>
        <p:spPr>
          <a:xfrm>
            <a:off x="5715000" y="914400"/>
            <a:ext cx="6128326" cy="646331"/>
          </a:xfrm>
          <a:prstGeom prst="rect">
            <a:avLst/>
          </a:prstGeom>
          <a:noFill/>
        </p:spPr>
        <p:txBody>
          <a:bodyPr wrap="square">
            <a:spAutoFit/>
          </a:bodyPr>
          <a:lstStyle/>
          <a:p>
            <a:r>
              <a:rPr lang="en-US" dirty="0"/>
              <a:t>Al </a:t>
            </a:r>
            <a:r>
              <a:rPr lang="en-US" dirty="0" err="1"/>
              <a:t>añadir</a:t>
            </a:r>
            <a:r>
              <a:rPr lang="en-US" dirty="0"/>
              <a:t> </a:t>
            </a:r>
            <a:r>
              <a:rPr lang="en-US" dirty="0" err="1"/>
              <a:t>pérdidas</a:t>
            </a:r>
            <a:r>
              <a:rPr lang="en-US" dirty="0"/>
              <a:t> de </a:t>
            </a:r>
            <a:r>
              <a:rPr lang="en-US" dirty="0" err="1"/>
              <a:t>propagación</a:t>
            </a:r>
            <a:r>
              <a:rPr lang="en-US" dirty="0"/>
              <a:t> la </a:t>
            </a:r>
            <a:r>
              <a:rPr lang="en-US" dirty="0" err="1"/>
              <a:t>suma</a:t>
            </a:r>
            <a:r>
              <a:rPr lang="en-US" dirty="0"/>
              <a:t> de </a:t>
            </a:r>
            <a:r>
              <a:rPr lang="en-US" dirty="0" err="1"/>
              <a:t>potencias</a:t>
            </a:r>
            <a:r>
              <a:rPr lang="en-US" dirty="0"/>
              <a:t> </a:t>
            </a:r>
            <a:r>
              <a:rPr lang="en-US" dirty="0" err="1"/>
              <a:t>ya</a:t>
            </a:r>
            <a:r>
              <a:rPr lang="en-US" dirty="0"/>
              <a:t> no </a:t>
            </a:r>
            <a:r>
              <a:rPr lang="en-US" dirty="0" err="1"/>
              <a:t>suma</a:t>
            </a:r>
            <a:r>
              <a:rPr lang="en-US" dirty="0"/>
              <a:t> 1 . </a:t>
            </a:r>
            <a:endParaRPr lang="es-ES" dirty="0"/>
          </a:p>
        </p:txBody>
      </p:sp>
    </p:spTree>
    <p:extLst>
      <p:ext uri="{BB962C8B-B14F-4D97-AF65-F5344CB8AC3E}">
        <p14:creationId xmlns:p14="http://schemas.microsoft.com/office/powerpoint/2010/main" val="2658856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A42E4-3CE9-A968-9CB0-457829732F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7F880F7-9720-7871-20EE-314611D95AB3}"/>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con cambio de % de acoplo</a:t>
            </a:r>
          </a:p>
        </p:txBody>
      </p:sp>
      <p:sp>
        <p:nvSpPr>
          <p:cNvPr id="4" name="Marcador de pie de página 3">
            <a:extLst>
              <a:ext uri="{FF2B5EF4-FFF2-40B4-BE49-F238E27FC236}">
                <a16:creationId xmlns:a16="http://schemas.microsoft.com/office/drawing/2014/main" id="{814D3694-BDF0-041A-DF34-4EE2322ABCF6}"/>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F69316F9-B5A8-C17D-21D7-C87EA0A6D67E}"/>
              </a:ext>
            </a:extLst>
          </p:cNvPr>
          <p:cNvSpPr>
            <a:spLocks noGrp="1"/>
          </p:cNvSpPr>
          <p:nvPr>
            <p:ph type="sldNum" sz="quarter" idx="7"/>
          </p:nvPr>
        </p:nvSpPr>
        <p:spPr/>
        <p:txBody>
          <a:bodyPr/>
          <a:lstStyle/>
          <a:p>
            <a:fld id="{B6F15528-21DE-4FAA-801E-634DDDAF4B2B}" type="slidenum">
              <a:rPr lang="es-ES" smtClean="0"/>
              <a:t>10</a:t>
            </a:fld>
            <a:endParaRPr lang="es-ES"/>
          </a:p>
        </p:txBody>
      </p:sp>
      <p:pic>
        <p:nvPicPr>
          <p:cNvPr id="7" name="Imagen 6">
            <a:extLst>
              <a:ext uri="{FF2B5EF4-FFF2-40B4-BE49-F238E27FC236}">
                <a16:creationId xmlns:a16="http://schemas.microsoft.com/office/drawing/2014/main" id="{0A7A7ACB-2707-56ED-131C-1DF4720478F4}"/>
              </a:ext>
            </a:extLst>
          </p:cNvPr>
          <p:cNvPicPr>
            <a:picLocks noChangeAspect="1"/>
          </p:cNvPicPr>
          <p:nvPr/>
        </p:nvPicPr>
        <p:blipFill>
          <a:blip r:embed="rId2">
            <a:extLst>
              <a:ext uri="{28A0092B-C50C-407E-A947-70E740481C1C}">
                <a14:useLocalDpi xmlns:a14="http://schemas.microsoft.com/office/drawing/2010/main" val="0"/>
              </a:ext>
            </a:extLst>
          </a:blip>
          <a:srcRect t="427" b="427"/>
          <a:stretch/>
        </p:blipFill>
        <p:spPr>
          <a:xfrm>
            <a:off x="493597" y="566477"/>
            <a:ext cx="4667901" cy="3743847"/>
          </a:xfrm>
          <a:prstGeom prst="rect">
            <a:avLst/>
          </a:prstGeom>
        </p:spPr>
      </p:pic>
      <p:sp>
        <p:nvSpPr>
          <p:cNvPr id="9" name="CuadroTexto 8">
            <a:extLst>
              <a:ext uri="{FF2B5EF4-FFF2-40B4-BE49-F238E27FC236}">
                <a16:creationId xmlns:a16="http://schemas.microsoft.com/office/drawing/2014/main" id="{DB804E56-5DF5-CB07-DBEC-9C63602477AB}"/>
              </a:ext>
            </a:extLst>
          </p:cNvPr>
          <p:cNvSpPr txBox="1"/>
          <p:nvPr/>
        </p:nvSpPr>
        <p:spPr>
          <a:xfrm>
            <a:off x="5715000" y="914400"/>
            <a:ext cx="6128326" cy="369332"/>
          </a:xfrm>
          <a:prstGeom prst="rect">
            <a:avLst/>
          </a:prstGeom>
          <a:noFill/>
        </p:spPr>
        <p:txBody>
          <a:bodyPr wrap="square">
            <a:spAutoFit/>
          </a:bodyPr>
          <a:lstStyle/>
          <a:p>
            <a:r>
              <a:rPr lang="en-US" dirty="0"/>
              <a:t>Al </a:t>
            </a:r>
            <a:r>
              <a:rPr lang="en-US" dirty="0" err="1"/>
              <a:t>hacerlo</a:t>
            </a:r>
            <a:r>
              <a:rPr lang="en-US" dirty="0"/>
              <a:t> 70/30 </a:t>
            </a:r>
            <a:r>
              <a:rPr lang="en-US" dirty="0" err="1"/>
              <a:t>observamos</a:t>
            </a:r>
            <a:r>
              <a:rPr lang="en-US" dirty="0"/>
              <a:t> la </a:t>
            </a:r>
            <a:r>
              <a:rPr lang="en-US" dirty="0" err="1"/>
              <a:t>diferencia</a:t>
            </a:r>
            <a:r>
              <a:rPr lang="en-US" dirty="0"/>
              <a:t> de </a:t>
            </a:r>
            <a:r>
              <a:rPr lang="en-US" dirty="0" err="1"/>
              <a:t>comportamiento</a:t>
            </a:r>
            <a:r>
              <a:rPr lang="en-US" dirty="0"/>
              <a:t>.</a:t>
            </a:r>
            <a:endParaRPr lang="es-ES" dirty="0"/>
          </a:p>
        </p:txBody>
      </p:sp>
    </p:spTree>
    <p:extLst>
      <p:ext uri="{BB962C8B-B14F-4D97-AF65-F5344CB8AC3E}">
        <p14:creationId xmlns:p14="http://schemas.microsoft.com/office/powerpoint/2010/main" val="3128943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D05E1-3F33-FF98-74A6-5F22328B322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603E3B1-33A6-15BA-C87E-6BA414DA548D}"/>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con cambio de % de acoplo</a:t>
            </a:r>
          </a:p>
        </p:txBody>
      </p:sp>
      <p:sp>
        <p:nvSpPr>
          <p:cNvPr id="4" name="Marcador de pie de página 3">
            <a:extLst>
              <a:ext uri="{FF2B5EF4-FFF2-40B4-BE49-F238E27FC236}">
                <a16:creationId xmlns:a16="http://schemas.microsoft.com/office/drawing/2014/main" id="{20136A44-2E85-2FAD-0257-FE5643B7EC92}"/>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AB6E20BF-E15F-BB84-314D-E45AEA246660}"/>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9" name="CuadroTexto 8">
            <a:extLst>
              <a:ext uri="{FF2B5EF4-FFF2-40B4-BE49-F238E27FC236}">
                <a16:creationId xmlns:a16="http://schemas.microsoft.com/office/drawing/2014/main" id="{59C237E9-2224-C27D-1451-39876FA3E170}"/>
              </a:ext>
            </a:extLst>
          </p:cNvPr>
          <p:cNvSpPr txBox="1"/>
          <p:nvPr/>
        </p:nvSpPr>
        <p:spPr>
          <a:xfrm>
            <a:off x="4191000" y="1066800"/>
            <a:ext cx="3048000" cy="369332"/>
          </a:xfrm>
          <a:prstGeom prst="rect">
            <a:avLst/>
          </a:prstGeom>
          <a:noFill/>
        </p:spPr>
        <p:txBody>
          <a:bodyPr wrap="square">
            <a:spAutoFit/>
          </a:bodyPr>
          <a:lstStyle/>
          <a:p>
            <a:r>
              <a:rPr lang="en-US" dirty="0"/>
              <a:t>Mirar </a:t>
            </a:r>
            <a:r>
              <a:rPr lang="en-US" dirty="0" err="1"/>
              <a:t>el</a:t>
            </a:r>
            <a:r>
              <a:rPr lang="en-US" dirty="0"/>
              <a:t> assessment guideline</a:t>
            </a:r>
          </a:p>
        </p:txBody>
      </p:sp>
    </p:spTree>
    <p:extLst>
      <p:ext uri="{BB962C8B-B14F-4D97-AF65-F5344CB8AC3E}">
        <p14:creationId xmlns:p14="http://schemas.microsoft.com/office/powerpoint/2010/main" val="2503004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3F582-340E-9B96-CF1D-8C7138583BA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970076C-2C05-99CC-2D5A-2598DDC8B952}"/>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A9E6AA47-F245-B57B-2C6B-59E0FFADE7B2}"/>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336350EA-120E-0A3E-E679-0B5DB5700157}"/>
              </a:ext>
            </a:extLst>
          </p:cNvPr>
          <p:cNvSpPr>
            <a:spLocks noGrp="1"/>
          </p:cNvSpPr>
          <p:nvPr>
            <p:ph type="sldNum" sz="quarter" idx="7"/>
          </p:nvPr>
        </p:nvSpPr>
        <p:spPr/>
        <p:txBody>
          <a:bodyPr/>
          <a:lstStyle/>
          <a:p>
            <a:fld id="{B6F15528-21DE-4FAA-801E-634DDDAF4B2B}" type="slidenum">
              <a:rPr lang="es-ES" smtClean="0"/>
              <a:t>12</a:t>
            </a:fld>
            <a:endParaRPr lang="es-ES"/>
          </a:p>
        </p:txBody>
      </p:sp>
      <p:pic>
        <p:nvPicPr>
          <p:cNvPr id="7" name="Imagen 6" descr="Gráfico, Gráfico de líneas&#10;&#10;El contenido generado por IA puede ser incorrecto.">
            <a:extLst>
              <a:ext uri="{FF2B5EF4-FFF2-40B4-BE49-F238E27FC236}">
                <a16:creationId xmlns:a16="http://schemas.microsoft.com/office/drawing/2014/main" id="{C3383052-1C49-E03E-EC57-A4185DB1E4CD}"/>
              </a:ext>
            </a:extLst>
          </p:cNvPr>
          <p:cNvPicPr>
            <a:picLocks noChangeAspect="1"/>
          </p:cNvPicPr>
          <p:nvPr/>
        </p:nvPicPr>
        <p:blipFill>
          <a:blip r:embed="rId2"/>
          <a:stretch>
            <a:fillRect/>
          </a:stretch>
        </p:blipFill>
        <p:spPr>
          <a:xfrm>
            <a:off x="609600" y="1905000"/>
            <a:ext cx="4667901" cy="3743847"/>
          </a:xfrm>
          <a:prstGeom prst="rect">
            <a:avLst/>
          </a:prstGeom>
        </p:spPr>
      </p:pic>
      <p:sp>
        <p:nvSpPr>
          <p:cNvPr id="9" name="CuadroTexto 8">
            <a:extLst>
              <a:ext uri="{FF2B5EF4-FFF2-40B4-BE49-F238E27FC236}">
                <a16:creationId xmlns:a16="http://schemas.microsoft.com/office/drawing/2014/main" id="{1ADBDA43-A35D-DD2B-5E00-538D63FC4BC1}"/>
              </a:ext>
            </a:extLst>
          </p:cNvPr>
          <p:cNvSpPr txBox="1"/>
          <p:nvPr/>
        </p:nvSpPr>
        <p:spPr>
          <a:xfrm>
            <a:off x="5715000" y="2133600"/>
            <a:ext cx="6128326" cy="1477328"/>
          </a:xfrm>
          <a:prstGeom prst="rect">
            <a:avLst/>
          </a:prstGeom>
          <a:noFill/>
        </p:spPr>
        <p:txBody>
          <a:bodyPr wrap="square">
            <a:spAutoFit/>
          </a:bodyPr>
          <a:lstStyle/>
          <a:p>
            <a:r>
              <a:rPr lang="es-ES" dirty="0"/>
              <a:t>Como la fase acumulada en los dos brazos es idéntica, por lo que su diferencia es 0, y no se produce ni interferencia constructivas ni destructivas por lo que la salida se mantiene constante, y al ser constante no presenta periodicidad espectral. </a:t>
            </a:r>
          </a:p>
        </p:txBody>
      </p:sp>
      <p:pic>
        <p:nvPicPr>
          <p:cNvPr id="6" name="Imagen 5">
            <a:extLst>
              <a:ext uri="{FF2B5EF4-FFF2-40B4-BE49-F238E27FC236}">
                <a16:creationId xmlns:a16="http://schemas.microsoft.com/office/drawing/2014/main" id="{9C05DC71-9E9C-094D-EEC8-E01FD79B9ED8}"/>
              </a:ext>
            </a:extLst>
          </p:cNvPr>
          <p:cNvPicPr>
            <a:picLocks noChangeAspect="1"/>
          </p:cNvPicPr>
          <p:nvPr/>
        </p:nvPicPr>
        <p:blipFill>
          <a:blip r:embed="rId3"/>
          <a:stretch>
            <a:fillRect/>
          </a:stretch>
        </p:blipFill>
        <p:spPr>
          <a:xfrm>
            <a:off x="348674" y="685800"/>
            <a:ext cx="9678751" cy="847843"/>
          </a:xfrm>
          <a:prstGeom prst="rect">
            <a:avLst/>
          </a:prstGeom>
        </p:spPr>
      </p:pic>
    </p:spTree>
    <p:extLst>
      <p:ext uri="{BB962C8B-B14F-4D97-AF65-F5344CB8AC3E}">
        <p14:creationId xmlns:p14="http://schemas.microsoft.com/office/powerpoint/2010/main" val="10259833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71A0C-9291-8026-EA4C-38418E7FDAF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6882D1-CFE3-4FFC-2E39-2F19838560D2}"/>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B68A5B3F-5FAB-3C74-08A9-E1A25B378CEC}"/>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09F6A2D-4F6F-BC6D-46F2-E1A6E27B2A57}"/>
              </a:ext>
            </a:extLst>
          </p:cNvPr>
          <p:cNvSpPr>
            <a:spLocks noGrp="1"/>
          </p:cNvSpPr>
          <p:nvPr>
            <p:ph type="sldNum" sz="quarter" idx="7"/>
          </p:nvPr>
        </p:nvSpPr>
        <p:spPr/>
        <p:txBody>
          <a:bodyPr/>
          <a:lstStyle/>
          <a:p>
            <a:fld id="{B6F15528-21DE-4FAA-801E-634DDDAF4B2B}" type="slidenum">
              <a:rPr lang="es-ES" smtClean="0"/>
              <a:t>13</a:t>
            </a:fld>
            <a:endParaRPr lang="es-ES"/>
          </a:p>
        </p:txBody>
      </p:sp>
      <p:pic>
        <p:nvPicPr>
          <p:cNvPr id="7" name="Imagen 6">
            <a:extLst>
              <a:ext uri="{FF2B5EF4-FFF2-40B4-BE49-F238E27FC236}">
                <a16:creationId xmlns:a16="http://schemas.microsoft.com/office/drawing/2014/main" id="{34C9539A-4BBC-42F0-2008-A0062E3AE36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09600" y="2254791"/>
            <a:ext cx="4667901" cy="3726715"/>
          </a:xfrm>
          <a:prstGeom prst="rect">
            <a:avLst/>
          </a:prstGeom>
        </p:spPr>
      </p:pic>
      <p:sp>
        <p:nvSpPr>
          <p:cNvPr id="9" name="CuadroTexto 8">
            <a:extLst>
              <a:ext uri="{FF2B5EF4-FFF2-40B4-BE49-F238E27FC236}">
                <a16:creationId xmlns:a16="http://schemas.microsoft.com/office/drawing/2014/main" id="{56E5C985-6707-78E4-DC17-0BAEC6FA4DAE}"/>
              </a:ext>
            </a:extLst>
          </p:cNvPr>
          <p:cNvSpPr txBox="1"/>
          <p:nvPr/>
        </p:nvSpPr>
        <p:spPr>
          <a:xfrm>
            <a:off x="5715000" y="2133600"/>
            <a:ext cx="6128326" cy="923330"/>
          </a:xfrm>
          <a:prstGeom prst="rect">
            <a:avLst/>
          </a:prstGeom>
          <a:noFill/>
        </p:spPr>
        <p:txBody>
          <a:bodyPr wrap="square">
            <a:spAutoFit/>
          </a:bodyPr>
          <a:lstStyle/>
          <a:p>
            <a:r>
              <a:rPr lang="es-ES" dirty="0"/>
              <a:t>Como toda la potencia va a un mismo puerto, aunque cambiemos el </a:t>
            </a:r>
            <a:r>
              <a:rPr lang="es-ES" dirty="0" err="1"/>
              <a:t>coupling</a:t>
            </a:r>
            <a:r>
              <a:rPr lang="es-ES" dirty="0"/>
              <a:t> ratio, por eso lo vemos igual que en la gráfica anterior 50:50</a:t>
            </a:r>
          </a:p>
        </p:txBody>
      </p:sp>
      <p:pic>
        <p:nvPicPr>
          <p:cNvPr id="6" name="Imagen 5">
            <a:extLst>
              <a:ext uri="{FF2B5EF4-FFF2-40B4-BE49-F238E27FC236}">
                <a16:creationId xmlns:a16="http://schemas.microsoft.com/office/drawing/2014/main" id="{A9A164FC-1E7B-45E0-80E0-5FB56AAA12C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8674" y="717581"/>
            <a:ext cx="9678751" cy="784281"/>
          </a:xfrm>
          <a:prstGeom prst="rect">
            <a:avLst/>
          </a:prstGeom>
        </p:spPr>
      </p:pic>
      <p:pic>
        <p:nvPicPr>
          <p:cNvPr id="8" name="Imagen 7">
            <a:extLst>
              <a:ext uri="{FF2B5EF4-FFF2-40B4-BE49-F238E27FC236}">
                <a16:creationId xmlns:a16="http://schemas.microsoft.com/office/drawing/2014/main" id="{ECF58007-1D7E-ADC2-2FA0-4F9B69D29E83}"/>
              </a:ext>
            </a:extLst>
          </p:cNvPr>
          <p:cNvPicPr>
            <a:picLocks noChangeAspect="1"/>
          </p:cNvPicPr>
          <p:nvPr/>
        </p:nvPicPr>
        <p:blipFill>
          <a:blip r:embed="rId4"/>
          <a:stretch>
            <a:fillRect/>
          </a:stretch>
        </p:blipFill>
        <p:spPr>
          <a:xfrm>
            <a:off x="914400" y="1826106"/>
            <a:ext cx="2257740" cy="428685"/>
          </a:xfrm>
          <a:prstGeom prst="rect">
            <a:avLst/>
          </a:prstGeom>
        </p:spPr>
      </p:pic>
      <p:sp>
        <p:nvSpPr>
          <p:cNvPr id="11" name="CuadroTexto 10">
            <a:extLst>
              <a:ext uri="{FF2B5EF4-FFF2-40B4-BE49-F238E27FC236}">
                <a16:creationId xmlns:a16="http://schemas.microsoft.com/office/drawing/2014/main" id="{D39FA656-5666-5662-F59A-E01B7174DA84}"/>
              </a:ext>
            </a:extLst>
          </p:cNvPr>
          <p:cNvSpPr txBox="1"/>
          <p:nvPr/>
        </p:nvSpPr>
        <p:spPr>
          <a:xfrm>
            <a:off x="3352800" y="1842270"/>
            <a:ext cx="6128326" cy="369332"/>
          </a:xfrm>
          <a:prstGeom prst="rect">
            <a:avLst/>
          </a:prstGeom>
          <a:noFill/>
        </p:spPr>
        <p:txBody>
          <a:bodyPr wrap="square">
            <a:spAutoFit/>
          </a:bodyPr>
          <a:lstStyle/>
          <a:p>
            <a:r>
              <a:rPr lang="es-ES" dirty="0"/>
              <a:t>Lo ponemos 70:30</a:t>
            </a:r>
          </a:p>
        </p:txBody>
      </p:sp>
    </p:spTree>
    <p:extLst>
      <p:ext uri="{BB962C8B-B14F-4D97-AF65-F5344CB8AC3E}">
        <p14:creationId xmlns:p14="http://schemas.microsoft.com/office/powerpoint/2010/main" val="18495144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833D2-6EBA-2EAA-708B-BB93CE3E486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AD5429C-DCC6-5EC0-DFFB-C6ED9CD17B7A}"/>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0EE9A738-49A4-52B8-70BB-BF90A577E363}"/>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817F1DAC-3AA9-7040-7AD1-3FC0D1176A8B}"/>
              </a:ext>
            </a:extLst>
          </p:cNvPr>
          <p:cNvSpPr>
            <a:spLocks noGrp="1"/>
          </p:cNvSpPr>
          <p:nvPr>
            <p:ph type="sldNum" sz="quarter" idx="7"/>
          </p:nvPr>
        </p:nvSpPr>
        <p:spPr/>
        <p:txBody>
          <a:bodyPr/>
          <a:lstStyle/>
          <a:p>
            <a:fld id="{B6F15528-21DE-4FAA-801E-634DDDAF4B2B}" type="slidenum">
              <a:rPr lang="es-ES" smtClean="0"/>
              <a:t>14</a:t>
            </a:fld>
            <a:endParaRPr lang="es-ES"/>
          </a:p>
        </p:txBody>
      </p:sp>
      <p:pic>
        <p:nvPicPr>
          <p:cNvPr id="7" name="Imagen 6">
            <a:extLst>
              <a:ext uri="{FF2B5EF4-FFF2-40B4-BE49-F238E27FC236}">
                <a16:creationId xmlns:a16="http://schemas.microsoft.com/office/drawing/2014/main" id="{1F4381CF-5362-564E-E62A-0C7870FB6F2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32409" y="2254791"/>
            <a:ext cx="4622282" cy="3726715"/>
          </a:xfrm>
          <a:prstGeom prst="rect">
            <a:avLst/>
          </a:prstGeom>
        </p:spPr>
      </p:pic>
      <p:sp>
        <p:nvSpPr>
          <p:cNvPr id="9" name="CuadroTexto 8">
            <a:extLst>
              <a:ext uri="{FF2B5EF4-FFF2-40B4-BE49-F238E27FC236}">
                <a16:creationId xmlns:a16="http://schemas.microsoft.com/office/drawing/2014/main" id="{647114DB-5FF6-1E01-F2AF-51C721C6B545}"/>
              </a:ext>
            </a:extLst>
          </p:cNvPr>
          <p:cNvSpPr txBox="1"/>
          <p:nvPr/>
        </p:nvSpPr>
        <p:spPr>
          <a:xfrm>
            <a:off x="5715000" y="2133600"/>
            <a:ext cx="6128326" cy="646331"/>
          </a:xfrm>
          <a:prstGeom prst="rect">
            <a:avLst/>
          </a:prstGeom>
          <a:noFill/>
        </p:spPr>
        <p:txBody>
          <a:bodyPr wrap="square">
            <a:spAutoFit/>
          </a:bodyPr>
          <a:lstStyle/>
          <a:p>
            <a:r>
              <a:rPr lang="es-ES" dirty="0"/>
              <a:t>Como era de esperar, al añadir pérdidas de exceso la potencia disminuye en el puerto de salida. </a:t>
            </a:r>
          </a:p>
        </p:txBody>
      </p:sp>
      <p:pic>
        <p:nvPicPr>
          <p:cNvPr id="6" name="Imagen 5">
            <a:extLst>
              <a:ext uri="{FF2B5EF4-FFF2-40B4-BE49-F238E27FC236}">
                <a16:creationId xmlns:a16="http://schemas.microsoft.com/office/drawing/2014/main" id="{153B3BD4-4EA4-FA30-C910-259ACC9E44C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8674" y="799856"/>
            <a:ext cx="9678751" cy="619731"/>
          </a:xfrm>
          <a:prstGeom prst="rect">
            <a:avLst/>
          </a:prstGeom>
        </p:spPr>
      </p:pic>
      <p:pic>
        <p:nvPicPr>
          <p:cNvPr id="10" name="Imagen 9">
            <a:extLst>
              <a:ext uri="{FF2B5EF4-FFF2-40B4-BE49-F238E27FC236}">
                <a16:creationId xmlns:a16="http://schemas.microsoft.com/office/drawing/2014/main" id="{BA1440DE-6745-4357-5A9D-319EE6DF05C0}"/>
              </a:ext>
            </a:extLst>
          </p:cNvPr>
          <p:cNvPicPr>
            <a:picLocks noChangeAspect="1"/>
          </p:cNvPicPr>
          <p:nvPr/>
        </p:nvPicPr>
        <p:blipFill>
          <a:blip r:embed="rId4"/>
          <a:srcRect r="55403" b="3075"/>
          <a:stretch>
            <a:fillRect/>
          </a:stretch>
        </p:blipFill>
        <p:spPr>
          <a:xfrm>
            <a:off x="1152218" y="1801038"/>
            <a:ext cx="981382" cy="369333"/>
          </a:xfrm>
          <a:prstGeom prst="rect">
            <a:avLst/>
          </a:prstGeom>
        </p:spPr>
      </p:pic>
    </p:spTree>
    <p:extLst>
      <p:ext uri="{BB962C8B-B14F-4D97-AF65-F5344CB8AC3E}">
        <p14:creationId xmlns:p14="http://schemas.microsoft.com/office/powerpoint/2010/main" val="4169241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DB6BE-3310-ECAE-7B2C-024EA7D965A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F94AB4B-CDF3-E4BE-DF1A-92754FE1D30E}"/>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2263DFF4-392E-022E-3D6D-979032274C02}"/>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B3E6FF68-E21D-B705-161B-F8572DC68D36}"/>
              </a:ext>
            </a:extLst>
          </p:cNvPr>
          <p:cNvSpPr>
            <a:spLocks noGrp="1"/>
          </p:cNvSpPr>
          <p:nvPr>
            <p:ph type="sldNum" sz="quarter" idx="7"/>
          </p:nvPr>
        </p:nvSpPr>
        <p:spPr/>
        <p:txBody>
          <a:bodyPr/>
          <a:lstStyle/>
          <a:p>
            <a:fld id="{B6F15528-21DE-4FAA-801E-634DDDAF4B2B}" type="slidenum">
              <a:rPr lang="es-ES" smtClean="0"/>
              <a:t>15</a:t>
            </a:fld>
            <a:endParaRPr lang="es-ES"/>
          </a:p>
        </p:txBody>
      </p:sp>
      <p:pic>
        <p:nvPicPr>
          <p:cNvPr id="7" name="Imagen 6">
            <a:extLst>
              <a:ext uri="{FF2B5EF4-FFF2-40B4-BE49-F238E27FC236}">
                <a16:creationId xmlns:a16="http://schemas.microsoft.com/office/drawing/2014/main" id="{4D34BC03-E676-1C49-BB63-EEA0B2FC2D5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32409" y="2254791"/>
            <a:ext cx="4622282" cy="3726715"/>
          </a:xfrm>
          <a:prstGeom prst="rect">
            <a:avLst/>
          </a:prstGeom>
        </p:spPr>
      </p:pic>
      <p:sp>
        <p:nvSpPr>
          <p:cNvPr id="9" name="CuadroTexto 8">
            <a:extLst>
              <a:ext uri="{FF2B5EF4-FFF2-40B4-BE49-F238E27FC236}">
                <a16:creationId xmlns:a16="http://schemas.microsoft.com/office/drawing/2014/main" id="{DAE37E88-CA3E-5195-9116-7394904664B1}"/>
              </a:ext>
            </a:extLst>
          </p:cNvPr>
          <p:cNvSpPr txBox="1"/>
          <p:nvPr/>
        </p:nvSpPr>
        <p:spPr>
          <a:xfrm>
            <a:off x="5715000" y="2133600"/>
            <a:ext cx="6128326" cy="646331"/>
          </a:xfrm>
          <a:prstGeom prst="rect">
            <a:avLst/>
          </a:prstGeom>
          <a:noFill/>
        </p:spPr>
        <p:txBody>
          <a:bodyPr wrap="square">
            <a:spAutoFit/>
          </a:bodyPr>
          <a:lstStyle/>
          <a:p>
            <a:r>
              <a:rPr lang="es-ES" dirty="0"/>
              <a:t>Como era de esperar, al añadir pérdidas de exceso la potencia disminuye en el puerto de salida. </a:t>
            </a:r>
          </a:p>
        </p:txBody>
      </p:sp>
      <p:pic>
        <p:nvPicPr>
          <p:cNvPr id="6" name="Imagen 5">
            <a:extLst>
              <a:ext uri="{FF2B5EF4-FFF2-40B4-BE49-F238E27FC236}">
                <a16:creationId xmlns:a16="http://schemas.microsoft.com/office/drawing/2014/main" id="{8928E6A6-3BD7-9E8A-0105-1DA8E6F80A4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8674" y="799856"/>
            <a:ext cx="9678751" cy="619731"/>
          </a:xfrm>
          <a:prstGeom prst="rect">
            <a:avLst/>
          </a:prstGeom>
        </p:spPr>
      </p:pic>
      <p:pic>
        <p:nvPicPr>
          <p:cNvPr id="10" name="Imagen 9">
            <a:extLst>
              <a:ext uri="{FF2B5EF4-FFF2-40B4-BE49-F238E27FC236}">
                <a16:creationId xmlns:a16="http://schemas.microsoft.com/office/drawing/2014/main" id="{9B1B5E16-AD51-F1A4-89AB-2AE411EDE9F3}"/>
              </a:ext>
            </a:extLst>
          </p:cNvPr>
          <p:cNvPicPr>
            <a:picLocks noChangeAspect="1"/>
          </p:cNvPicPr>
          <p:nvPr/>
        </p:nvPicPr>
        <p:blipFill>
          <a:blip r:embed="rId4"/>
          <a:srcRect r="55403" b="3075"/>
          <a:stretch>
            <a:fillRect/>
          </a:stretch>
        </p:blipFill>
        <p:spPr>
          <a:xfrm>
            <a:off x="1152218" y="1801038"/>
            <a:ext cx="981382" cy="369333"/>
          </a:xfrm>
          <a:prstGeom prst="rect">
            <a:avLst/>
          </a:prstGeom>
        </p:spPr>
      </p:pic>
    </p:spTree>
    <p:extLst>
      <p:ext uri="{BB962C8B-B14F-4D97-AF65-F5344CB8AC3E}">
        <p14:creationId xmlns:p14="http://schemas.microsoft.com/office/powerpoint/2010/main" val="6400496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1299C-FF0E-DA44-56A9-C687434437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16E4D7A-F67F-770C-D08E-17DE446887BF}"/>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9F337382-B2FF-7232-405D-A1AA57C4FC1F}"/>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E4E59C47-D7EA-4A3D-4103-5964C7B8CE9B}"/>
              </a:ext>
            </a:extLst>
          </p:cNvPr>
          <p:cNvSpPr>
            <a:spLocks noGrp="1"/>
          </p:cNvSpPr>
          <p:nvPr>
            <p:ph type="sldNum" sz="quarter" idx="7"/>
          </p:nvPr>
        </p:nvSpPr>
        <p:spPr/>
        <p:txBody>
          <a:bodyPr/>
          <a:lstStyle/>
          <a:p>
            <a:fld id="{B6F15528-21DE-4FAA-801E-634DDDAF4B2B}" type="slidenum">
              <a:rPr lang="es-ES" smtClean="0"/>
              <a:t>16</a:t>
            </a:fld>
            <a:endParaRPr lang="es-ES"/>
          </a:p>
        </p:txBody>
      </p:sp>
      <p:pic>
        <p:nvPicPr>
          <p:cNvPr id="7" name="Imagen 6">
            <a:extLst>
              <a:ext uri="{FF2B5EF4-FFF2-40B4-BE49-F238E27FC236}">
                <a16:creationId xmlns:a16="http://schemas.microsoft.com/office/drawing/2014/main" id="{2BE39AC6-ABD6-258C-4AA6-E7B6DC5D6566}"/>
              </a:ext>
            </a:extLst>
          </p:cNvPr>
          <p:cNvPicPr>
            <a:picLocks noChangeAspect="1"/>
          </p:cNvPicPr>
          <p:nvPr/>
        </p:nvPicPr>
        <p:blipFill>
          <a:blip r:embed="rId2">
            <a:extLst>
              <a:ext uri="{28A0092B-C50C-407E-A947-70E740481C1C}">
                <a14:useLocalDpi xmlns:a14="http://schemas.microsoft.com/office/drawing/2010/main" val="0"/>
              </a:ext>
            </a:extLst>
          </a:blip>
          <a:srcRect t="384" b="384"/>
          <a:stretch/>
        </p:blipFill>
        <p:spPr>
          <a:xfrm>
            <a:off x="348674" y="2133600"/>
            <a:ext cx="4667901" cy="3743847"/>
          </a:xfrm>
          <a:prstGeom prst="rect">
            <a:avLst/>
          </a:prstGeom>
        </p:spPr>
      </p:pic>
      <p:sp>
        <p:nvSpPr>
          <p:cNvPr id="9" name="CuadroTexto 8">
            <a:extLst>
              <a:ext uri="{FF2B5EF4-FFF2-40B4-BE49-F238E27FC236}">
                <a16:creationId xmlns:a16="http://schemas.microsoft.com/office/drawing/2014/main" id="{5605D7A0-A247-A34F-8ADA-7629BCACEFEE}"/>
              </a:ext>
            </a:extLst>
          </p:cNvPr>
          <p:cNvSpPr txBox="1"/>
          <p:nvPr/>
        </p:nvSpPr>
        <p:spPr>
          <a:xfrm>
            <a:off x="5426365" y="2133600"/>
            <a:ext cx="6128326" cy="2308324"/>
          </a:xfrm>
          <a:prstGeom prst="rect">
            <a:avLst/>
          </a:prstGeom>
          <a:noFill/>
        </p:spPr>
        <p:txBody>
          <a:bodyPr wrap="square">
            <a:spAutoFit/>
          </a:bodyPr>
          <a:lstStyle/>
          <a:p>
            <a:r>
              <a:rPr lang="en-US" dirty="0"/>
              <a:t>Al </a:t>
            </a:r>
            <a:r>
              <a:rPr lang="en-US" dirty="0" err="1"/>
              <a:t>variar</a:t>
            </a:r>
            <a:r>
              <a:rPr lang="en-US" dirty="0"/>
              <a:t> </a:t>
            </a:r>
            <a:r>
              <a:rPr lang="en-US" dirty="0" err="1"/>
              <a:t>el</a:t>
            </a:r>
            <a:r>
              <a:rPr lang="en-US" dirty="0"/>
              <a:t> </a:t>
            </a:r>
            <a:r>
              <a:rPr lang="en-US" dirty="0" err="1"/>
              <a:t>índice</a:t>
            </a:r>
            <a:r>
              <a:rPr lang="en-US" dirty="0"/>
              <a:t> </a:t>
            </a:r>
            <a:r>
              <a:rPr lang="en-US" dirty="0" err="1"/>
              <a:t>efectivo</a:t>
            </a:r>
            <a:r>
              <a:rPr lang="en-US" dirty="0"/>
              <a:t>, la </a:t>
            </a:r>
            <a:r>
              <a:rPr lang="en-US" dirty="0" err="1"/>
              <a:t>propagación</a:t>
            </a:r>
            <a:r>
              <a:rPr lang="en-US" dirty="0"/>
              <a:t> varia, lo </a:t>
            </a:r>
            <a:r>
              <a:rPr lang="en-US" dirty="0" err="1"/>
              <a:t>que</a:t>
            </a:r>
            <a:r>
              <a:rPr lang="en-US" dirty="0"/>
              <a:t> da </a:t>
            </a:r>
            <a:r>
              <a:rPr lang="en-US" dirty="0" err="1"/>
              <a:t>como</a:t>
            </a:r>
            <a:r>
              <a:rPr lang="en-US" dirty="0"/>
              <a:t> </a:t>
            </a:r>
            <a:r>
              <a:rPr lang="en-US" dirty="0" err="1"/>
              <a:t>resultado</a:t>
            </a:r>
            <a:r>
              <a:rPr lang="en-US" dirty="0"/>
              <a:t>  </a:t>
            </a:r>
            <a:r>
              <a:rPr lang="en-US" dirty="0" err="1"/>
              <a:t>que</a:t>
            </a:r>
            <a:r>
              <a:rPr lang="en-US" dirty="0"/>
              <a:t> </a:t>
            </a:r>
            <a:r>
              <a:rPr lang="en-US" dirty="0" err="1"/>
              <a:t>lleguen</a:t>
            </a:r>
            <a:r>
              <a:rPr lang="en-US" dirty="0"/>
              <a:t> con </a:t>
            </a:r>
            <a:r>
              <a:rPr lang="en-US" dirty="0" err="1"/>
              <a:t>una</a:t>
            </a:r>
            <a:r>
              <a:rPr lang="en-US" dirty="0"/>
              <a:t> </a:t>
            </a:r>
            <a:r>
              <a:rPr lang="en-US" dirty="0" err="1"/>
              <a:t>fase</a:t>
            </a:r>
            <a:r>
              <a:rPr lang="en-US" dirty="0"/>
              <a:t> </a:t>
            </a:r>
            <a:r>
              <a:rPr lang="en-US" dirty="0" err="1"/>
              <a:t>distinta</a:t>
            </a:r>
            <a:r>
              <a:rPr lang="en-US" dirty="0"/>
              <a:t> a la hora de </a:t>
            </a:r>
            <a:r>
              <a:rPr lang="en-US" dirty="0" err="1"/>
              <a:t>recombinarse</a:t>
            </a:r>
            <a:r>
              <a:rPr lang="en-US" dirty="0"/>
              <a:t>. Como la </a:t>
            </a:r>
            <a:r>
              <a:rPr lang="en-US" dirty="0" err="1"/>
              <a:t>propagación</a:t>
            </a:r>
            <a:r>
              <a:rPr lang="en-US" dirty="0"/>
              <a:t> </a:t>
            </a:r>
            <a:r>
              <a:rPr lang="en-US" dirty="0" err="1"/>
              <a:t>depende</a:t>
            </a:r>
            <a:r>
              <a:rPr lang="en-US" dirty="0"/>
              <a:t> también de la longitude de </a:t>
            </a:r>
            <a:r>
              <a:rPr lang="en-US" dirty="0" err="1"/>
              <a:t>onda</a:t>
            </a:r>
            <a:r>
              <a:rPr lang="en-US" dirty="0"/>
              <a:t> Podemos </a:t>
            </a:r>
            <a:r>
              <a:rPr lang="en-US" dirty="0" err="1"/>
              <a:t>ver</a:t>
            </a:r>
            <a:r>
              <a:rPr lang="en-US" dirty="0"/>
              <a:t> </a:t>
            </a:r>
            <a:r>
              <a:rPr lang="en-US" dirty="0" err="1"/>
              <a:t>como</a:t>
            </a:r>
            <a:r>
              <a:rPr lang="en-US" dirty="0"/>
              <a:t> varia </a:t>
            </a:r>
            <a:r>
              <a:rPr lang="en-US" dirty="0" err="1"/>
              <a:t>el</a:t>
            </a:r>
            <a:r>
              <a:rPr lang="en-US" dirty="0"/>
              <a:t> cross y bar a lo largo de la </a:t>
            </a:r>
            <a:r>
              <a:rPr lang="en-US" dirty="0" err="1"/>
              <a:t>gráfica</a:t>
            </a:r>
            <a:r>
              <a:rPr lang="en-US" dirty="0"/>
              <a:t>. </a:t>
            </a:r>
          </a:p>
          <a:p>
            <a:endParaRPr lang="en-US" dirty="0"/>
          </a:p>
          <a:p>
            <a:r>
              <a:rPr lang="en-US" dirty="0"/>
              <a:t>La </a:t>
            </a:r>
            <a:r>
              <a:rPr lang="en-US" dirty="0" err="1"/>
              <a:t>diferencia</a:t>
            </a:r>
            <a:r>
              <a:rPr lang="en-US" dirty="0"/>
              <a:t> de </a:t>
            </a:r>
            <a:r>
              <a:rPr lang="en-US" dirty="0" err="1"/>
              <a:t>indice</a:t>
            </a:r>
            <a:r>
              <a:rPr lang="en-US" dirty="0"/>
              <a:t> </a:t>
            </a:r>
            <a:r>
              <a:rPr lang="en-US" dirty="0" err="1"/>
              <a:t>efectivo</a:t>
            </a:r>
            <a:r>
              <a:rPr lang="en-US" dirty="0"/>
              <a:t> de </a:t>
            </a:r>
            <a:r>
              <a:rPr lang="en-US" dirty="0" err="1"/>
              <a:t>cada</a:t>
            </a:r>
            <a:r>
              <a:rPr lang="en-US" dirty="0"/>
              <a:t> </a:t>
            </a:r>
            <a:r>
              <a:rPr lang="en-US" dirty="0" err="1"/>
              <a:t>guia</a:t>
            </a:r>
            <a:r>
              <a:rPr lang="en-US" dirty="0"/>
              <a:t> se ha </a:t>
            </a:r>
            <a:r>
              <a:rPr lang="en-US" dirty="0" err="1"/>
              <a:t>realizado</a:t>
            </a:r>
            <a:endParaRPr lang="en-US" dirty="0"/>
          </a:p>
          <a:p>
            <a:r>
              <a:rPr lang="en-US" dirty="0" err="1"/>
              <a:t>añadiéndole</a:t>
            </a:r>
            <a:r>
              <a:rPr lang="en-US" dirty="0"/>
              <a:t> un </a:t>
            </a:r>
            <a:r>
              <a:rPr lang="en-US" dirty="0" err="1"/>
              <a:t>pequeño</a:t>
            </a:r>
            <a:r>
              <a:rPr lang="en-US" dirty="0"/>
              <a:t> </a:t>
            </a:r>
            <a:r>
              <a:rPr lang="en-US" dirty="0" err="1"/>
              <a:t>incremento</a:t>
            </a:r>
            <a:r>
              <a:rPr lang="en-US" dirty="0"/>
              <a:t> a la </a:t>
            </a:r>
            <a:r>
              <a:rPr lang="en-US" dirty="0" err="1"/>
              <a:t>guia</a:t>
            </a:r>
            <a:r>
              <a:rPr lang="en-US" dirty="0"/>
              <a:t> de </a:t>
            </a:r>
            <a:r>
              <a:rPr lang="en-US" dirty="0" err="1"/>
              <a:t>abajo</a:t>
            </a:r>
            <a:r>
              <a:rPr lang="en-US" dirty="0"/>
              <a:t>.</a:t>
            </a:r>
            <a:endParaRPr lang="es-ES" dirty="0"/>
          </a:p>
        </p:txBody>
      </p:sp>
      <p:pic>
        <p:nvPicPr>
          <p:cNvPr id="6" name="Imagen 5">
            <a:extLst>
              <a:ext uri="{FF2B5EF4-FFF2-40B4-BE49-F238E27FC236}">
                <a16:creationId xmlns:a16="http://schemas.microsoft.com/office/drawing/2014/main" id="{080E6C45-BA87-8943-2325-351CFFD9BD97}"/>
              </a:ext>
            </a:extLst>
          </p:cNvPr>
          <p:cNvPicPr>
            <a:picLocks noChangeAspect="1"/>
          </p:cNvPicPr>
          <p:nvPr/>
        </p:nvPicPr>
        <p:blipFill>
          <a:blip r:embed="rId3"/>
          <a:stretch>
            <a:fillRect/>
          </a:stretch>
        </p:blipFill>
        <p:spPr>
          <a:xfrm>
            <a:off x="609600" y="1723882"/>
            <a:ext cx="2091878" cy="348647"/>
          </a:xfrm>
          <a:prstGeom prst="rect">
            <a:avLst/>
          </a:prstGeom>
        </p:spPr>
      </p:pic>
      <p:pic>
        <p:nvPicPr>
          <p:cNvPr id="8" name="Imagen 7">
            <a:extLst>
              <a:ext uri="{FF2B5EF4-FFF2-40B4-BE49-F238E27FC236}">
                <a16:creationId xmlns:a16="http://schemas.microsoft.com/office/drawing/2014/main" id="{11A46D6F-C465-7C3B-3BD9-626910705B21}"/>
              </a:ext>
            </a:extLst>
          </p:cNvPr>
          <p:cNvPicPr>
            <a:picLocks noChangeAspect="1"/>
          </p:cNvPicPr>
          <p:nvPr/>
        </p:nvPicPr>
        <p:blipFill>
          <a:blip r:embed="rId4"/>
          <a:stretch>
            <a:fillRect/>
          </a:stretch>
        </p:blipFill>
        <p:spPr>
          <a:xfrm>
            <a:off x="457200" y="609547"/>
            <a:ext cx="9545382" cy="1019317"/>
          </a:xfrm>
          <a:prstGeom prst="rect">
            <a:avLst/>
          </a:prstGeom>
        </p:spPr>
      </p:pic>
    </p:spTree>
    <p:extLst>
      <p:ext uri="{BB962C8B-B14F-4D97-AF65-F5344CB8AC3E}">
        <p14:creationId xmlns:p14="http://schemas.microsoft.com/office/powerpoint/2010/main" val="29038680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8D4CB-2890-25F5-447C-921D5ED844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CBE9C3E-85C2-85E7-4E7E-944D01C09226}"/>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8EBBC86A-D5D7-DABC-CC56-4B540C7EA45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6866E8A-F531-5D09-ECB8-1D850C4379F5}"/>
              </a:ext>
            </a:extLst>
          </p:cNvPr>
          <p:cNvSpPr>
            <a:spLocks noGrp="1"/>
          </p:cNvSpPr>
          <p:nvPr>
            <p:ph type="sldNum" sz="quarter" idx="7"/>
          </p:nvPr>
        </p:nvSpPr>
        <p:spPr/>
        <p:txBody>
          <a:bodyPr/>
          <a:lstStyle/>
          <a:p>
            <a:fld id="{B6F15528-21DE-4FAA-801E-634DDDAF4B2B}" type="slidenum">
              <a:rPr lang="es-ES" smtClean="0"/>
              <a:t>17</a:t>
            </a:fld>
            <a:endParaRPr lang="es-ES"/>
          </a:p>
        </p:txBody>
      </p:sp>
      <p:pic>
        <p:nvPicPr>
          <p:cNvPr id="7" name="Imagen 6">
            <a:extLst>
              <a:ext uri="{FF2B5EF4-FFF2-40B4-BE49-F238E27FC236}">
                <a16:creationId xmlns:a16="http://schemas.microsoft.com/office/drawing/2014/main" id="{5CC3B88B-B723-A9A7-DF09-3807235273B1}"/>
              </a:ext>
            </a:extLst>
          </p:cNvPr>
          <p:cNvPicPr>
            <a:picLocks noChangeAspect="1"/>
          </p:cNvPicPr>
          <p:nvPr/>
        </p:nvPicPr>
        <p:blipFill>
          <a:blip r:embed="rId2">
            <a:extLst>
              <a:ext uri="{28A0092B-C50C-407E-A947-70E740481C1C}">
                <a14:useLocalDpi xmlns:a14="http://schemas.microsoft.com/office/drawing/2010/main" val="0"/>
              </a:ext>
            </a:extLst>
          </a:blip>
          <a:srcRect l="30" r="30"/>
          <a:stretch/>
        </p:blipFill>
        <p:spPr>
          <a:xfrm>
            <a:off x="348674" y="2133600"/>
            <a:ext cx="4667901" cy="3743847"/>
          </a:xfrm>
          <a:prstGeom prst="rect">
            <a:avLst/>
          </a:prstGeom>
        </p:spPr>
      </p:pic>
      <p:sp>
        <p:nvSpPr>
          <p:cNvPr id="9" name="CuadroTexto 8">
            <a:extLst>
              <a:ext uri="{FF2B5EF4-FFF2-40B4-BE49-F238E27FC236}">
                <a16:creationId xmlns:a16="http://schemas.microsoft.com/office/drawing/2014/main" id="{55902C51-8DBD-CF19-7FE4-EA59378F4C75}"/>
              </a:ext>
            </a:extLst>
          </p:cNvPr>
          <p:cNvSpPr txBox="1"/>
          <p:nvPr/>
        </p:nvSpPr>
        <p:spPr>
          <a:xfrm>
            <a:off x="5426365" y="2133600"/>
            <a:ext cx="6128326" cy="2031325"/>
          </a:xfrm>
          <a:prstGeom prst="rect">
            <a:avLst/>
          </a:prstGeom>
          <a:noFill/>
        </p:spPr>
        <p:txBody>
          <a:bodyPr wrap="square">
            <a:spAutoFit/>
          </a:bodyPr>
          <a:lstStyle/>
          <a:p>
            <a:r>
              <a:rPr lang="en-US" dirty="0"/>
              <a:t>La </a:t>
            </a:r>
            <a:r>
              <a:rPr lang="en-US" dirty="0" err="1"/>
              <a:t>diferencia</a:t>
            </a:r>
            <a:r>
              <a:rPr lang="en-US" dirty="0"/>
              <a:t> de </a:t>
            </a:r>
            <a:r>
              <a:rPr lang="en-US" dirty="0" err="1"/>
              <a:t>fase</a:t>
            </a:r>
            <a:r>
              <a:rPr lang="en-US" dirty="0"/>
              <a:t> </a:t>
            </a:r>
            <a:r>
              <a:rPr lang="en-US" dirty="0" err="1"/>
              <a:t>distribuye</a:t>
            </a:r>
            <a:r>
              <a:rPr lang="en-US" dirty="0"/>
              <a:t> la </a:t>
            </a:r>
            <a:r>
              <a:rPr lang="en-US" dirty="0" err="1"/>
              <a:t>potencia</a:t>
            </a:r>
            <a:r>
              <a:rPr lang="en-US" dirty="0"/>
              <a:t> entre </a:t>
            </a:r>
            <a:r>
              <a:rPr lang="en-US" dirty="0" err="1"/>
              <a:t>los</a:t>
            </a:r>
            <a:r>
              <a:rPr lang="en-US" dirty="0"/>
              <a:t> dos </a:t>
            </a:r>
            <a:r>
              <a:rPr lang="en-US" dirty="0" err="1"/>
              <a:t>brazos</a:t>
            </a:r>
            <a:r>
              <a:rPr lang="en-US" dirty="0"/>
              <a:t>, solo </a:t>
            </a:r>
            <a:r>
              <a:rPr lang="en-US" dirty="0" err="1"/>
              <a:t>haciendo</a:t>
            </a:r>
            <a:r>
              <a:rPr lang="en-US" dirty="0"/>
              <a:t> </a:t>
            </a:r>
            <a:r>
              <a:rPr lang="en-US" dirty="0" err="1"/>
              <a:t>caso</a:t>
            </a:r>
            <a:r>
              <a:rPr lang="en-US" dirty="0"/>
              <a:t> a las formulas del </a:t>
            </a:r>
            <a:r>
              <a:rPr lang="en-US" dirty="0" err="1"/>
              <a:t>encunciado</a:t>
            </a:r>
            <a:r>
              <a:rPr lang="en-US" dirty="0"/>
              <a:t>, temenos dos </a:t>
            </a:r>
            <a:r>
              <a:rPr lang="en-US" dirty="0" err="1"/>
              <a:t>ecuaciones</a:t>
            </a:r>
            <a:r>
              <a:rPr lang="en-US" dirty="0"/>
              <a:t> </a:t>
            </a:r>
            <a:r>
              <a:rPr lang="en-US" dirty="0" err="1"/>
              <a:t>complementarias</a:t>
            </a:r>
            <a:r>
              <a:rPr lang="en-US" dirty="0"/>
              <a:t> </a:t>
            </a:r>
            <a:r>
              <a:rPr lang="en-US" dirty="0" err="1"/>
              <a:t>que</a:t>
            </a:r>
            <a:r>
              <a:rPr lang="en-US" dirty="0"/>
              <a:t> </a:t>
            </a:r>
            <a:r>
              <a:rPr lang="en-US" dirty="0" err="1"/>
              <a:t>oscilan</a:t>
            </a:r>
            <a:r>
              <a:rPr lang="en-US" dirty="0"/>
              <a:t> entre 1 y 0, </a:t>
            </a:r>
            <a:r>
              <a:rPr lang="en-US" dirty="0" err="1"/>
              <a:t>dependientes</a:t>
            </a:r>
            <a:r>
              <a:rPr lang="en-US" dirty="0"/>
              <a:t> de la </a:t>
            </a:r>
            <a:r>
              <a:rPr lang="en-US" dirty="0" err="1"/>
              <a:t>diferencia</a:t>
            </a:r>
            <a:r>
              <a:rPr lang="en-US" dirty="0"/>
              <a:t> de </a:t>
            </a:r>
            <a:r>
              <a:rPr lang="en-US" dirty="0" err="1"/>
              <a:t>fase</a:t>
            </a:r>
            <a:r>
              <a:rPr lang="en-US" dirty="0"/>
              <a:t>, </a:t>
            </a:r>
            <a:r>
              <a:rPr lang="en-US" dirty="0" err="1"/>
              <a:t>dando</a:t>
            </a:r>
            <a:r>
              <a:rPr lang="en-US" dirty="0"/>
              <a:t> </a:t>
            </a:r>
            <a:r>
              <a:rPr lang="en-US" dirty="0" err="1"/>
              <a:t>lugar</a:t>
            </a:r>
            <a:r>
              <a:rPr lang="en-US" dirty="0"/>
              <a:t> a </a:t>
            </a:r>
            <a:r>
              <a:rPr lang="en-US" dirty="0" err="1"/>
              <a:t>que</a:t>
            </a:r>
            <a:r>
              <a:rPr lang="en-US" dirty="0"/>
              <a:t> lo </a:t>
            </a:r>
            <a:r>
              <a:rPr lang="en-US" dirty="0" err="1"/>
              <a:t>que</a:t>
            </a:r>
            <a:r>
              <a:rPr lang="en-US" dirty="0"/>
              <a:t> no </a:t>
            </a:r>
            <a:r>
              <a:rPr lang="en-US" dirty="0" err="1"/>
              <a:t>tiene</a:t>
            </a:r>
            <a:r>
              <a:rPr lang="en-US" dirty="0"/>
              <a:t> uno lo </a:t>
            </a:r>
            <a:r>
              <a:rPr lang="en-US" dirty="0" err="1"/>
              <a:t>tiene</a:t>
            </a:r>
            <a:r>
              <a:rPr lang="en-US" dirty="0"/>
              <a:t> </a:t>
            </a:r>
            <a:r>
              <a:rPr lang="en-US" dirty="0" err="1"/>
              <a:t>el</a:t>
            </a:r>
            <a:r>
              <a:rPr lang="en-US" dirty="0"/>
              <a:t> </a:t>
            </a:r>
            <a:r>
              <a:rPr lang="en-US" dirty="0" err="1"/>
              <a:t>otro</a:t>
            </a:r>
            <a:r>
              <a:rPr lang="en-US" dirty="0"/>
              <a:t>.    </a:t>
            </a:r>
          </a:p>
          <a:p>
            <a:endParaRPr lang="en-US" dirty="0"/>
          </a:p>
          <a:p>
            <a:endParaRPr lang="es-ES" dirty="0"/>
          </a:p>
        </p:txBody>
      </p:sp>
      <p:pic>
        <p:nvPicPr>
          <p:cNvPr id="6" name="Imagen 5">
            <a:extLst>
              <a:ext uri="{FF2B5EF4-FFF2-40B4-BE49-F238E27FC236}">
                <a16:creationId xmlns:a16="http://schemas.microsoft.com/office/drawing/2014/main" id="{D54EE494-29A5-67B1-7007-E4360932F85E}"/>
              </a:ext>
            </a:extLst>
          </p:cNvPr>
          <p:cNvPicPr>
            <a:picLocks noChangeAspect="1"/>
          </p:cNvPicPr>
          <p:nvPr/>
        </p:nvPicPr>
        <p:blipFill>
          <a:blip r:embed="rId3"/>
          <a:stretch>
            <a:fillRect/>
          </a:stretch>
        </p:blipFill>
        <p:spPr>
          <a:xfrm>
            <a:off x="609600" y="1723882"/>
            <a:ext cx="2091878" cy="348647"/>
          </a:xfrm>
          <a:prstGeom prst="rect">
            <a:avLst/>
          </a:prstGeom>
        </p:spPr>
      </p:pic>
      <p:pic>
        <p:nvPicPr>
          <p:cNvPr id="8" name="Imagen 7">
            <a:extLst>
              <a:ext uri="{FF2B5EF4-FFF2-40B4-BE49-F238E27FC236}">
                <a16:creationId xmlns:a16="http://schemas.microsoft.com/office/drawing/2014/main" id="{7702ED9B-0ECF-98CC-6F8B-286A4668E39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457200" y="752076"/>
            <a:ext cx="9545382" cy="734259"/>
          </a:xfrm>
          <a:prstGeom prst="rect">
            <a:avLst/>
          </a:prstGeom>
        </p:spPr>
      </p:pic>
    </p:spTree>
    <p:extLst>
      <p:ext uri="{BB962C8B-B14F-4D97-AF65-F5344CB8AC3E}">
        <p14:creationId xmlns:p14="http://schemas.microsoft.com/office/powerpoint/2010/main" val="29714454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FCAF2-4CAF-3724-5E41-A350B5EDA2F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337D877-2605-BB40-43D4-940E277FCE45}"/>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E952A2EF-B619-D84B-C41B-713072E0CB84}"/>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BA817EB-9F2F-0DD7-3B41-D3F255B2C785}"/>
              </a:ext>
            </a:extLst>
          </p:cNvPr>
          <p:cNvSpPr>
            <a:spLocks noGrp="1"/>
          </p:cNvSpPr>
          <p:nvPr>
            <p:ph type="sldNum" sz="quarter" idx="7"/>
          </p:nvPr>
        </p:nvSpPr>
        <p:spPr/>
        <p:txBody>
          <a:bodyPr/>
          <a:lstStyle/>
          <a:p>
            <a:fld id="{B6F15528-21DE-4FAA-801E-634DDDAF4B2B}" type="slidenum">
              <a:rPr lang="es-ES" smtClean="0"/>
              <a:t>18</a:t>
            </a:fld>
            <a:endParaRPr lang="es-ES"/>
          </a:p>
        </p:txBody>
      </p:sp>
      <p:pic>
        <p:nvPicPr>
          <p:cNvPr id="7" name="Imagen 6">
            <a:extLst>
              <a:ext uri="{FF2B5EF4-FFF2-40B4-BE49-F238E27FC236}">
                <a16:creationId xmlns:a16="http://schemas.microsoft.com/office/drawing/2014/main" id="{D2674D72-5B20-76AB-8F5E-B237363188C7}"/>
              </a:ext>
            </a:extLst>
          </p:cNvPr>
          <p:cNvPicPr>
            <a:picLocks noChangeAspect="1"/>
          </p:cNvPicPr>
          <p:nvPr/>
        </p:nvPicPr>
        <p:blipFill>
          <a:blip r:embed="rId2">
            <a:extLst>
              <a:ext uri="{28A0092B-C50C-407E-A947-70E740481C1C}">
                <a14:useLocalDpi xmlns:a14="http://schemas.microsoft.com/office/drawing/2010/main" val="0"/>
              </a:ext>
            </a:extLst>
          </a:blip>
          <a:srcRect l="30" r="30"/>
          <a:stretch/>
        </p:blipFill>
        <p:spPr>
          <a:xfrm>
            <a:off x="348674" y="2133600"/>
            <a:ext cx="4667901" cy="3743847"/>
          </a:xfrm>
          <a:prstGeom prst="rect">
            <a:avLst/>
          </a:prstGeom>
        </p:spPr>
      </p:pic>
      <p:sp>
        <p:nvSpPr>
          <p:cNvPr id="9" name="CuadroTexto 8">
            <a:extLst>
              <a:ext uri="{FF2B5EF4-FFF2-40B4-BE49-F238E27FC236}">
                <a16:creationId xmlns:a16="http://schemas.microsoft.com/office/drawing/2014/main" id="{B1B56D5A-D857-F6BF-9581-DE217714D775}"/>
              </a:ext>
            </a:extLst>
          </p:cNvPr>
          <p:cNvSpPr txBox="1"/>
          <p:nvPr/>
        </p:nvSpPr>
        <p:spPr>
          <a:xfrm>
            <a:off x="5426365" y="2133600"/>
            <a:ext cx="6128326" cy="646331"/>
          </a:xfrm>
          <a:prstGeom prst="rect">
            <a:avLst/>
          </a:prstGeom>
          <a:noFill/>
        </p:spPr>
        <p:txBody>
          <a:bodyPr wrap="square">
            <a:spAutoFit/>
          </a:bodyPr>
          <a:lstStyle/>
          <a:p>
            <a:endParaRPr lang="en-US" dirty="0"/>
          </a:p>
          <a:p>
            <a:endParaRPr lang="es-ES" dirty="0"/>
          </a:p>
        </p:txBody>
      </p:sp>
      <p:pic>
        <p:nvPicPr>
          <p:cNvPr id="6" name="Imagen 5">
            <a:extLst>
              <a:ext uri="{FF2B5EF4-FFF2-40B4-BE49-F238E27FC236}">
                <a16:creationId xmlns:a16="http://schemas.microsoft.com/office/drawing/2014/main" id="{455D7F26-33E8-BB1B-C96C-0DFDFD61B6A1}"/>
              </a:ext>
            </a:extLst>
          </p:cNvPr>
          <p:cNvPicPr>
            <a:picLocks noChangeAspect="1"/>
          </p:cNvPicPr>
          <p:nvPr/>
        </p:nvPicPr>
        <p:blipFill>
          <a:blip r:embed="rId3"/>
          <a:stretch>
            <a:fillRect/>
          </a:stretch>
        </p:blipFill>
        <p:spPr>
          <a:xfrm>
            <a:off x="609600" y="1723882"/>
            <a:ext cx="2091878" cy="348647"/>
          </a:xfrm>
          <a:prstGeom prst="rect">
            <a:avLst/>
          </a:prstGeom>
        </p:spPr>
      </p:pic>
      <p:pic>
        <p:nvPicPr>
          <p:cNvPr id="8" name="Imagen 7">
            <a:extLst>
              <a:ext uri="{FF2B5EF4-FFF2-40B4-BE49-F238E27FC236}">
                <a16:creationId xmlns:a16="http://schemas.microsoft.com/office/drawing/2014/main" id="{8FEC3C99-BB92-EE36-CF0A-51CF71688A9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05161" y="575600"/>
            <a:ext cx="10044841" cy="872200"/>
          </a:xfrm>
          <a:prstGeom prst="rect">
            <a:avLst/>
          </a:prstGeom>
        </p:spPr>
      </p:pic>
      <p:sp>
        <p:nvSpPr>
          <p:cNvPr id="10" name="CuadroTexto 9">
            <a:extLst>
              <a:ext uri="{FF2B5EF4-FFF2-40B4-BE49-F238E27FC236}">
                <a16:creationId xmlns:a16="http://schemas.microsoft.com/office/drawing/2014/main" id="{2DB85571-0C8A-62B2-4D04-46C7FCF54DA6}"/>
              </a:ext>
            </a:extLst>
          </p:cNvPr>
          <p:cNvSpPr txBox="1"/>
          <p:nvPr/>
        </p:nvSpPr>
        <p:spPr>
          <a:xfrm>
            <a:off x="5426365" y="2133600"/>
            <a:ext cx="6128326" cy="1754326"/>
          </a:xfrm>
          <a:prstGeom prst="rect">
            <a:avLst/>
          </a:prstGeom>
          <a:noFill/>
        </p:spPr>
        <p:txBody>
          <a:bodyPr wrap="square">
            <a:spAutoFit/>
          </a:bodyPr>
          <a:lstStyle/>
          <a:p>
            <a:r>
              <a:rPr lang="en-US" dirty="0"/>
              <a:t>Al </a:t>
            </a:r>
            <a:r>
              <a:rPr lang="en-US" dirty="0" err="1"/>
              <a:t>varirar</a:t>
            </a:r>
            <a:r>
              <a:rPr lang="en-US" dirty="0"/>
              <a:t> </a:t>
            </a:r>
            <a:r>
              <a:rPr lang="en-US" dirty="0" err="1"/>
              <a:t>ligeramente</a:t>
            </a:r>
            <a:r>
              <a:rPr lang="en-US" dirty="0"/>
              <a:t> </a:t>
            </a:r>
            <a:r>
              <a:rPr lang="en-US" dirty="0" err="1"/>
              <a:t>el</a:t>
            </a:r>
            <a:r>
              <a:rPr lang="en-US" dirty="0"/>
              <a:t> </a:t>
            </a:r>
            <a:r>
              <a:rPr lang="en-US" dirty="0" err="1"/>
              <a:t>índice</a:t>
            </a:r>
            <a:r>
              <a:rPr lang="en-US" dirty="0"/>
              <a:t> </a:t>
            </a:r>
            <a:r>
              <a:rPr lang="en-US" dirty="0" err="1"/>
              <a:t>efectivo</a:t>
            </a:r>
            <a:r>
              <a:rPr lang="en-US" dirty="0"/>
              <a:t> </a:t>
            </a:r>
            <a:r>
              <a:rPr lang="en-US" dirty="0" err="1"/>
              <a:t>en</a:t>
            </a:r>
            <a:r>
              <a:rPr lang="en-US" dirty="0"/>
              <a:t> mayor o </a:t>
            </a:r>
            <a:r>
              <a:rPr lang="en-US" dirty="0" err="1"/>
              <a:t>menor</a:t>
            </a:r>
            <a:r>
              <a:rPr lang="en-US" dirty="0"/>
              <a:t> </a:t>
            </a:r>
            <a:r>
              <a:rPr lang="en-US" dirty="0" err="1"/>
              <a:t>medida</a:t>
            </a:r>
            <a:r>
              <a:rPr lang="en-US" dirty="0"/>
              <a:t> de uno de </a:t>
            </a:r>
            <a:r>
              <a:rPr lang="en-US" dirty="0" err="1"/>
              <a:t>los</a:t>
            </a:r>
            <a:r>
              <a:rPr lang="en-US" dirty="0"/>
              <a:t> </a:t>
            </a:r>
            <a:r>
              <a:rPr lang="en-US" dirty="0" err="1"/>
              <a:t>brazos</a:t>
            </a:r>
            <a:r>
              <a:rPr lang="en-US" dirty="0"/>
              <a:t>, </a:t>
            </a:r>
            <a:r>
              <a:rPr lang="en-US" dirty="0" err="1"/>
              <a:t>podemos</a:t>
            </a:r>
            <a:r>
              <a:rPr lang="en-US" dirty="0"/>
              <a:t> </a:t>
            </a:r>
            <a:r>
              <a:rPr lang="en-US" dirty="0" err="1"/>
              <a:t>controlar</a:t>
            </a:r>
            <a:r>
              <a:rPr lang="en-US" dirty="0"/>
              <a:t> la </a:t>
            </a:r>
            <a:r>
              <a:rPr lang="en-US" dirty="0" err="1"/>
              <a:t>potencia</a:t>
            </a:r>
            <a:r>
              <a:rPr lang="en-US" dirty="0"/>
              <a:t> </a:t>
            </a:r>
            <a:r>
              <a:rPr lang="en-US" dirty="0" err="1"/>
              <a:t>que</a:t>
            </a:r>
            <a:r>
              <a:rPr lang="en-US" dirty="0"/>
              <a:t> sale de </a:t>
            </a:r>
            <a:r>
              <a:rPr lang="en-US" dirty="0" err="1"/>
              <a:t>los</a:t>
            </a:r>
            <a:r>
              <a:rPr lang="en-US" dirty="0"/>
              <a:t> </a:t>
            </a:r>
            <a:r>
              <a:rPr lang="en-US" dirty="0" err="1"/>
              <a:t>puertos</a:t>
            </a:r>
            <a:r>
              <a:rPr lang="en-US" dirty="0"/>
              <a:t> para </a:t>
            </a:r>
            <a:r>
              <a:rPr lang="en-US" dirty="0" err="1"/>
              <a:t>una</a:t>
            </a:r>
            <a:r>
              <a:rPr lang="en-US" dirty="0"/>
              <a:t> </a:t>
            </a:r>
            <a:r>
              <a:rPr lang="en-US" dirty="0" err="1"/>
              <a:t>determinada</a:t>
            </a:r>
            <a:r>
              <a:rPr lang="en-US" dirty="0"/>
              <a:t> </a:t>
            </a:r>
            <a:r>
              <a:rPr lang="en-US" dirty="0" err="1"/>
              <a:t>longitud</a:t>
            </a:r>
            <a:r>
              <a:rPr lang="en-US" dirty="0"/>
              <a:t> de </a:t>
            </a:r>
            <a:r>
              <a:rPr lang="en-US" dirty="0" err="1"/>
              <a:t>onda</a:t>
            </a:r>
            <a:r>
              <a:rPr lang="en-US" dirty="0"/>
              <a:t>.   </a:t>
            </a:r>
          </a:p>
          <a:p>
            <a:endParaRPr lang="en-US" dirty="0"/>
          </a:p>
          <a:p>
            <a:endParaRPr lang="es-ES" dirty="0"/>
          </a:p>
        </p:txBody>
      </p:sp>
    </p:spTree>
    <p:extLst>
      <p:ext uri="{BB962C8B-B14F-4D97-AF65-F5344CB8AC3E}">
        <p14:creationId xmlns:p14="http://schemas.microsoft.com/office/powerpoint/2010/main" val="13388212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815FD-F704-9D26-960A-7D9E91DB3D5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61E5218-1286-DAEA-AB8F-8AC5556E9E48}"/>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a:t>
            </a:r>
          </a:p>
        </p:txBody>
      </p:sp>
      <p:sp>
        <p:nvSpPr>
          <p:cNvPr id="4" name="Marcador de pie de página 3">
            <a:extLst>
              <a:ext uri="{FF2B5EF4-FFF2-40B4-BE49-F238E27FC236}">
                <a16:creationId xmlns:a16="http://schemas.microsoft.com/office/drawing/2014/main" id="{B5A7F22D-BC98-AE80-12FE-5452256579D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CA199457-8A8A-C682-0926-61B2889A8D2D}"/>
              </a:ext>
            </a:extLst>
          </p:cNvPr>
          <p:cNvSpPr>
            <a:spLocks noGrp="1"/>
          </p:cNvSpPr>
          <p:nvPr>
            <p:ph type="sldNum" sz="quarter" idx="7"/>
          </p:nvPr>
        </p:nvSpPr>
        <p:spPr/>
        <p:txBody>
          <a:bodyPr/>
          <a:lstStyle/>
          <a:p>
            <a:fld id="{B6F15528-21DE-4FAA-801E-634DDDAF4B2B}" type="slidenum">
              <a:rPr lang="es-ES" smtClean="0"/>
              <a:t>19</a:t>
            </a:fld>
            <a:endParaRPr lang="es-ES"/>
          </a:p>
        </p:txBody>
      </p:sp>
      <p:pic>
        <p:nvPicPr>
          <p:cNvPr id="7" name="Imagen 6">
            <a:extLst>
              <a:ext uri="{FF2B5EF4-FFF2-40B4-BE49-F238E27FC236}">
                <a16:creationId xmlns:a16="http://schemas.microsoft.com/office/drawing/2014/main" id="{6E890FE9-C18C-6BA1-5C83-E61D0D4C2E3D}"/>
              </a:ext>
            </a:extLst>
          </p:cNvPr>
          <p:cNvPicPr>
            <a:picLocks noChangeAspect="1"/>
          </p:cNvPicPr>
          <p:nvPr/>
        </p:nvPicPr>
        <p:blipFill>
          <a:blip r:embed="rId2">
            <a:extLst>
              <a:ext uri="{28A0092B-C50C-407E-A947-70E740481C1C}">
                <a14:useLocalDpi xmlns:a14="http://schemas.microsoft.com/office/drawing/2010/main" val="0"/>
              </a:ext>
            </a:extLst>
          </a:blip>
          <a:srcRect t="154" b="154"/>
          <a:stretch/>
        </p:blipFill>
        <p:spPr>
          <a:xfrm>
            <a:off x="3810000" y="1668738"/>
            <a:ext cx="3759066" cy="3014924"/>
          </a:xfrm>
          <a:prstGeom prst="rect">
            <a:avLst/>
          </a:prstGeom>
        </p:spPr>
      </p:pic>
      <p:sp>
        <p:nvSpPr>
          <p:cNvPr id="9" name="CuadroTexto 8">
            <a:extLst>
              <a:ext uri="{FF2B5EF4-FFF2-40B4-BE49-F238E27FC236}">
                <a16:creationId xmlns:a16="http://schemas.microsoft.com/office/drawing/2014/main" id="{7B1A4DD2-51C5-9C0F-35A6-3A55F6E7ED53}"/>
              </a:ext>
            </a:extLst>
          </p:cNvPr>
          <p:cNvSpPr txBox="1"/>
          <p:nvPr/>
        </p:nvSpPr>
        <p:spPr>
          <a:xfrm>
            <a:off x="3183314" y="5229804"/>
            <a:ext cx="6128326" cy="369332"/>
          </a:xfrm>
          <a:prstGeom prst="rect">
            <a:avLst/>
          </a:prstGeom>
          <a:noFill/>
        </p:spPr>
        <p:txBody>
          <a:bodyPr wrap="square">
            <a:spAutoFit/>
          </a:bodyPr>
          <a:lstStyle/>
          <a:p>
            <a:r>
              <a:rPr lang="en-US" dirty="0"/>
              <a:t>Al </a:t>
            </a:r>
            <a:r>
              <a:rPr lang="en-US" dirty="0" err="1"/>
              <a:t>aumentar</a:t>
            </a:r>
            <a:r>
              <a:rPr lang="en-US" dirty="0"/>
              <a:t> la </a:t>
            </a:r>
            <a:r>
              <a:rPr lang="en-US" dirty="0" err="1"/>
              <a:t>longitud</a:t>
            </a:r>
            <a:r>
              <a:rPr lang="en-US" dirty="0"/>
              <a:t>, </a:t>
            </a:r>
            <a:r>
              <a:rPr lang="en-US" dirty="0" err="1"/>
              <a:t>cada</a:t>
            </a:r>
            <a:r>
              <a:rPr lang="en-US" dirty="0"/>
              <a:t> ....</a:t>
            </a:r>
            <a:endParaRPr lang="es-ES" dirty="0"/>
          </a:p>
        </p:txBody>
      </p:sp>
      <p:pic>
        <p:nvPicPr>
          <p:cNvPr id="6" name="Imagen 5">
            <a:extLst>
              <a:ext uri="{FF2B5EF4-FFF2-40B4-BE49-F238E27FC236}">
                <a16:creationId xmlns:a16="http://schemas.microsoft.com/office/drawing/2014/main" id="{B7F89E63-6169-17B1-814C-9F418393B821}"/>
              </a:ext>
            </a:extLst>
          </p:cNvPr>
          <p:cNvPicPr>
            <a:picLocks noChangeAspect="1"/>
          </p:cNvPicPr>
          <p:nvPr/>
        </p:nvPicPr>
        <p:blipFill>
          <a:blip r:embed="rId3"/>
          <a:stretch>
            <a:fillRect/>
          </a:stretch>
        </p:blipFill>
        <p:spPr>
          <a:xfrm>
            <a:off x="583623" y="582933"/>
            <a:ext cx="8852170" cy="858792"/>
          </a:xfrm>
          <a:prstGeom prst="rect">
            <a:avLst/>
          </a:prstGeom>
        </p:spPr>
      </p:pic>
      <p:sp>
        <p:nvSpPr>
          <p:cNvPr id="10" name="CuadroTexto 9">
            <a:extLst>
              <a:ext uri="{FF2B5EF4-FFF2-40B4-BE49-F238E27FC236}">
                <a16:creationId xmlns:a16="http://schemas.microsoft.com/office/drawing/2014/main" id="{0F9E83A2-3AD9-BF71-E346-7EA290887604}"/>
              </a:ext>
            </a:extLst>
          </p:cNvPr>
          <p:cNvSpPr txBox="1"/>
          <p:nvPr/>
        </p:nvSpPr>
        <p:spPr>
          <a:xfrm>
            <a:off x="5101747" y="1327181"/>
            <a:ext cx="6128326" cy="369332"/>
          </a:xfrm>
          <a:prstGeom prst="rect">
            <a:avLst/>
          </a:prstGeom>
          <a:noFill/>
        </p:spPr>
        <p:txBody>
          <a:bodyPr wrap="square">
            <a:spAutoFit/>
          </a:bodyPr>
          <a:lstStyle/>
          <a:p>
            <a:r>
              <a:rPr lang="en-US" dirty="0"/>
              <a:t>25um/5um</a:t>
            </a:r>
            <a:endParaRPr lang="es-ES" dirty="0"/>
          </a:p>
        </p:txBody>
      </p:sp>
      <p:pic>
        <p:nvPicPr>
          <p:cNvPr id="12" name="Imagen 11" descr="Gráfico, Gráfico de líneas&#10;&#10;El contenido generado por IA puede ser incorrecto.">
            <a:extLst>
              <a:ext uri="{FF2B5EF4-FFF2-40B4-BE49-F238E27FC236}">
                <a16:creationId xmlns:a16="http://schemas.microsoft.com/office/drawing/2014/main" id="{82B3A02E-C78F-29F0-CC88-23069DFB2364}"/>
              </a:ext>
            </a:extLst>
          </p:cNvPr>
          <p:cNvPicPr>
            <a:picLocks noChangeAspect="1"/>
          </p:cNvPicPr>
          <p:nvPr/>
        </p:nvPicPr>
        <p:blipFill>
          <a:blip r:embed="rId4"/>
          <a:stretch>
            <a:fillRect/>
          </a:stretch>
        </p:blipFill>
        <p:spPr>
          <a:xfrm>
            <a:off x="7772400" y="1668738"/>
            <a:ext cx="3713037" cy="3014924"/>
          </a:xfrm>
          <a:prstGeom prst="rect">
            <a:avLst/>
          </a:prstGeom>
        </p:spPr>
      </p:pic>
      <p:pic>
        <p:nvPicPr>
          <p:cNvPr id="14" name="Imagen 13" descr="Gráfico, Gráfico de líneas&#10;&#10;El contenido generado por IA puede ser incorrecto.">
            <a:extLst>
              <a:ext uri="{FF2B5EF4-FFF2-40B4-BE49-F238E27FC236}">
                <a16:creationId xmlns:a16="http://schemas.microsoft.com/office/drawing/2014/main" id="{BFE2E76B-11BE-D7E6-F6DF-FEA3525CEA59}"/>
              </a:ext>
            </a:extLst>
          </p:cNvPr>
          <p:cNvPicPr>
            <a:picLocks noChangeAspect="1"/>
          </p:cNvPicPr>
          <p:nvPr/>
        </p:nvPicPr>
        <p:blipFill>
          <a:blip r:embed="rId5"/>
          <a:stretch>
            <a:fillRect/>
          </a:stretch>
        </p:blipFill>
        <p:spPr>
          <a:xfrm>
            <a:off x="285343" y="1771907"/>
            <a:ext cx="3524657" cy="2873284"/>
          </a:xfrm>
          <a:prstGeom prst="rect">
            <a:avLst/>
          </a:prstGeom>
        </p:spPr>
      </p:pic>
      <p:sp>
        <p:nvSpPr>
          <p:cNvPr id="16" name="CuadroTexto 15">
            <a:extLst>
              <a:ext uri="{FF2B5EF4-FFF2-40B4-BE49-F238E27FC236}">
                <a16:creationId xmlns:a16="http://schemas.microsoft.com/office/drawing/2014/main" id="{8CE74FE9-9EAB-A57E-F182-00FB141DF988}"/>
              </a:ext>
            </a:extLst>
          </p:cNvPr>
          <p:cNvSpPr txBox="1"/>
          <p:nvPr/>
        </p:nvSpPr>
        <p:spPr>
          <a:xfrm>
            <a:off x="1349044" y="1424680"/>
            <a:ext cx="6128326" cy="369332"/>
          </a:xfrm>
          <a:prstGeom prst="rect">
            <a:avLst/>
          </a:prstGeom>
          <a:noFill/>
        </p:spPr>
        <p:txBody>
          <a:bodyPr wrap="square">
            <a:spAutoFit/>
          </a:bodyPr>
          <a:lstStyle/>
          <a:p>
            <a:r>
              <a:rPr lang="en-US" dirty="0"/>
              <a:t>15um/5um</a:t>
            </a:r>
            <a:endParaRPr lang="es-ES" dirty="0"/>
          </a:p>
        </p:txBody>
      </p:sp>
      <p:sp>
        <p:nvSpPr>
          <p:cNvPr id="17" name="CuadroTexto 16">
            <a:extLst>
              <a:ext uri="{FF2B5EF4-FFF2-40B4-BE49-F238E27FC236}">
                <a16:creationId xmlns:a16="http://schemas.microsoft.com/office/drawing/2014/main" id="{CBCC002E-692E-3AC2-A962-52BBC7D15A83}"/>
              </a:ext>
            </a:extLst>
          </p:cNvPr>
          <p:cNvSpPr txBox="1"/>
          <p:nvPr/>
        </p:nvSpPr>
        <p:spPr>
          <a:xfrm>
            <a:off x="9316258" y="1293333"/>
            <a:ext cx="6128326" cy="369332"/>
          </a:xfrm>
          <a:prstGeom prst="rect">
            <a:avLst/>
          </a:prstGeom>
          <a:noFill/>
        </p:spPr>
        <p:txBody>
          <a:bodyPr wrap="square">
            <a:spAutoFit/>
          </a:bodyPr>
          <a:lstStyle/>
          <a:p>
            <a:r>
              <a:rPr lang="en-US" dirty="0"/>
              <a:t>35um/5um</a:t>
            </a:r>
            <a:endParaRPr lang="es-ES" dirty="0"/>
          </a:p>
        </p:txBody>
      </p:sp>
    </p:spTree>
    <p:extLst>
      <p:ext uri="{BB962C8B-B14F-4D97-AF65-F5344CB8AC3E}">
        <p14:creationId xmlns:p14="http://schemas.microsoft.com/office/powerpoint/2010/main" val="7657195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20</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23370981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E35A3-9BF1-5F47-9801-DFF295E8E3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EAC3089-0AD5-0B13-E615-6C4B1CB912F8}"/>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 COMPARACION UNBALNCED DELAY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A8BB54B-DEB2-B2FA-378D-E79C66022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B2F4FC1-6E2C-FC7B-0232-565FF94B9D52}"/>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5" name="Marcador de pie de página 2">
            <a:extLst>
              <a:ext uri="{FF2B5EF4-FFF2-40B4-BE49-F238E27FC236}">
                <a16:creationId xmlns:a16="http://schemas.microsoft.com/office/drawing/2014/main" id="{0B187D9F-4617-CAA1-AB5F-A1A1DF376686}"/>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descr="Gráfico, Gráfico de líneas&#10;&#10;El contenido generado por IA puede ser incorrecto.">
            <a:extLst>
              <a:ext uri="{FF2B5EF4-FFF2-40B4-BE49-F238E27FC236}">
                <a16:creationId xmlns:a16="http://schemas.microsoft.com/office/drawing/2014/main" id="{39B777BC-CA70-04DA-B486-32038DED4083}"/>
              </a:ext>
            </a:extLst>
          </p:cNvPr>
          <p:cNvPicPr>
            <a:picLocks noChangeAspect="1"/>
          </p:cNvPicPr>
          <p:nvPr/>
        </p:nvPicPr>
        <p:blipFill>
          <a:blip r:embed="rId5"/>
          <a:stretch>
            <a:fillRect/>
          </a:stretch>
        </p:blipFill>
        <p:spPr>
          <a:xfrm>
            <a:off x="381000" y="2057400"/>
            <a:ext cx="4588528" cy="3689072"/>
          </a:xfrm>
          <a:prstGeom prst="rect">
            <a:avLst/>
          </a:prstGeom>
        </p:spPr>
      </p:pic>
      <p:pic>
        <p:nvPicPr>
          <p:cNvPr id="7" name="Imagen 6">
            <a:extLst>
              <a:ext uri="{FF2B5EF4-FFF2-40B4-BE49-F238E27FC236}">
                <a16:creationId xmlns:a16="http://schemas.microsoft.com/office/drawing/2014/main" id="{FDC1DC3C-AF70-B556-A85C-BC2BC1BF23A0}"/>
              </a:ext>
            </a:extLst>
          </p:cNvPr>
          <p:cNvPicPr>
            <a:picLocks noChangeAspect="1"/>
          </p:cNvPicPr>
          <p:nvPr/>
        </p:nvPicPr>
        <p:blipFill>
          <a:blip r:embed="rId6">
            <a:extLst>
              <a:ext uri="{28A0092B-C50C-407E-A947-70E740481C1C}">
                <a14:useLocalDpi xmlns:a14="http://schemas.microsoft.com/office/drawing/2010/main" val="0"/>
              </a:ext>
            </a:extLst>
          </a:blip>
          <a:srcRect t="154" b="154"/>
          <a:stretch/>
        </p:blipFill>
        <p:spPr>
          <a:xfrm>
            <a:off x="5257800" y="2147563"/>
            <a:ext cx="4343400" cy="3483584"/>
          </a:xfrm>
          <a:prstGeom prst="rect">
            <a:avLst/>
          </a:prstGeom>
        </p:spPr>
      </p:pic>
      <p:pic>
        <p:nvPicPr>
          <p:cNvPr id="9" name="Imagen 8" descr="Texto&#10;&#10;El contenido generado por IA puede ser incorrecto.">
            <a:extLst>
              <a:ext uri="{FF2B5EF4-FFF2-40B4-BE49-F238E27FC236}">
                <a16:creationId xmlns:a16="http://schemas.microsoft.com/office/drawing/2014/main" id="{04861998-0FEC-F76F-BD2B-686867E5EEC9}"/>
              </a:ext>
            </a:extLst>
          </p:cNvPr>
          <p:cNvPicPr>
            <a:picLocks noChangeAspect="1"/>
          </p:cNvPicPr>
          <p:nvPr/>
        </p:nvPicPr>
        <p:blipFill>
          <a:blip r:embed="rId7"/>
          <a:stretch>
            <a:fillRect/>
          </a:stretch>
        </p:blipFill>
        <p:spPr>
          <a:xfrm>
            <a:off x="511790" y="781782"/>
            <a:ext cx="5993339" cy="1255193"/>
          </a:xfrm>
          <a:prstGeom prst="rect">
            <a:avLst/>
          </a:prstGeom>
        </p:spPr>
      </p:pic>
      <p:sp>
        <p:nvSpPr>
          <p:cNvPr id="11" name="CuadroTexto 10">
            <a:extLst>
              <a:ext uri="{FF2B5EF4-FFF2-40B4-BE49-F238E27FC236}">
                <a16:creationId xmlns:a16="http://schemas.microsoft.com/office/drawing/2014/main" id="{2428D1E7-CAAA-F44F-B9B2-9E81AC066D01}"/>
              </a:ext>
            </a:extLst>
          </p:cNvPr>
          <p:cNvSpPr txBox="1"/>
          <p:nvPr/>
        </p:nvSpPr>
        <p:spPr>
          <a:xfrm>
            <a:off x="6934200" y="1093557"/>
            <a:ext cx="6128326" cy="923330"/>
          </a:xfrm>
          <a:prstGeom prst="rect">
            <a:avLst/>
          </a:prstGeom>
          <a:noFill/>
        </p:spPr>
        <p:txBody>
          <a:bodyPr wrap="square">
            <a:spAutoFit/>
          </a:bodyPr>
          <a:lstStyle/>
          <a:p>
            <a:r>
              <a:rPr lang="en-US" dirty="0"/>
              <a:t>Una </a:t>
            </a:r>
            <a:r>
              <a:rPr lang="en-US" dirty="0" err="1"/>
              <a:t>diferencia</a:t>
            </a:r>
            <a:r>
              <a:rPr lang="en-US" dirty="0"/>
              <a:t> de longitude de 20um entre </a:t>
            </a:r>
            <a:r>
              <a:rPr lang="en-US" dirty="0" err="1"/>
              <a:t>los</a:t>
            </a:r>
            <a:r>
              <a:rPr lang="en-US" dirty="0"/>
              <a:t> </a:t>
            </a:r>
            <a:r>
              <a:rPr lang="en-US" dirty="0" err="1"/>
              <a:t>brazos</a:t>
            </a:r>
            <a:r>
              <a:rPr lang="en-US" dirty="0"/>
              <a:t>.</a:t>
            </a:r>
          </a:p>
          <a:p>
            <a:r>
              <a:rPr lang="en-US" dirty="0"/>
              <a:t>Como </a:t>
            </a:r>
            <a:r>
              <a:rPr lang="en-US" dirty="0" err="1"/>
              <a:t>podemos</a:t>
            </a:r>
            <a:r>
              <a:rPr lang="en-US" dirty="0"/>
              <a:t> </a:t>
            </a:r>
            <a:r>
              <a:rPr lang="en-US" dirty="0" err="1"/>
              <a:t>observar</a:t>
            </a:r>
            <a:r>
              <a:rPr lang="en-US" dirty="0"/>
              <a:t> </a:t>
            </a:r>
            <a:r>
              <a:rPr lang="en-US" dirty="0" err="1"/>
              <a:t>el</a:t>
            </a:r>
            <a:r>
              <a:rPr lang="en-US" dirty="0"/>
              <a:t> </a:t>
            </a:r>
            <a:r>
              <a:rPr lang="en-US" dirty="0" err="1"/>
              <a:t>comportamiento</a:t>
            </a:r>
            <a:r>
              <a:rPr lang="en-US" dirty="0"/>
              <a:t> a </a:t>
            </a:r>
            <a:r>
              <a:rPr lang="en-US" dirty="0" err="1"/>
              <a:t>primera</a:t>
            </a:r>
            <a:endParaRPr lang="en-US" dirty="0"/>
          </a:p>
          <a:p>
            <a:r>
              <a:rPr lang="en-US" dirty="0"/>
              <a:t>vista es </a:t>
            </a:r>
            <a:r>
              <a:rPr lang="en-US" dirty="0" err="1"/>
              <a:t>el</a:t>
            </a:r>
            <a:r>
              <a:rPr lang="en-US" dirty="0"/>
              <a:t> </a:t>
            </a:r>
            <a:r>
              <a:rPr lang="en-US" dirty="0" err="1"/>
              <a:t>mismo</a:t>
            </a:r>
            <a:r>
              <a:rPr lang="en-US" dirty="0"/>
              <a:t>.</a:t>
            </a:r>
            <a:endParaRPr lang="es-ES" dirty="0"/>
          </a:p>
        </p:txBody>
      </p:sp>
    </p:spTree>
    <p:extLst>
      <p:ext uri="{BB962C8B-B14F-4D97-AF65-F5344CB8AC3E}">
        <p14:creationId xmlns:p14="http://schemas.microsoft.com/office/powerpoint/2010/main" val="36530904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0A3F0-EA15-DCE9-5C9B-2750BC4FFEE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60F6957-F761-CCA5-0129-63FB8B3EAAC8}"/>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3D5FE5B5-FEB9-F348-DAE0-40A4075F5C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D33B171-C6AB-9CDE-9E9C-941BC4D40F6A}"/>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4" name="Marcador de texto 2">
            <a:extLst>
              <a:ext uri="{FF2B5EF4-FFF2-40B4-BE49-F238E27FC236}">
                <a16:creationId xmlns:a16="http://schemas.microsoft.com/office/drawing/2014/main" id="{D12749E7-883C-CDA1-4D7A-8BBE32465926}"/>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1BBA90A7-082E-209D-381D-9F95474BF838}"/>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53B85258-834C-3C60-485C-EF3CD80F9B3B}"/>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5" name="Imagen 4" descr="Gráfico, Gráfico de líneas&#10;&#10;El contenido generado por IA puede ser incorrecto.">
            <a:extLst>
              <a:ext uri="{FF2B5EF4-FFF2-40B4-BE49-F238E27FC236}">
                <a16:creationId xmlns:a16="http://schemas.microsoft.com/office/drawing/2014/main" id="{12AB92E1-9E51-F8CB-D88E-6A37C8F1A1CE}"/>
              </a:ext>
            </a:extLst>
          </p:cNvPr>
          <p:cNvPicPr>
            <a:picLocks noChangeAspect="1"/>
          </p:cNvPicPr>
          <p:nvPr/>
        </p:nvPicPr>
        <p:blipFill>
          <a:blip r:embed="rId5"/>
          <a:stretch>
            <a:fillRect/>
          </a:stretch>
        </p:blipFill>
        <p:spPr>
          <a:xfrm>
            <a:off x="642648" y="1960721"/>
            <a:ext cx="3511202" cy="2787141"/>
          </a:xfrm>
          <a:prstGeom prst="rect">
            <a:avLst/>
          </a:prstGeom>
        </p:spPr>
      </p:pic>
      <p:pic>
        <p:nvPicPr>
          <p:cNvPr id="8" name="Imagen 7" descr="Texto&#10;&#10;El contenido generado por IA puede ser incorrecto.">
            <a:extLst>
              <a:ext uri="{FF2B5EF4-FFF2-40B4-BE49-F238E27FC236}">
                <a16:creationId xmlns:a16="http://schemas.microsoft.com/office/drawing/2014/main" id="{693E8B91-EBFC-D0F7-5B7D-512F8C4BB5D3}"/>
              </a:ext>
            </a:extLst>
          </p:cNvPr>
          <p:cNvPicPr>
            <a:picLocks noChangeAspect="1"/>
          </p:cNvPicPr>
          <p:nvPr/>
        </p:nvPicPr>
        <p:blipFill>
          <a:blip r:embed="rId6"/>
          <a:stretch>
            <a:fillRect/>
          </a:stretch>
        </p:blipFill>
        <p:spPr>
          <a:xfrm>
            <a:off x="4343400" y="2080801"/>
            <a:ext cx="6077798" cy="752580"/>
          </a:xfrm>
          <a:prstGeom prst="rect">
            <a:avLst/>
          </a:prstGeom>
        </p:spPr>
      </p:pic>
      <p:sp>
        <p:nvSpPr>
          <p:cNvPr id="10" name="CuadroTexto 9">
            <a:extLst>
              <a:ext uri="{FF2B5EF4-FFF2-40B4-BE49-F238E27FC236}">
                <a16:creationId xmlns:a16="http://schemas.microsoft.com/office/drawing/2014/main" id="{7274EF89-FD25-B48D-AEED-63FF006839DD}"/>
              </a:ext>
            </a:extLst>
          </p:cNvPr>
          <p:cNvSpPr txBox="1"/>
          <p:nvPr/>
        </p:nvSpPr>
        <p:spPr>
          <a:xfrm>
            <a:off x="4343400" y="3137687"/>
            <a:ext cx="6128326" cy="646331"/>
          </a:xfrm>
          <a:prstGeom prst="rect">
            <a:avLst/>
          </a:prstGeom>
          <a:noFill/>
        </p:spPr>
        <p:txBody>
          <a:bodyPr wrap="square">
            <a:spAutoFit/>
          </a:bodyPr>
          <a:lstStyle/>
          <a:p>
            <a:r>
              <a:rPr lang="es-ES" dirty="0"/>
              <a:t>Con una diferencia de longitudes de 25 </a:t>
            </a:r>
            <a:r>
              <a:rPr lang="es-ES" dirty="0" err="1"/>
              <a:t>um</a:t>
            </a:r>
            <a:r>
              <a:rPr lang="es-ES" dirty="0"/>
              <a:t>, teniendo un máximo en </a:t>
            </a:r>
            <a:r>
              <a:rPr lang="es-ES" dirty="0" err="1"/>
              <a:t>cross</a:t>
            </a:r>
            <a:r>
              <a:rPr lang="es-ES" dirty="0"/>
              <a:t> en 1550nm  </a:t>
            </a:r>
          </a:p>
        </p:txBody>
      </p:sp>
    </p:spTree>
    <p:extLst>
      <p:ext uri="{BB962C8B-B14F-4D97-AF65-F5344CB8AC3E}">
        <p14:creationId xmlns:p14="http://schemas.microsoft.com/office/powerpoint/2010/main" val="13597205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86E8E-397B-1841-9BD3-C75A054EA27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16E3C5C-841C-5D62-2A1D-32F5A91EA37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043AAB1D-F7FD-2F8E-6EC0-DDC970F20DF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4B7AD11-1FD3-6AC4-BF09-4D589E8382B3}"/>
              </a:ext>
            </a:extLst>
          </p:cNvPr>
          <p:cNvSpPr>
            <a:spLocks noGrp="1"/>
          </p:cNvSpPr>
          <p:nvPr>
            <p:ph type="sldNum" sz="quarter" idx="7"/>
          </p:nvPr>
        </p:nvSpPr>
        <p:spPr/>
        <p:txBody>
          <a:bodyPr/>
          <a:lstStyle/>
          <a:p>
            <a:fld id="{B6F15528-21DE-4FAA-801E-634DDDAF4B2B}" type="slidenum">
              <a:rPr lang="es-ES" smtClean="0"/>
              <a:t>25</a:t>
            </a:fld>
            <a:endParaRPr lang="es-ES"/>
          </a:p>
        </p:txBody>
      </p:sp>
      <p:sp>
        <p:nvSpPr>
          <p:cNvPr id="4" name="Marcador de texto 2">
            <a:extLst>
              <a:ext uri="{FF2B5EF4-FFF2-40B4-BE49-F238E27FC236}">
                <a16:creationId xmlns:a16="http://schemas.microsoft.com/office/drawing/2014/main" id="{44469A6A-D3DB-60FE-3A74-3CF213032E6A}"/>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pPr algn="just"/>
            <a:endParaRPr lang="en-US" sz="2000" kern="0" dirty="0">
              <a:solidFill>
                <a:sysClr val="windowText" lastClr="000000"/>
              </a:solidFill>
            </a:endParaRPr>
          </a:p>
        </p:txBody>
      </p:sp>
      <p:sp>
        <p:nvSpPr>
          <p:cNvPr id="6" name="Marcador de pie de página 2">
            <a:extLst>
              <a:ext uri="{FF2B5EF4-FFF2-40B4-BE49-F238E27FC236}">
                <a16:creationId xmlns:a16="http://schemas.microsoft.com/office/drawing/2014/main" id="{1B0E7D77-C21A-0F71-C8AE-878763F261D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5" name="Imagen 4" descr="Gráfico, Gráfico de líneas&#10;&#10;El contenido generado por IA puede ser incorrecto.">
            <a:extLst>
              <a:ext uri="{FF2B5EF4-FFF2-40B4-BE49-F238E27FC236}">
                <a16:creationId xmlns:a16="http://schemas.microsoft.com/office/drawing/2014/main" id="{8F3F4BED-B61B-1C9A-F3CC-1970B22EBED1}"/>
              </a:ext>
            </a:extLst>
          </p:cNvPr>
          <p:cNvPicPr>
            <a:picLocks noChangeAspect="1"/>
          </p:cNvPicPr>
          <p:nvPr/>
        </p:nvPicPr>
        <p:blipFill>
          <a:blip r:embed="rId5"/>
          <a:stretch>
            <a:fillRect/>
          </a:stretch>
        </p:blipFill>
        <p:spPr>
          <a:xfrm>
            <a:off x="5867399" y="2313629"/>
            <a:ext cx="3706183" cy="2970167"/>
          </a:xfrm>
          <a:prstGeom prst="rect">
            <a:avLst/>
          </a:prstGeom>
        </p:spPr>
      </p:pic>
      <p:pic>
        <p:nvPicPr>
          <p:cNvPr id="8" name="Imagen 7" descr="Gráfico, Gráfico de líneas&#10;&#10;El contenido generado por IA puede ser incorrecto.">
            <a:extLst>
              <a:ext uri="{FF2B5EF4-FFF2-40B4-BE49-F238E27FC236}">
                <a16:creationId xmlns:a16="http://schemas.microsoft.com/office/drawing/2014/main" id="{91345F26-98A5-C035-E772-CEA063AE2862}"/>
              </a:ext>
            </a:extLst>
          </p:cNvPr>
          <p:cNvPicPr>
            <a:picLocks noChangeAspect="1"/>
          </p:cNvPicPr>
          <p:nvPr/>
        </p:nvPicPr>
        <p:blipFill>
          <a:blip r:embed="rId6"/>
          <a:stretch>
            <a:fillRect/>
          </a:stretch>
        </p:blipFill>
        <p:spPr>
          <a:xfrm>
            <a:off x="1841248" y="2265138"/>
            <a:ext cx="3753498" cy="3018658"/>
          </a:xfrm>
          <a:prstGeom prst="rect">
            <a:avLst/>
          </a:prstGeom>
        </p:spPr>
      </p:pic>
      <p:sp>
        <p:nvSpPr>
          <p:cNvPr id="10" name="CuadroTexto 9">
            <a:extLst>
              <a:ext uri="{FF2B5EF4-FFF2-40B4-BE49-F238E27FC236}">
                <a16:creationId xmlns:a16="http://schemas.microsoft.com/office/drawing/2014/main" id="{7D74DF8F-76E3-0798-6389-07D257E70727}"/>
              </a:ext>
            </a:extLst>
          </p:cNvPr>
          <p:cNvSpPr txBox="1"/>
          <p:nvPr/>
        </p:nvSpPr>
        <p:spPr>
          <a:xfrm>
            <a:off x="381000" y="5487316"/>
            <a:ext cx="10896600" cy="923330"/>
          </a:xfrm>
          <a:prstGeom prst="rect">
            <a:avLst/>
          </a:prstGeom>
          <a:noFill/>
        </p:spPr>
        <p:txBody>
          <a:bodyPr wrap="square">
            <a:spAutoFit/>
          </a:bodyPr>
          <a:lstStyle/>
          <a:p>
            <a:r>
              <a:rPr lang="en-US" dirty="0"/>
              <a:t>Se produce un </a:t>
            </a:r>
            <a:r>
              <a:rPr lang="en-US" dirty="0" err="1"/>
              <a:t>desplazamiento</a:t>
            </a:r>
            <a:r>
              <a:rPr lang="en-US" dirty="0"/>
              <a:t> del </a:t>
            </a:r>
            <a:r>
              <a:rPr lang="en-US" dirty="0" err="1"/>
              <a:t>espectro</a:t>
            </a:r>
            <a:r>
              <a:rPr lang="en-US" dirty="0"/>
              <a:t>. Como se ha </a:t>
            </a:r>
            <a:r>
              <a:rPr lang="en-US" dirty="0" err="1"/>
              <a:t>comentado</a:t>
            </a:r>
            <a:r>
              <a:rPr lang="en-US" dirty="0"/>
              <a:t> </a:t>
            </a:r>
            <a:r>
              <a:rPr lang="en-US" dirty="0" err="1"/>
              <a:t>en</a:t>
            </a:r>
            <a:r>
              <a:rPr lang="en-US" dirty="0"/>
              <a:t> </a:t>
            </a:r>
            <a:r>
              <a:rPr lang="en-US" dirty="0" err="1"/>
              <a:t>clase</a:t>
            </a:r>
            <a:r>
              <a:rPr lang="en-US" dirty="0"/>
              <a:t> </a:t>
            </a:r>
            <a:r>
              <a:rPr lang="en-US" dirty="0" err="1"/>
              <a:t>en</a:t>
            </a:r>
            <a:r>
              <a:rPr lang="en-US" dirty="0"/>
              <a:t> </a:t>
            </a:r>
            <a:r>
              <a:rPr lang="en-US" dirty="0" err="1"/>
              <a:t>diferentes</a:t>
            </a:r>
            <a:r>
              <a:rPr lang="en-US" dirty="0"/>
              <a:t> </a:t>
            </a:r>
            <a:r>
              <a:rPr lang="en-US" dirty="0" err="1"/>
              <a:t>ocasiones</a:t>
            </a:r>
            <a:r>
              <a:rPr lang="en-US" dirty="0"/>
              <a:t> se </a:t>
            </a:r>
            <a:r>
              <a:rPr lang="en-US" dirty="0" err="1"/>
              <a:t>puede</a:t>
            </a:r>
            <a:r>
              <a:rPr lang="en-US" dirty="0"/>
              <a:t> </a:t>
            </a:r>
            <a:r>
              <a:rPr lang="en-US" dirty="0" err="1"/>
              <a:t>utilizar</a:t>
            </a:r>
            <a:r>
              <a:rPr lang="en-US" dirty="0"/>
              <a:t> </a:t>
            </a:r>
            <a:r>
              <a:rPr lang="en-US" dirty="0" err="1"/>
              <a:t>como</a:t>
            </a:r>
            <a:r>
              <a:rPr lang="en-US" dirty="0"/>
              <a:t> detector de </a:t>
            </a:r>
            <a:r>
              <a:rPr lang="en-US" dirty="0" err="1"/>
              <a:t>substancias</a:t>
            </a:r>
            <a:r>
              <a:rPr lang="en-US" dirty="0"/>
              <a:t>, </a:t>
            </a:r>
            <a:r>
              <a:rPr lang="en-US" dirty="0" err="1"/>
              <a:t>ya</a:t>
            </a:r>
            <a:r>
              <a:rPr lang="en-US" dirty="0"/>
              <a:t> </a:t>
            </a:r>
            <a:r>
              <a:rPr lang="en-US" dirty="0" err="1"/>
              <a:t>que</a:t>
            </a:r>
            <a:r>
              <a:rPr lang="en-US" dirty="0"/>
              <a:t> la </a:t>
            </a:r>
            <a:r>
              <a:rPr lang="en-US" dirty="0" err="1"/>
              <a:t>presencia</a:t>
            </a:r>
            <a:r>
              <a:rPr lang="en-US" dirty="0"/>
              <a:t> de </a:t>
            </a:r>
            <a:r>
              <a:rPr lang="en-US" dirty="0" err="1"/>
              <a:t>cierta</a:t>
            </a:r>
            <a:r>
              <a:rPr lang="en-US" dirty="0"/>
              <a:t> </a:t>
            </a:r>
            <a:r>
              <a:rPr lang="en-US" dirty="0" err="1"/>
              <a:t>substancia</a:t>
            </a:r>
            <a:r>
              <a:rPr lang="en-US" dirty="0"/>
              <a:t> altera </a:t>
            </a:r>
            <a:r>
              <a:rPr lang="en-US" dirty="0" err="1"/>
              <a:t>el</a:t>
            </a:r>
            <a:r>
              <a:rPr lang="en-US" dirty="0"/>
              <a:t> </a:t>
            </a:r>
            <a:r>
              <a:rPr lang="en-US" dirty="0" err="1"/>
              <a:t>neff</a:t>
            </a:r>
            <a:r>
              <a:rPr lang="en-US" dirty="0"/>
              <a:t>, y gracias a </a:t>
            </a:r>
            <a:r>
              <a:rPr lang="en-US" dirty="0" err="1"/>
              <a:t>eso</a:t>
            </a:r>
            <a:r>
              <a:rPr lang="en-US" dirty="0"/>
              <a:t> </a:t>
            </a:r>
            <a:r>
              <a:rPr lang="en-US" dirty="0" err="1"/>
              <a:t>posteriormente</a:t>
            </a:r>
            <a:r>
              <a:rPr lang="en-US" dirty="0"/>
              <a:t> con la </a:t>
            </a:r>
            <a:r>
              <a:rPr lang="en-US" dirty="0" err="1"/>
              <a:t>respuesta</a:t>
            </a:r>
            <a:r>
              <a:rPr lang="en-US" dirty="0"/>
              <a:t>, </a:t>
            </a:r>
            <a:r>
              <a:rPr lang="en-US" dirty="0" err="1"/>
              <a:t>sirviendo</a:t>
            </a:r>
            <a:r>
              <a:rPr lang="en-US" dirty="0"/>
              <a:t> </a:t>
            </a:r>
            <a:r>
              <a:rPr lang="en-US" dirty="0" err="1"/>
              <a:t>como</a:t>
            </a:r>
            <a:r>
              <a:rPr lang="en-US" dirty="0"/>
              <a:t> </a:t>
            </a:r>
            <a:r>
              <a:rPr lang="en-US" dirty="0" err="1"/>
              <a:t>filtro</a:t>
            </a:r>
            <a:r>
              <a:rPr lang="en-US" dirty="0"/>
              <a:t> para </a:t>
            </a:r>
            <a:r>
              <a:rPr lang="en-US" dirty="0" err="1"/>
              <a:t>una</a:t>
            </a:r>
            <a:r>
              <a:rPr lang="en-US" dirty="0"/>
              <a:t> </a:t>
            </a:r>
            <a:r>
              <a:rPr lang="en-US" dirty="0" err="1"/>
              <a:t>cierta</a:t>
            </a:r>
            <a:r>
              <a:rPr lang="en-US" dirty="0"/>
              <a:t> </a:t>
            </a:r>
            <a:r>
              <a:rPr lang="en-US" dirty="0" err="1"/>
              <a:t>frecuencia</a:t>
            </a:r>
            <a:r>
              <a:rPr lang="en-US" dirty="0"/>
              <a:t> </a:t>
            </a:r>
            <a:r>
              <a:rPr lang="en-US" dirty="0" err="1"/>
              <a:t>por</a:t>
            </a:r>
            <a:r>
              <a:rPr lang="en-US" dirty="0"/>
              <a:t> </a:t>
            </a:r>
            <a:r>
              <a:rPr lang="en-US" dirty="0" err="1"/>
              <a:t>ejemplo</a:t>
            </a:r>
            <a:r>
              <a:rPr lang="en-US" dirty="0"/>
              <a:t>. </a:t>
            </a:r>
            <a:endParaRPr lang="es-ES" dirty="0"/>
          </a:p>
        </p:txBody>
      </p:sp>
    </p:spTree>
    <p:extLst>
      <p:ext uri="{BB962C8B-B14F-4D97-AF65-F5344CB8AC3E}">
        <p14:creationId xmlns:p14="http://schemas.microsoft.com/office/powerpoint/2010/main" val="35773198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26</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1155</TotalTime>
  <Words>1535</Words>
  <Application>Microsoft Office PowerPoint</Application>
  <PresentationFormat>Panorámica</PresentationFormat>
  <Paragraphs>190</Paragraphs>
  <Slides>26</Slides>
  <Notes>7</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26</vt:i4>
      </vt:variant>
    </vt:vector>
  </HeadingPairs>
  <TitlesOfParts>
    <vt:vector size="34" baseType="lpstr">
      <vt:lpstr>Aptos</vt:lpstr>
      <vt:lpstr>Arial</vt:lpstr>
      <vt:lpstr>Calibri</vt:lpstr>
      <vt:lpstr>Cambria Math</vt:lpstr>
      <vt:lpstr>Courier New</vt:lpstr>
      <vt:lpstr>Lucida Sans</vt:lpstr>
      <vt:lpstr>Wingdings</vt:lpstr>
      <vt:lpstr>Office Theme</vt:lpstr>
      <vt:lpstr>Presentación de PowerPoint</vt:lpstr>
      <vt:lpstr>Instructions General</vt:lpstr>
      <vt:lpstr>ASSESSMENT #1 – Recap from theory – MZI configurations </vt:lpstr>
      <vt:lpstr>Balanced configuration </vt:lpstr>
      <vt:lpstr>Balanced configuration – Pérdidas variando la longitud y manteniendo las pérdidas de propagación </vt:lpstr>
      <vt:lpstr>Unbalanced configuration –Phase Difference </vt:lpstr>
      <vt:lpstr>Unbalanced configuration –Phase Difference – pérdidas por exceso de 0.075 </vt:lpstr>
      <vt:lpstr>Unbalanced configuration –Delay </vt:lpstr>
      <vt:lpstr>Unbalanced configuration –Delay con pérdidas de propagación </vt:lpstr>
      <vt:lpstr>Unbalanced configuration –Delay con cambio de % de acoplo</vt:lpstr>
      <vt:lpstr>Unbalanced configuration –Delay con cambio de % de acoplo</vt:lpstr>
      <vt:lpstr>Balanced configuration </vt:lpstr>
      <vt:lpstr>Balanced configuration </vt:lpstr>
      <vt:lpstr>Balanced configuration </vt:lpstr>
      <vt:lpstr>Balanced configuration </vt:lpstr>
      <vt:lpstr>Unbalanced configuration –Phase Difference </vt:lpstr>
      <vt:lpstr>Unbalanced configuration –Phase Difference </vt:lpstr>
      <vt:lpstr>Unbalanced configuration –Phase Difference </vt:lpstr>
      <vt:lpstr>Unbalanced configuration –Delay </vt:lpstr>
      <vt:lpstr>ASSESSMENT #2 – Recap from theory – Calculation of ΔL  </vt:lpstr>
      <vt:lpstr>ASSESSMENT #3 – SAX implementation  </vt:lpstr>
      <vt:lpstr>ASSESSMENT #3 – SAX implementation – COMPARACION UNBALNCED DELAY </vt:lpstr>
      <vt:lpstr>Extra assessments </vt:lpstr>
      <vt:lpstr>Extra assessments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Roberto José Fernández Sevilla</cp:lastModifiedBy>
  <cp:revision>26</cp:revision>
  <dcterms:created xsi:type="dcterms:W3CDTF">2025-01-27T02:46:57Z</dcterms:created>
  <dcterms:modified xsi:type="dcterms:W3CDTF">2026-03-02T16:01:15Z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